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3053EA-7AD0-4FF2-BEBE-E67ED5DB2E5D}"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0DBAD9-7AD0-4824-8FB9-B82838B9727B}" type="slidenum">
              <a:rPr lang="en-US" smtClean="0"/>
              <a:t>‹#›</a:t>
            </a:fld>
            <a:endParaRPr lang="en-US"/>
          </a:p>
        </p:txBody>
      </p:sp>
    </p:spTree>
    <p:extLst>
      <p:ext uri="{BB962C8B-B14F-4D97-AF65-F5344CB8AC3E}">
        <p14:creationId xmlns:p14="http://schemas.microsoft.com/office/powerpoint/2010/main" val="78656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RxAuth AI is an evidence-grounded prior-authorization intelligence prototype. It is designed as an IBM AI Engineering course project and as a portfolio system that can grow from classical machine learning into retrieval-augmented generation and controlled agentic workflows. The central idea is simple: every important answer must be traceable, uncertainty must be explicit, and a human remains responsible for the final action.</a:t>
            </a:r>
          </a:p>
        </p:txBody>
      </p:sp>
      <p:sp>
        <p:nvSpPr>
          <p:cNvPr id="4" name="Slide Number Placeholder 3"/>
          <p:cNvSpPr>
            <a:spLocks noGrp="1"/>
          </p:cNvSpPr>
          <p:nvPr>
            <p:ph type="sldNum" sz="quarter" idx="5"/>
          </p:nvPr>
        </p:nvSpPr>
        <p:spPr/>
        <p:txBody>
          <a:bodyPr/>
          <a:lstStyle/>
          <a:p>
            <a:fld id="{D80DBAD9-7AD0-4824-8FB9-B82838B9727B}" type="slidenum">
              <a:rPr lang="en-US" smtClean="0"/>
              <a:t>1</a:t>
            </a:fld>
            <a:endParaRPr lang="en-US"/>
          </a:p>
        </p:txBody>
      </p:sp>
    </p:spTree>
    <p:extLst>
      <p:ext uri="{BB962C8B-B14F-4D97-AF65-F5344CB8AC3E}">
        <p14:creationId xmlns:p14="http://schemas.microsoft.com/office/powerpoint/2010/main" val="2273964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addresses administrative preparation, not clinical decision-making. The implemented Phase 1.5 foundation spans data generation, PDF and image ingestion, a classical text classifier, confidence-based review routing, deterministic criteria evaluation, provenance, groundedness checks, and automated testing. The roadmap adds deep learning, extraction, policy retrieval, and constrained generation without changing the safety contract.</a:t>
            </a:r>
          </a:p>
        </p:txBody>
      </p:sp>
      <p:sp>
        <p:nvSpPr>
          <p:cNvPr id="4" name="Slide Number Placeholder 3"/>
          <p:cNvSpPr>
            <a:spLocks noGrp="1"/>
          </p:cNvSpPr>
          <p:nvPr>
            <p:ph type="sldNum" sz="quarter" idx="5"/>
          </p:nvPr>
        </p:nvSpPr>
        <p:spPr/>
        <p:txBody>
          <a:bodyPr/>
          <a:lstStyle/>
          <a:p>
            <a:fld id="{D80DBAD9-7AD0-4824-8FB9-B82838B9727B}" type="slidenum">
              <a:rPr lang="en-US" smtClean="0"/>
              <a:t>2</a:t>
            </a:fld>
            <a:endParaRPr lang="en-US"/>
          </a:p>
        </p:txBody>
      </p:sp>
    </p:spTree>
    <p:extLst>
      <p:ext uri="{BB962C8B-B14F-4D97-AF65-F5344CB8AC3E}">
        <p14:creationId xmlns:p14="http://schemas.microsoft.com/office/powerpoint/2010/main" val="3162292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work happens across heterogeneous documents and a separate policy source. A useful system cannot merely summarize. It must identify which requirement is being evaluated, select the right patient evidence, normalize values, determine when a rule can be computed, and show the reviewer where each result came from. This is why RxAuth AI treats provenance and uncertainty as product features, not afterthoughts.</a:t>
            </a:r>
          </a:p>
        </p:txBody>
      </p:sp>
      <p:sp>
        <p:nvSpPr>
          <p:cNvPr id="4" name="Slide Number Placeholder 3"/>
          <p:cNvSpPr>
            <a:spLocks noGrp="1"/>
          </p:cNvSpPr>
          <p:nvPr>
            <p:ph type="sldNum" sz="quarter" idx="5"/>
          </p:nvPr>
        </p:nvSpPr>
        <p:spPr/>
        <p:txBody>
          <a:bodyPr/>
          <a:lstStyle/>
          <a:p>
            <a:fld id="{D80DBAD9-7AD0-4824-8FB9-B82838B9727B}" type="slidenum">
              <a:rPr lang="en-US" smtClean="0"/>
              <a:t>3</a:t>
            </a:fld>
            <a:endParaRPr lang="en-US"/>
          </a:p>
        </p:txBody>
      </p:sp>
    </p:spTree>
    <p:extLst>
      <p:ext uri="{BB962C8B-B14F-4D97-AF65-F5344CB8AC3E}">
        <p14:creationId xmlns:p14="http://schemas.microsoft.com/office/powerpoint/2010/main" val="1241420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boundaries are important for both responsible AI and honest course evaluation. The public project uses fully synthetic identities and documents. It does not make a clinical decision or claim production validity. A future commercial deployment would require a separate HIPAA-ready architecture, access controls, encryption, auditing, retention policy, and governance.</a:t>
            </a:r>
          </a:p>
        </p:txBody>
      </p:sp>
      <p:sp>
        <p:nvSpPr>
          <p:cNvPr id="4" name="Slide Number Placeholder 3"/>
          <p:cNvSpPr>
            <a:spLocks noGrp="1"/>
          </p:cNvSpPr>
          <p:nvPr>
            <p:ph type="sldNum" sz="quarter" idx="5"/>
          </p:nvPr>
        </p:nvSpPr>
        <p:spPr/>
        <p:txBody>
          <a:bodyPr/>
          <a:lstStyle/>
          <a:p>
            <a:fld id="{D80DBAD9-7AD0-4824-8FB9-B82838B9727B}" type="slidenum">
              <a:rPr lang="en-US" smtClean="0"/>
              <a:t>4</a:t>
            </a:fld>
            <a:endParaRPr lang="en-US"/>
          </a:p>
        </p:txBody>
      </p:sp>
    </p:spTree>
    <p:extLst>
      <p:ext uri="{BB962C8B-B14F-4D97-AF65-F5344CB8AC3E}">
        <p14:creationId xmlns:p14="http://schemas.microsoft.com/office/powerpoint/2010/main" val="1732267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top-level workflow stays intentionally linear. In Phase 1.5, the implemented path covers typed ingestion, classification, deterministic matching on a synthetic case fixture, and a structural groundedness gate. Extraction, public payer-policy RAG, criteria extraction, and generated drafting are roadmap stages. This separation prevents the presentation from overstating what the current code does.</a:t>
            </a:r>
          </a:p>
        </p:txBody>
      </p:sp>
      <p:sp>
        <p:nvSpPr>
          <p:cNvPr id="4" name="Slide Number Placeholder 3"/>
          <p:cNvSpPr>
            <a:spLocks noGrp="1"/>
          </p:cNvSpPr>
          <p:nvPr>
            <p:ph type="sldNum" sz="quarter" idx="5"/>
          </p:nvPr>
        </p:nvSpPr>
        <p:spPr/>
        <p:txBody>
          <a:bodyPr/>
          <a:lstStyle/>
          <a:p>
            <a:fld id="{D80DBAD9-7AD0-4824-8FB9-B82838B9727B}" type="slidenum">
              <a:rPr lang="en-US" smtClean="0"/>
              <a:t>5</a:t>
            </a:fld>
            <a:endParaRPr lang="en-US"/>
          </a:p>
        </p:txBody>
      </p:sp>
    </p:spTree>
    <p:extLst>
      <p:ext uri="{BB962C8B-B14F-4D97-AF65-F5344CB8AC3E}">
        <p14:creationId xmlns:p14="http://schemas.microsoft.com/office/powerpoint/2010/main" val="817662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Pydantic models define the major entities and validate their contracts. Evidence includes a normalized value plus provenance. Policy criteria preserve source text and page. Evaluations record the selected evidence IDs, result state, confidence, method, explanation, and both policy and patient sources. This design supports testability, auditability, and later model versioning.</a:t>
            </a:r>
          </a:p>
        </p:txBody>
      </p:sp>
      <p:sp>
        <p:nvSpPr>
          <p:cNvPr id="4" name="Slide Number Placeholder 3"/>
          <p:cNvSpPr>
            <a:spLocks noGrp="1"/>
          </p:cNvSpPr>
          <p:nvPr>
            <p:ph type="sldNum" sz="quarter" idx="5"/>
          </p:nvPr>
        </p:nvSpPr>
        <p:spPr/>
        <p:txBody>
          <a:bodyPr/>
          <a:lstStyle/>
          <a:p>
            <a:fld id="{D80DBAD9-7AD0-4824-8FB9-B82838B9727B}" type="slidenum">
              <a:rPr lang="en-US" smtClean="0"/>
              <a:t>6</a:t>
            </a:fld>
            <a:endParaRPr lang="en-US"/>
          </a:p>
        </p:txBody>
      </p:sp>
    </p:spTree>
    <p:extLst>
      <p:ext uri="{BB962C8B-B14F-4D97-AF65-F5344CB8AC3E}">
        <p14:creationId xmlns:p14="http://schemas.microsoft.com/office/powerpoint/2010/main" val="868971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ingestion layer supports UTF-8 text, Markdown, text-bearing PDFs through pypdf, and image files through OpenCV preprocessing. Every page records text, extraction method, confidence, and page number. Scanned PDFs without a text layer fail explicitly instead of becoming empty evidence. The benchmark reports what is measured and explicitly withholds OCR text accuracy until an OCR runtime is configured.</a:t>
            </a:r>
          </a:p>
        </p:txBody>
      </p:sp>
      <p:sp>
        <p:nvSpPr>
          <p:cNvPr id="4" name="Slide Number Placeholder 3"/>
          <p:cNvSpPr>
            <a:spLocks noGrp="1"/>
          </p:cNvSpPr>
          <p:nvPr>
            <p:ph type="sldNum" sz="quarter" idx="5"/>
          </p:nvPr>
        </p:nvSpPr>
        <p:spPr/>
        <p:txBody>
          <a:bodyPr/>
          <a:lstStyle/>
          <a:p>
            <a:fld id="{D80DBAD9-7AD0-4824-8FB9-B82838B9727B}" type="slidenum">
              <a:rPr lang="en-US" smtClean="0"/>
              <a:t>7</a:t>
            </a:fld>
            <a:endParaRPr lang="en-US"/>
          </a:p>
        </p:txBody>
      </p:sp>
    </p:spTree>
    <p:extLst>
      <p:ext uri="{BB962C8B-B14F-4D97-AF65-F5344CB8AC3E}">
        <p14:creationId xmlns:p14="http://schemas.microsoft.com/office/powerpoint/2010/main" val="511387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classifier corpus contains 480 fully synthetic documents across eight classes. The split is grouped by both case and template family to reduce memorization through repeated templates. Families zero through six train the model, family seven is validation, family eight is the primary test, and family nine is a harder challenge set used for robustness analysis rather than model selection.</a:t>
            </a:r>
          </a:p>
        </p:txBody>
      </p:sp>
      <p:sp>
        <p:nvSpPr>
          <p:cNvPr id="4" name="Slide Number Placeholder 3"/>
          <p:cNvSpPr>
            <a:spLocks noGrp="1"/>
          </p:cNvSpPr>
          <p:nvPr>
            <p:ph type="sldNum" sz="quarter" idx="5"/>
          </p:nvPr>
        </p:nvSpPr>
        <p:spPr/>
        <p:txBody>
          <a:bodyPr/>
          <a:lstStyle/>
          <a:p>
            <a:fld id="{D80DBAD9-7AD0-4824-8FB9-B82838B9727B}" type="slidenum">
              <a:rPr lang="en-US" smtClean="0"/>
              <a:t>8</a:t>
            </a:fld>
            <a:endParaRPr lang="en-US"/>
          </a:p>
        </p:txBody>
      </p:sp>
    </p:spTree>
    <p:extLst>
      <p:ext uri="{BB962C8B-B14F-4D97-AF65-F5344CB8AC3E}">
        <p14:creationId xmlns:p14="http://schemas.microsoft.com/office/powerpoint/2010/main" val="472872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baseline is deliberately classical. TF-IDF turns unstructured text into sparse unigram and bigram features. Logistic regression estimates class probabilities across eight document types. The model is easy to train, serialize, inspect, and compare against a future transformer. The review threshold is operational for this synthetic benchmark and should not be described as clinically validated.</a:t>
            </a:r>
          </a:p>
        </p:txBody>
      </p:sp>
      <p:sp>
        <p:nvSpPr>
          <p:cNvPr id="4" name="Slide Number Placeholder 3"/>
          <p:cNvSpPr>
            <a:spLocks noGrp="1"/>
          </p:cNvSpPr>
          <p:nvPr>
            <p:ph type="sldNum" sz="quarter" idx="5"/>
          </p:nvPr>
        </p:nvSpPr>
        <p:spPr/>
        <p:txBody>
          <a:bodyPr/>
          <a:lstStyle/>
          <a:p>
            <a:fld id="{D80DBAD9-7AD0-4824-8FB9-B82838B9727B}" type="slidenum">
              <a:rPr lang="en-US" smtClean="0"/>
              <a:t>9</a:t>
            </a:fld>
            <a:endParaRPr lang="en-US"/>
          </a:p>
        </p:txBody>
      </p:sp>
    </p:spTree>
    <p:extLst>
      <p:ext uri="{BB962C8B-B14F-4D97-AF65-F5344CB8AC3E}">
        <p14:creationId xmlns:p14="http://schemas.microsoft.com/office/powerpoint/2010/main" val="2546850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grouped test macro F1 is 0.979 and test accuracy is also 0.979, with one medication-history document classified as a prior-authorization request. The harder challenge set drops to 0.916 macro F1 and contains four failures. Batch inference latency is approximately 0.004 milliseconds per document on CPU in the report. These are synthetic-corpus results, not production claims.</a:t>
            </a:r>
          </a:p>
        </p:txBody>
      </p:sp>
      <p:sp>
        <p:nvSpPr>
          <p:cNvPr id="4" name="Slide Number Placeholder 3"/>
          <p:cNvSpPr>
            <a:spLocks noGrp="1"/>
          </p:cNvSpPr>
          <p:nvPr>
            <p:ph type="sldNum" sz="quarter" idx="5"/>
          </p:nvPr>
        </p:nvSpPr>
        <p:spPr/>
        <p:txBody>
          <a:bodyPr/>
          <a:lstStyle/>
          <a:p>
            <a:fld id="{D80DBAD9-7AD0-4824-8FB9-B82838B9727B}" type="slidenum">
              <a:rPr lang="en-US" smtClean="0"/>
              <a:t>10</a:t>
            </a:fld>
            <a:endParaRPr lang="en-US"/>
          </a:p>
        </p:txBody>
      </p:sp>
    </p:spTree>
    <p:extLst>
      <p:ext uri="{BB962C8B-B14F-4D97-AF65-F5344CB8AC3E}">
        <p14:creationId xmlns:p14="http://schemas.microsoft.com/office/powerpoint/2010/main" val="3085870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the most important evaluation lesson. Accuracy alone would suggest the model is nearly finished, but mean confidence is only 0.561, expected calibration error is 0.418, and 68.8 percent of test and challenge documents route to review. The next step should include calibration analysis and threshold tradeoffs, not simply a more complex model.</a:t>
            </a:r>
          </a:p>
        </p:txBody>
      </p:sp>
      <p:sp>
        <p:nvSpPr>
          <p:cNvPr id="4" name="Slide Number Placeholder 3"/>
          <p:cNvSpPr>
            <a:spLocks noGrp="1"/>
          </p:cNvSpPr>
          <p:nvPr>
            <p:ph type="sldNum" sz="quarter" idx="5"/>
          </p:nvPr>
        </p:nvSpPr>
        <p:spPr/>
        <p:txBody>
          <a:bodyPr/>
          <a:lstStyle/>
          <a:p>
            <a:fld id="{D80DBAD9-7AD0-4824-8FB9-B82838B9727B}" type="slidenum">
              <a:rPr lang="en-US" smtClean="0"/>
              <a:t>11</a:t>
            </a:fld>
            <a:endParaRPr lang="en-US"/>
          </a:p>
        </p:txBody>
      </p:sp>
    </p:spTree>
    <p:extLst>
      <p:ext uri="{BB962C8B-B14F-4D97-AF65-F5344CB8AC3E}">
        <p14:creationId xmlns:p14="http://schemas.microsoft.com/office/powerpoint/2010/main" val="4116530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Matching is the core intelligence layer. It finds typed evidence, rejects low-confidence extraction, checks unit compatibility, performs explicit numeric and outcome comparisons in Python, and returns one of five states. If evidence says several months where a number is required, the result is ambiguous and routes to a reviewer instead of being converted into a fabricated duration.</a:t>
            </a:r>
          </a:p>
        </p:txBody>
      </p:sp>
      <p:sp>
        <p:nvSpPr>
          <p:cNvPr id="4" name="Slide Number Placeholder 3"/>
          <p:cNvSpPr>
            <a:spLocks noGrp="1"/>
          </p:cNvSpPr>
          <p:nvPr>
            <p:ph type="sldNum" sz="quarter" idx="5"/>
          </p:nvPr>
        </p:nvSpPr>
        <p:spPr/>
        <p:txBody>
          <a:bodyPr/>
          <a:lstStyle/>
          <a:p>
            <a:fld id="{D80DBAD9-7AD0-4824-8FB9-B82838B9727B}" type="slidenum">
              <a:rPr lang="en-US" smtClean="0"/>
              <a:t>12</a:t>
            </a:fld>
            <a:endParaRPr lang="en-US"/>
          </a:p>
        </p:txBody>
      </p:sp>
    </p:spTree>
    <p:extLst>
      <p:ext uri="{BB962C8B-B14F-4D97-AF65-F5344CB8AC3E}">
        <p14:creationId xmlns:p14="http://schemas.microsoft.com/office/powerpoint/2010/main" val="2665264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demo case has five detected documents and six policy criteria. Four are supported, one required screening document is missing, and one duration is ambiguous because the source says several months. Every supported criterion includes the patient document, page, source span, policy page, method, and confidence. The structural groundedness gate passes.</a:t>
            </a:r>
          </a:p>
        </p:txBody>
      </p:sp>
      <p:sp>
        <p:nvSpPr>
          <p:cNvPr id="4" name="Slide Number Placeholder 3"/>
          <p:cNvSpPr>
            <a:spLocks noGrp="1"/>
          </p:cNvSpPr>
          <p:nvPr>
            <p:ph type="sldNum" sz="quarter" idx="5"/>
          </p:nvPr>
        </p:nvSpPr>
        <p:spPr/>
        <p:txBody>
          <a:bodyPr/>
          <a:lstStyle/>
          <a:p>
            <a:fld id="{D80DBAD9-7AD0-4824-8FB9-B82838B9727B}" type="slidenum">
              <a:rPr lang="en-US" smtClean="0"/>
              <a:t>13</a:t>
            </a:fld>
            <a:endParaRPr lang="en-US"/>
          </a:p>
        </p:txBody>
      </p:sp>
    </p:spTree>
    <p:extLst>
      <p:ext uri="{BB962C8B-B14F-4D97-AF65-F5344CB8AC3E}">
        <p14:creationId xmlns:p14="http://schemas.microsoft.com/office/powerpoint/2010/main" val="2319061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the groundedness gate verifies the structural contract. Supported or not-satisfied claims must cite patient evidence, and every evaluation must retain its policy source. When generated drafting is added, the same gate interface can expand to semantic faithfulness checks, citation correctness, conflict detection, and unsupported-claim scoring.</a:t>
            </a:r>
          </a:p>
        </p:txBody>
      </p:sp>
      <p:sp>
        <p:nvSpPr>
          <p:cNvPr id="4" name="Slide Number Placeholder 3"/>
          <p:cNvSpPr>
            <a:spLocks noGrp="1"/>
          </p:cNvSpPr>
          <p:nvPr>
            <p:ph type="sldNum" sz="quarter" idx="5"/>
          </p:nvPr>
        </p:nvSpPr>
        <p:spPr/>
        <p:txBody>
          <a:bodyPr/>
          <a:lstStyle/>
          <a:p>
            <a:fld id="{D80DBAD9-7AD0-4824-8FB9-B82838B9727B}" type="slidenum">
              <a:rPr lang="en-US" smtClean="0"/>
              <a:t>14</a:t>
            </a:fld>
            <a:endParaRPr lang="en-US"/>
          </a:p>
        </p:txBody>
      </p:sp>
    </p:spTree>
    <p:extLst>
      <p:ext uri="{BB962C8B-B14F-4D97-AF65-F5344CB8AC3E}">
        <p14:creationId xmlns:p14="http://schemas.microsoft.com/office/powerpoint/2010/main" val="3577586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course project should demonstrate engineering practice, not only a notebook result. The repository includes CLI commands, locked dependencies, deterministic dataset generation, persisted artifacts, typed models, and 21 passing tests in the current run. Reports include error cases and calibration. The project also documents limitations, including synthetic-only validity and unavailable OCR accuracy.</a:t>
            </a:r>
          </a:p>
        </p:txBody>
      </p:sp>
      <p:sp>
        <p:nvSpPr>
          <p:cNvPr id="4" name="Slide Number Placeholder 3"/>
          <p:cNvSpPr>
            <a:spLocks noGrp="1"/>
          </p:cNvSpPr>
          <p:nvPr>
            <p:ph type="sldNum" sz="quarter" idx="5"/>
          </p:nvPr>
        </p:nvSpPr>
        <p:spPr/>
        <p:txBody>
          <a:bodyPr/>
          <a:lstStyle/>
          <a:p>
            <a:fld id="{D80DBAD9-7AD0-4824-8FB9-B82838B9727B}" type="slidenum">
              <a:rPr lang="en-US" smtClean="0"/>
              <a:t>15</a:t>
            </a:fld>
            <a:endParaRPr lang="en-US"/>
          </a:p>
        </p:txBody>
      </p:sp>
    </p:spTree>
    <p:extLst>
      <p:ext uri="{BB962C8B-B14F-4D97-AF65-F5344CB8AC3E}">
        <p14:creationId xmlns:p14="http://schemas.microsoft.com/office/powerpoint/2010/main" val="2151103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not a disconnected set of course exercises. Python and data engineering produce the ingestion layer. Classical machine learning produces the baseline. Deep learning will be evaluated against the same data contract. Computer vision and NLP support extraction. RAG will retrieve public policy, and an explicit state graph will orchestrate controlled stages. Evaluation remains first-class at every layer.</a:t>
            </a:r>
          </a:p>
        </p:txBody>
      </p:sp>
      <p:sp>
        <p:nvSpPr>
          <p:cNvPr id="4" name="Slide Number Placeholder 3"/>
          <p:cNvSpPr>
            <a:spLocks noGrp="1"/>
          </p:cNvSpPr>
          <p:nvPr>
            <p:ph type="sldNum" sz="quarter" idx="5"/>
          </p:nvPr>
        </p:nvSpPr>
        <p:spPr/>
        <p:txBody>
          <a:bodyPr/>
          <a:lstStyle/>
          <a:p>
            <a:fld id="{D80DBAD9-7AD0-4824-8FB9-B82838B9727B}" type="slidenum">
              <a:rPr lang="en-US" smtClean="0"/>
              <a:t>16</a:t>
            </a:fld>
            <a:endParaRPr lang="en-US"/>
          </a:p>
        </p:txBody>
      </p:sp>
    </p:spTree>
    <p:extLst>
      <p:ext uri="{BB962C8B-B14F-4D97-AF65-F5344CB8AC3E}">
        <p14:creationId xmlns:p14="http://schemas.microsoft.com/office/powerpoint/2010/main" val="3882738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immediate next step is a small transformer classifier trained on the exact same split and evaluated with the same contract. It should be compared on macro F1, robustness, calibration, review routing, latency, and artifact size. Later phases add confidence-aware extraction, public payer-policy retrieval, criteria extraction, controlled generation, and a reviewer interface.</a:t>
            </a:r>
          </a:p>
        </p:txBody>
      </p:sp>
      <p:sp>
        <p:nvSpPr>
          <p:cNvPr id="4" name="Slide Number Placeholder 3"/>
          <p:cNvSpPr>
            <a:spLocks noGrp="1"/>
          </p:cNvSpPr>
          <p:nvPr>
            <p:ph type="sldNum" sz="quarter" idx="5"/>
          </p:nvPr>
        </p:nvSpPr>
        <p:spPr/>
        <p:txBody>
          <a:bodyPr/>
          <a:lstStyle/>
          <a:p>
            <a:fld id="{D80DBAD9-7AD0-4824-8FB9-B82838B9727B}" type="slidenum">
              <a:rPr lang="en-US" smtClean="0"/>
              <a:t>17</a:t>
            </a:fld>
            <a:endParaRPr lang="en-US"/>
          </a:p>
        </p:txBody>
      </p:sp>
    </p:spTree>
    <p:extLst>
      <p:ext uri="{BB962C8B-B14F-4D97-AF65-F5344CB8AC3E}">
        <p14:creationId xmlns:p14="http://schemas.microsoft.com/office/powerpoint/2010/main" val="2090235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takeaway is not that a synthetic baseline solves prior authorization. The achievement is a defensible engineering foundation: typed data, leakage-resistant experimentation, explicit uncertainty, deterministic business logic, source grounding, human review, and reproducible reports. That foundation makes later deep learning and generative AI work measurable rather than decorative.</a:t>
            </a:r>
          </a:p>
        </p:txBody>
      </p:sp>
      <p:sp>
        <p:nvSpPr>
          <p:cNvPr id="4" name="Slide Number Placeholder 3"/>
          <p:cNvSpPr>
            <a:spLocks noGrp="1"/>
          </p:cNvSpPr>
          <p:nvPr>
            <p:ph type="sldNum" sz="quarter" idx="5"/>
          </p:nvPr>
        </p:nvSpPr>
        <p:spPr/>
        <p:txBody>
          <a:bodyPr/>
          <a:lstStyle/>
          <a:p>
            <a:fld id="{D80DBAD9-7AD0-4824-8FB9-B82838B9727B}" type="slidenum">
              <a:rPr lang="en-US" smtClean="0"/>
              <a:t>18</a:t>
            </a:fld>
            <a:endParaRPr lang="en-US"/>
          </a:p>
        </p:txBody>
      </p:sp>
    </p:spTree>
    <p:extLst>
      <p:ext uri="{BB962C8B-B14F-4D97-AF65-F5344CB8AC3E}">
        <p14:creationId xmlns:p14="http://schemas.microsoft.com/office/powerpoint/2010/main" val="1137587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commands rebuild the synthetic datasets, run ingestion and classifier benchmarks, execute the end-to-end case, and run the tests. The primary artifacts are reports/classifier_baseline.md, reports/ingestion_benchmark.md, and reports/case_PA-DEMO-001.json.</a:t>
            </a:r>
          </a:p>
        </p:txBody>
      </p:sp>
      <p:sp>
        <p:nvSpPr>
          <p:cNvPr id="4" name="Slide Number Placeholder 3"/>
          <p:cNvSpPr>
            <a:spLocks noGrp="1"/>
          </p:cNvSpPr>
          <p:nvPr>
            <p:ph type="sldNum" sz="quarter" idx="5"/>
          </p:nvPr>
        </p:nvSpPr>
        <p:spPr/>
        <p:txBody>
          <a:bodyPr/>
          <a:lstStyle/>
          <a:p>
            <a:fld id="{D80DBAD9-7AD0-4824-8FB9-B82838B9727B}" type="slidenum">
              <a:rPr lang="en-US" smtClean="0"/>
              <a:t>19</a:t>
            </a:fld>
            <a:endParaRPr lang="en-US"/>
          </a:p>
        </p:txBody>
      </p:sp>
    </p:spTree>
    <p:extLst>
      <p:ext uri="{BB962C8B-B14F-4D97-AF65-F5344CB8AC3E}">
        <p14:creationId xmlns:p14="http://schemas.microsoft.com/office/powerpoint/2010/main" val="3499196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appendix provides the audit trail for the presentation. The deck intentionally uses only repository-backed metrics and labels future capabilities as roadmap items. This source map makes it easy for an instructor to verify each technical claim.</a:t>
            </a:r>
          </a:p>
        </p:txBody>
      </p:sp>
      <p:sp>
        <p:nvSpPr>
          <p:cNvPr id="4" name="Slide Number Placeholder 3"/>
          <p:cNvSpPr>
            <a:spLocks noGrp="1"/>
          </p:cNvSpPr>
          <p:nvPr>
            <p:ph type="sldNum" sz="quarter" idx="5"/>
          </p:nvPr>
        </p:nvSpPr>
        <p:spPr/>
        <p:txBody>
          <a:bodyPr/>
          <a:lstStyle/>
          <a:p>
            <a:fld id="{D80DBAD9-7AD0-4824-8FB9-B82838B9727B}" type="slidenum">
              <a:rPr lang="en-US" smtClean="0"/>
              <a:t>20</a:t>
            </a:fld>
            <a:endParaRPr lang="en-US"/>
          </a:p>
        </p:txBody>
      </p:sp>
    </p:spTree>
    <p:extLst>
      <p:ext uri="{BB962C8B-B14F-4D97-AF65-F5344CB8AC3E}">
        <p14:creationId xmlns:p14="http://schemas.microsoft.com/office/powerpoint/2010/main" val="1594594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6C1A-1F1E-EB5E-4E3A-D46CA1D74D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73E3BB-C0F5-6099-29CB-B15FA99DDD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2E2E10-7D8B-E6A4-0FAE-12E4F5A29D10}"/>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10059F28-9FAA-718E-C088-23B71874F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BE572-5AB6-B6CD-91DB-D24411B47143}"/>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548561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B4D70-072C-60D6-7407-DA2A3B61B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9775B2-67DA-6CF5-5559-9A3BE35C9A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38127A-8013-1DEA-671B-B5466B89DB36}"/>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3593121F-ADC7-85BF-7FB5-B9DC4504C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A6ABD-D83F-C0B3-7B7F-B25E550E6174}"/>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4140869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6C2E-E5D1-E715-CB07-DD08DEF680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7CEEF1-CD20-FEFF-C979-8380F47EF0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493574-526D-2AE2-B5AA-E80FFEEC3DD3}"/>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AFF0B00A-A338-07C0-0C01-3DAD1C976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092391-FA90-D517-49A6-D3C979AD2CDC}"/>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38347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4CF0-038A-6AB8-E19D-0B51F94239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608080-DABC-6ED8-9AC5-43F5F7677B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C8B8D5-EAE8-2FDE-64D7-BE63335159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57E08-1A6F-6D9F-44CA-C1A4E99C7B04}"/>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6" name="Footer Placeholder 5">
            <a:extLst>
              <a:ext uri="{FF2B5EF4-FFF2-40B4-BE49-F238E27FC236}">
                <a16:creationId xmlns:a16="http://schemas.microsoft.com/office/drawing/2014/main" id="{B04CB527-0ACA-A26E-3DE4-0B106CB5A9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F72354-FB38-A7FC-EEF6-54E35DF66DA8}"/>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490818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9E5F-2E8C-AE15-C7B5-DD751E2FF9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2B8035-5E0A-0499-F14E-99B277972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C94014-556A-10B5-7AED-77F4B471DD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101ED-1946-336B-0B8C-55CB860DD0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46A728-9EAC-2A55-3765-0B88B19448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18DA57-041F-2732-3F05-55B131039EB5}"/>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8" name="Footer Placeholder 7">
            <a:extLst>
              <a:ext uri="{FF2B5EF4-FFF2-40B4-BE49-F238E27FC236}">
                <a16:creationId xmlns:a16="http://schemas.microsoft.com/office/drawing/2014/main" id="{57CE0EEE-85D1-5E29-0E85-E4B1012312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5CA878-93CB-E7F3-C635-86448F6AC020}"/>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3683137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1D80E-7367-B815-80F1-2694C6645D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C8E8EF-BFE5-46C8-E3CF-AE596DB8A1F1}"/>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4" name="Footer Placeholder 3">
            <a:extLst>
              <a:ext uri="{FF2B5EF4-FFF2-40B4-BE49-F238E27FC236}">
                <a16:creationId xmlns:a16="http://schemas.microsoft.com/office/drawing/2014/main" id="{48B47E95-4019-67FD-0DF1-190247AC8B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A4CEB2-B5DC-A4B9-A365-CE00897FD09E}"/>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867695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58E048-6894-5E89-E7B0-7B62CF9C961F}"/>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3" name="Footer Placeholder 2">
            <a:extLst>
              <a:ext uri="{FF2B5EF4-FFF2-40B4-BE49-F238E27FC236}">
                <a16:creationId xmlns:a16="http://schemas.microsoft.com/office/drawing/2014/main" id="{E54F8AD6-F958-E429-33A7-386408D67C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163BCA-146D-80B3-B05C-C16F9BE286AC}"/>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606942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5BB15-BFE6-45D9-E868-1B4536367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D16192-4EB5-08DB-A977-4C6854E51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4C9DD0-172A-DD2C-1571-01FA129328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B08A00-7EF8-01B0-D425-4C7D588445A8}"/>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6" name="Footer Placeholder 5">
            <a:extLst>
              <a:ext uri="{FF2B5EF4-FFF2-40B4-BE49-F238E27FC236}">
                <a16:creationId xmlns:a16="http://schemas.microsoft.com/office/drawing/2014/main" id="{0B83C016-674B-1221-A9AC-BC954530E0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FF6D3D-D7BB-40D4-EB33-74110433FC7F}"/>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183683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455F9-79B7-D4DB-8F61-4FB7EE37C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CBB3CF-0ED9-CB26-8E6D-FD3D8A28D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552AE7-03DA-0D24-6E79-7B7EF0456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8A3787-C26F-D0A5-D584-2145DA4A8769}"/>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6" name="Footer Placeholder 5">
            <a:extLst>
              <a:ext uri="{FF2B5EF4-FFF2-40B4-BE49-F238E27FC236}">
                <a16:creationId xmlns:a16="http://schemas.microsoft.com/office/drawing/2014/main" id="{03D68783-C392-E024-BCFF-07CBF2914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450817-5D16-D4CE-53EC-9735E2F12F8F}"/>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72402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EC519-9C07-49A1-CBCA-DCE35FDB7D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34F61F-B355-0433-C5B9-A2B110348D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E3E12F-1341-83F5-8CC8-937449739200}"/>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16E6B927-A5CE-16C1-17A5-07F469F5D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F3AA7-47AB-9791-3BE4-6F738ABED40C}"/>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85798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FED3A-1441-0EC4-34E5-9B71010031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2E775C-6D47-6315-731E-D7C4C089CF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EA07EA-B60D-9617-E986-ABA1793ED716}"/>
              </a:ext>
            </a:extLst>
          </p:cNvPr>
          <p:cNvSpPr>
            <a:spLocks noGrp="1"/>
          </p:cNvSpPr>
          <p:nvPr>
            <p:ph type="dt" sz="half" idx="10"/>
          </p:nvPr>
        </p:nvSpPr>
        <p:spPr/>
        <p:txBody>
          <a:body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4AC4ACCA-24AD-3CCF-4B7E-10EE7D75E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B2FC0-0A18-3DBA-4818-85254C290CE9}"/>
              </a:ext>
            </a:extLst>
          </p:cNvPr>
          <p:cNvSpPr>
            <a:spLocks noGrp="1"/>
          </p:cNvSpPr>
          <p:nvPr>
            <p:ph type="sldNum" sz="quarter" idx="12"/>
          </p:nvPr>
        </p:nvSpPr>
        <p:spPr/>
        <p:txBody>
          <a:bodyPr/>
          <a:lstStyle/>
          <a:p>
            <a:fld id="{7D08BA8E-4570-4DE7-AC13-3639755582E3}" type="slidenum">
              <a:rPr lang="en-US" smtClean="0"/>
              <a:t>‹#›</a:t>
            </a:fld>
            <a:endParaRPr lang="en-US"/>
          </a:p>
        </p:txBody>
      </p:sp>
    </p:spTree>
    <p:extLst>
      <p:ext uri="{BB962C8B-B14F-4D97-AF65-F5344CB8AC3E}">
        <p14:creationId xmlns:p14="http://schemas.microsoft.com/office/powerpoint/2010/main" val="10847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5A0F4-B7DD-78F9-2253-ADB2F8713E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03652-F792-93B1-8C55-016E3D4470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BC51C-4FD5-DE7F-E248-8245B42E9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34BB3B-1B41-402A-A085-EFB82AFA88AA}" type="datetimeFigureOut">
              <a:rPr lang="en-US" smtClean="0"/>
              <a:t>8/22/2026</a:t>
            </a:fld>
            <a:endParaRPr lang="en-US"/>
          </a:p>
        </p:txBody>
      </p:sp>
      <p:sp>
        <p:nvSpPr>
          <p:cNvPr id="5" name="Footer Placeholder 4">
            <a:extLst>
              <a:ext uri="{FF2B5EF4-FFF2-40B4-BE49-F238E27FC236}">
                <a16:creationId xmlns:a16="http://schemas.microsoft.com/office/drawing/2014/main" id="{23A51EE2-1DB8-20BD-05E0-2E9698A9CF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7F2DA3-704E-BDD8-7F7C-A8D5F61D58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08BA8E-4570-4DE7-AC13-3639755582E3}" type="slidenum">
              <a:rPr lang="en-US" smtClean="0"/>
              <a:t>‹#›</a:t>
            </a:fld>
            <a:endParaRPr lang="en-US"/>
          </a:p>
        </p:txBody>
      </p:sp>
    </p:spTree>
    <p:extLst>
      <p:ext uri="{BB962C8B-B14F-4D97-AF65-F5344CB8AC3E}">
        <p14:creationId xmlns:p14="http://schemas.microsoft.com/office/powerpoint/2010/main" val="3680947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3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6E9E1F-50D8-AF7B-00FA-FCEDF062D13D}"/>
              </a:ext>
            </a:extLst>
          </p:cNvPr>
          <p:cNvSpPr/>
          <p:nvPr/>
        </p:nvSpPr>
        <p:spPr>
          <a:xfrm>
            <a:off x="0" y="0"/>
            <a:ext cx="2032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BA85E16-2C26-CE20-2BCA-BDD90997019A}"/>
              </a:ext>
            </a:extLst>
          </p:cNvPr>
          <p:cNvSpPr/>
          <p:nvPr/>
        </p:nvSpPr>
        <p:spPr>
          <a:xfrm>
            <a:off x="7874000" y="-1016000"/>
            <a:ext cx="5207000" cy="5207000"/>
          </a:xfrm>
          <a:prstGeom prst="rect">
            <a:avLst/>
          </a:prstGeom>
          <a:solidFill>
            <a:srgbClr val="0F62FE">
              <a:alpha val="8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4F9AF68-BE12-73BE-84CE-37947CDC9C08}"/>
              </a:ext>
            </a:extLst>
          </p:cNvPr>
          <p:cNvSpPr/>
          <p:nvPr/>
        </p:nvSpPr>
        <p:spPr>
          <a:xfrm>
            <a:off x="8763000" y="3048000"/>
            <a:ext cx="4191000" cy="4191000"/>
          </a:xfrm>
          <a:prstGeom prst="rect">
            <a:avLst/>
          </a:prstGeom>
          <a:solidFill>
            <a:srgbClr val="8A3FFC">
              <a:alpha val="7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B206440-FC4F-EFDE-2A03-EFD1AF33069D}"/>
              </a:ext>
            </a:extLst>
          </p:cNvPr>
          <p:cNvSpPr/>
          <p:nvPr/>
        </p:nvSpPr>
        <p:spPr>
          <a:xfrm>
            <a:off x="8255000" y="914400"/>
            <a:ext cx="685800" cy="685800"/>
          </a:xfrm>
          <a:prstGeom prst="ellipse">
            <a:avLst/>
          </a:prstGeom>
          <a:solidFill>
            <a:srgbClr val="FFFFFF">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2431F4F-90C3-1D39-4168-97B1CFC250DF}"/>
              </a:ext>
            </a:extLst>
          </p:cNvPr>
          <p:cNvCxnSpPr/>
          <p:nvPr/>
        </p:nvCxnSpPr>
        <p:spPr>
          <a:xfrm>
            <a:off x="8940800" y="1257300"/>
            <a:ext cx="508000" cy="469900"/>
          </a:xfrm>
          <a:prstGeom prst="line">
            <a:avLst/>
          </a:prstGeom>
          <a:ln w="25400">
            <a:solidFill>
              <a:srgbClr val="33B1FF"/>
            </a:solidFill>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60CBC8A2-9AB7-D9F0-2D3D-E3717AE6F854}"/>
              </a:ext>
            </a:extLst>
          </p:cNvPr>
          <p:cNvSpPr/>
          <p:nvPr/>
        </p:nvSpPr>
        <p:spPr>
          <a:xfrm>
            <a:off x="9461500" y="914400"/>
            <a:ext cx="685800" cy="685800"/>
          </a:xfrm>
          <a:prstGeom prst="ellipse">
            <a:avLst/>
          </a:prstGeom>
          <a:solidFill>
            <a:srgbClr val="FFFFFF">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139967DA-C391-53C0-6068-379CDD5D369F}"/>
              </a:ext>
            </a:extLst>
          </p:cNvPr>
          <p:cNvCxnSpPr/>
          <p:nvPr/>
        </p:nvCxnSpPr>
        <p:spPr>
          <a:xfrm>
            <a:off x="10147300" y="1257300"/>
            <a:ext cx="508000" cy="469900"/>
          </a:xfrm>
          <a:prstGeom prst="line">
            <a:avLst/>
          </a:prstGeom>
          <a:ln w="25400">
            <a:solidFill>
              <a:srgbClr val="33B1FF"/>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FFE8E237-124E-2D35-BE5C-26FC020E1132}"/>
              </a:ext>
            </a:extLst>
          </p:cNvPr>
          <p:cNvSpPr/>
          <p:nvPr/>
        </p:nvSpPr>
        <p:spPr>
          <a:xfrm>
            <a:off x="10668000" y="914400"/>
            <a:ext cx="685800" cy="685800"/>
          </a:xfrm>
          <a:prstGeom prst="ellipse">
            <a:avLst/>
          </a:prstGeom>
          <a:solidFill>
            <a:srgbClr val="FFFFFF">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83B8952B-8CC4-7610-B249-BFBC58A2C51B}"/>
              </a:ext>
            </a:extLst>
          </p:cNvPr>
          <p:cNvCxnSpPr/>
          <p:nvPr/>
        </p:nvCxnSpPr>
        <p:spPr>
          <a:xfrm>
            <a:off x="11353800" y="1257300"/>
            <a:ext cx="508000" cy="469900"/>
          </a:xfrm>
          <a:prstGeom prst="line">
            <a:avLst/>
          </a:prstGeom>
          <a:ln w="25400">
            <a:solidFill>
              <a:srgbClr val="33B1FF"/>
            </a:solidFill>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7B6C2918-1061-A17F-E035-BF2F434EE09C}"/>
              </a:ext>
            </a:extLst>
          </p:cNvPr>
          <p:cNvSpPr/>
          <p:nvPr/>
        </p:nvSpPr>
        <p:spPr>
          <a:xfrm>
            <a:off x="8255000" y="2438400"/>
            <a:ext cx="685800" cy="685800"/>
          </a:xfrm>
          <a:prstGeom prst="ellipse">
            <a:avLst/>
          </a:prstGeom>
          <a:solidFill>
            <a:srgbClr val="33B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E52F502-E1CC-7303-2BC4-29DD85F616D1}"/>
              </a:ext>
            </a:extLst>
          </p:cNvPr>
          <p:cNvCxnSpPr/>
          <p:nvPr/>
        </p:nvCxnSpPr>
        <p:spPr>
          <a:xfrm>
            <a:off x="8940800" y="2781300"/>
            <a:ext cx="508000" cy="469900"/>
          </a:xfrm>
          <a:prstGeom prst="line">
            <a:avLst/>
          </a:prstGeom>
          <a:ln w="25400">
            <a:solidFill>
              <a:srgbClr val="33B1FF"/>
            </a:solidFill>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413C6E3E-3EF1-0072-8EF9-D06E01E2C8BF}"/>
              </a:ext>
            </a:extLst>
          </p:cNvPr>
          <p:cNvSpPr/>
          <p:nvPr/>
        </p:nvSpPr>
        <p:spPr>
          <a:xfrm>
            <a:off x="9461500" y="2438400"/>
            <a:ext cx="685800" cy="685800"/>
          </a:xfrm>
          <a:prstGeom prst="ellipse">
            <a:avLst/>
          </a:prstGeom>
          <a:solidFill>
            <a:srgbClr val="FFFFFF">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D41DFA8-94D0-41E0-AA7D-FB4B88B456D4}"/>
              </a:ext>
            </a:extLst>
          </p:cNvPr>
          <p:cNvCxnSpPr/>
          <p:nvPr/>
        </p:nvCxnSpPr>
        <p:spPr>
          <a:xfrm>
            <a:off x="10147300" y="2781300"/>
            <a:ext cx="508000" cy="469900"/>
          </a:xfrm>
          <a:prstGeom prst="line">
            <a:avLst/>
          </a:prstGeom>
          <a:ln w="25400">
            <a:solidFill>
              <a:srgbClr val="33B1FF"/>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C7D93563-9B12-98D4-23FF-E379D080966E}"/>
              </a:ext>
            </a:extLst>
          </p:cNvPr>
          <p:cNvSpPr/>
          <p:nvPr/>
        </p:nvSpPr>
        <p:spPr>
          <a:xfrm>
            <a:off x="10668000" y="2438400"/>
            <a:ext cx="685800" cy="685800"/>
          </a:xfrm>
          <a:prstGeom prst="ellipse">
            <a:avLst/>
          </a:prstGeom>
          <a:solidFill>
            <a:srgbClr val="FFFFFF">
              <a:alpha val="9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0004848-41EF-9658-E1EC-7F4BA2A6E954}"/>
              </a:ext>
            </a:extLst>
          </p:cNvPr>
          <p:cNvSpPr/>
          <p:nvPr/>
        </p:nvSpPr>
        <p:spPr>
          <a:xfrm>
            <a:off x="685800" y="685800"/>
            <a:ext cx="3429000" cy="3048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1B6B9DE-BEB0-2A60-2E2D-F3F6C0DD20E0}"/>
              </a:ext>
            </a:extLst>
          </p:cNvPr>
          <p:cNvSpPr txBox="1"/>
          <p:nvPr/>
        </p:nvSpPr>
        <p:spPr>
          <a:xfrm>
            <a:off x="787400" y="749300"/>
            <a:ext cx="3225800" cy="153888"/>
          </a:xfrm>
          <a:prstGeom prst="rect">
            <a:avLst/>
          </a:prstGeom>
          <a:noFill/>
        </p:spPr>
        <p:txBody>
          <a:bodyPr vert="horz" wrap="square" lIns="0" tIns="0" rIns="0" bIns="0" rtlCol="0" anchor="t">
            <a:spAutoFit/>
          </a:bodyPr>
          <a:lstStyle/>
          <a:p>
            <a:pPr algn="ctr"/>
            <a:r>
              <a:rPr lang="en-US" sz="1000" b="1">
                <a:solidFill>
                  <a:srgbClr val="FFFFFF"/>
                </a:solidFill>
                <a:latin typeface="Aptos" panose="020B0004020202020204" pitchFamily="34" charset="0"/>
              </a:rPr>
              <a:t>IBM AI ENGINEERING COURSE PROJECT</a:t>
            </a:r>
          </a:p>
        </p:txBody>
      </p:sp>
      <p:sp>
        <p:nvSpPr>
          <p:cNvPr id="18" name="TextBox 17">
            <a:extLst>
              <a:ext uri="{FF2B5EF4-FFF2-40B4-BE49-F238E27FC236}">
                <a16:creationId xmlns:a16="http://schemas.microsoft.com/office/drawing/2014/main" id="{287AA567-CEE0-9E0D-049F-89A8FB6E704C}"/>
              </a:ext>
            </a:extLst>
          </p:cNvPr>
          <p:cNvSpPr txBox="1"/>
          <p:nvPr/>
        </p:nvSpPr>
        <p:spPr>
          <a:xfrm>
            <a:off x="685800" y="1574800"/>
            <a:ext cx="6858000" cy="584775"/>
          </a:xfrm>
          <a:prstGeom prst="rect">
            <a:avLst/>
          </a:prstGeom>
          <a:noFill/>
        </p:spPr>
        <p:txBody>
          <a:bodyPr vert="horz" wrap="square" lIns="0" tIns="0" rIns="0" bIns="0" rtlCol="0" anchor="t">
            <a:spAutoFit/>
          </a:bodyPr>
          <a:lstStyle/>
          <a:p>
            <a:r>
              <a:rPr lang="en-US" sz="3800" b="1">
                <a:solidFill>
                  <a:srgbClr val="FFFFFF"/>
                </a:solidFill>
                <a:latin typeface="Aptos" panose="020B0004020202020204" pitchFamily="34" charset="0"/>
              </a:rPr>
              <a:t>RxAuth AI</a:t>
            </a:r>
          </a:p>
        </p:txBody>
      </p:sp>
      <p:sp>
        <p:nvSpPr>
          <p:cNvPr id="19" name="TextBox 18">
            <a:extLst>
              <a:ext uri="{FF2B5EF4-FFF2-40B4-BE49-F238E27FC236}">
                <a16:creationId xmlns:a16="http://schemas.microsoft.com/office/drawing/2014/main" id="{30071F8C-D3A8-BFBD-7919-5BF6EA59ABD3}"/>
              </a:ext>
            </a:extLst>
          </p:cNvPr>
          <p:cNvSpPr txBox="1"/>
          <p:nvPr/>
        </p:nvSpPr>
        <p:spPr>
          <a:xfrm>
            <a:off x="685800" y="2413000"/>
            <a:ext cx="6921500" cy="769441"/>
          </a:xfrm>
          <a:prstGeom prst="rect">
            <a:avLst/>
          </a:prstGeom>
          <a:noFill/>
        </p:spPr>
        <p:txBody>
          <a:bodyPr vert="horz" wrap="square" lIns="0" tIns="0" rIns="0" bIns="0" rtlCol="0" anchor="t">
            <a:spAutoFit/>
          </a:bodyPr>
          <a:lstStyle/>
          <a:p>
            <a:r>
              <a:rPr lang="en-US" sz="2500" b="1">
                <a:solidFill>
                  <a:srgbClr val="33B1FF"/>
                </a:solidFill>
                <a:latin typeface="Aptos" panose="020B0004020202020204" pitchFamily="34" charset="0"/>
              </a:rPr>
              <a:t>Evidence-grounded prior authorization intelligence</a:t>
            </a:r>
          </a:p>
        </p:txBody>
      </p:sp>
      <p:sp>
        <p:nvSpPr>
          <p:cNvPr id="20" name="TextBox 19">
            <a:extLst>
              <a:ext uri="{FF2B5EF4-FFF2-40B4-BE49-F238E27FC236}">
                <a16:creationId xmlns:a16="http://schemas.microsoft.com/office/drawing/2014/main" id="{0917F554-2162-1893-63DF-36DD0EF5A279}"/>
              </a:ext>
            </a:extLst>
          </p:cNvPr>
          <p:cNvSpPr txBox="1"/>
          <p:nvPr/>
        </p:nvSpPr>
        <p:spPr>
          <a:xfrm>
            <a:off x="685800" y="3708400"/>
            <a:ext cx="6604000" cy="492443"/>
          </a:xfrm>
          <a:prstGeom prst="rect">
            <a:avLst/>
          </a:prstGeom>
          <a:noFill/>
        </p:spPr>
        <p:txBody>
          <a:bodyPr vert="horz" wrap="square" lIns="0" tIns="0" rIns="0" bIns="0" rtlCol="0" anchor="t">
            <a:spAutoFit/>
          </a:bodyPr>
          <a:lstStyle/>
          <a:p>
            <a:r>
              <a:rPr lang="en-US" sz="1600">
                <a:solidFill>
                  <a:srgbClr val="FFFFFF"/>
                </a:solidFill>
                <a:latin typeface="Aptos" panose="020B0004020202020204" pitchFamily="34" charset="0"/>
              </a:rPr>
              <a:t>A human-in-the-loop AI engineering prototype for specialty pharmacy workflows</a:t>
            </a:r>
          </a:p>
        </p:txBody>
      </p:sp>
      <p:cxnSp>
        <p:nvCxnSpPr>
          <p:cNvPr id="21" name="Straight Connector 20">
            <a:extLst>
              <a:ext uri="{FF2B5EF4-FFF2-40B4-BE49-F238E27FC236}">
                <a16:creationId xmlns:a16="http://schemas.microsoft.com/office/drawing/2014/main" id="{D11C21B2-4237-9975-7E90-54F14C87D704}"/>
              </a:ext>
            </a:extLst>
          </p:cNvPr>
          <p:cNvCxnSpPr/>
          <p:nvPr/>
        </p:nvCxnSpPr>
        <p:spPr>
          <a:xfrm>
            <a:off x="685800" y="4851400"/>
            <a:ext cx="5410200" cy="0"/>
          </a:xfrm>
          <a:prstGeom prst="line">
            <a:avLst/>
          </a:prstGeom>
          <a:ln w="25400">
            <a:solidFill>
              <a:srgbClr val="4589FF"/>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349289C-77BE-3E14-0367-A9979130AE20}"/>
              </a:ext>
            </a:extLst>
          </p:cNvPr>
          <p:cNvSpPr txBox="1"/>
          <p:nvPr/>
        </p:nvSpPr>
        <p:spPr>
          <a:xfrm>
            <a:off x="685800" y="5118100"/>
            <a:ext cx="3810000" cy="230832"/>
          </a:xfrm>
          <a:prstGeom prst="rect">
            <a:avLst/>
          </a:prstGeom>
          <a:noFill/>
        </p:spPr>
        <p:txBody>
          <a:bodyPr vert="horz" wrap="square" lIns="0" tIns="0" rIns="0" bIns="0" rtlCol="0" anchor="t">
            <a:spAutoFit/>
          </a:bodyPr>
          <a:lstStyle/>
          <a:p>
            <a:r>
              <a:rPr lang="en-US" sz="1500" b="1">
                <a:solidFill>
                  <a:srgbClr val="FFFFFF"/>
                </a:solidFill>
                <a:latin typeface="Aptos" panose="020B0004020202020204" pitchFamily="34" charset="0"/>
              </a:rPr>
              <a:t>Bavely S. Tawfik</a:t>
            </a:r>
          </a:p>
        </p:txBody>
      </p:sp>
      <p:sp>
        <p:nvSpPr>
          <p:cNvPr id="23" name="TextBox 22">
            <a:extLst>
              <a:ext uri="{FF2B5EF4-FFF2-40B4-BE49-F238E27FC236}">
                <a16:creationId xmlns:a16="http://schemas.microsoft.com/office/drawing/2014/main" id="{EC8F2362-1C3F-3DA1-DCDF-FAA4A7A4F901}"/>
              </a:ext>
            </a:extLst>
          </p:cNvPr>
          <p:cNvSpPr txBox="1"/>
          <p:nvPr/>
        </p:nvSpPr>
        <p:spPr>
          <a:xfrm>
            <a:off x="685800" y="5524500"/>
            <a:ext cx="6858000" cy="176972"/>
          </a:xfrm>
          <a:prstGeom prst="rect">
            <a:avLst/>
          </a:prstGeom>
          <a:noFill/>
        </p:spPr>
        <p:txBody>
          <a:bodyPr vert="horz" wrap="square" lIns="0" tIns="0" rIns="0" bIns="0" rtlCol="0" anchor="t">
            <a:spAutoFit/>
          </a:bodyPr>
          <a:lstStyle/>
          <a:p>
            <a:r>
              <a:rPr lang="en-US" sz="1150">
                <a:solidFill>
                  <a:srgbClr val="E8EEF5"/>
                </a:solidFill>
                <a:latin typeface="Aptos" panose="020B0004020202020204" pitchFamily="34" charset="0"/>
              </a:rPr>
              <a:t>Python • scikit-learn • OpenCV • Pydantic • reproducible evaluation</a:t>
            </a:r>
          </a:p>
        </p:txBody>
      </p:sp>
      <p:sp>
        <p:nvSpPr>
          <p:cNvPr id="24" name="TextBox 23">
            <a:extLst>
              <a:ext uri="{FF2B5EF4-FFF2-40B4-BE49-F238E27FC236}">
                <a16:creationId xmlns:a16="http://schemas.microsoft.com/office/drawing/2014/main" id="{3739DE00-A46B-75F5-65D7-DFAE11EBC05C}"/>
              </a:ext>
            </a:extLst>
          </p:cNvPr>
          <p:cNvSpPr txBox="1"/>
          <p:nvPr/>
        </p:nvSpPr>
        <p:spPr>
          <a:xfrm>
            <a:off x="685800" y="6223000"/>
            <a:ext cx="2540000" cy="153888"/>
          </a:xfrm>
          <a:prstGeom prst="rect">
            <a:avLst/>
          </a:prstGeom>
          <a:noFill/>
        </p:spPr>
        <p:txBody>
          <a:bodyPr vert="horz" wrap="square" lIns="0" tIns="0" rIns="0" bIns="0" rtlCol="0" anchor="t">
            <a:spAutoFit/>
          </a:bodyPr>
          <a:lstStyle/>
          <a:p>
            <a:r>
              <a:rPr lang="en-US" sz="1000">
                <a:solidFill>
                  <a:srgbClr val="E8EEF5"/>
                </a:solidFill>
                <a:latin typeface="Aptos" panose="020B0004020202020204" pitchFamily="34" charset="0"/>
              </a:rPr>
              <a:t>August 2026</a:t>
            </a:r>
          </a:p>
        </p:txBody>
      </p:sp>
    </p:spTree>
    <p:extLst>
      <p:ext uri="{BB962C8B-B14F-4D97-AF65-F5344CB8AC3E}">
        <p14:creationId xmlns:p14="http://schemas.microsoft.com/office/powerpoint/2010/main" val="217950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17392B-62AE-D5E7-AFB0-20F6337758E8}"/>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1B9CC5-BC47-9E16-0DF4-4EA7A0E60976}"/>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01  /  PROJECT OVERVIEW</a:t>
            </a:r>
          </a:p>
        </p:txBody>
      </p:sp>
      <p:sp>
        <p:nvSpPr>
          <p:cNvPr id="4" name="TextBox 3">
            <a:extLst>
              <a:ext uri="{FF2B5EF4-FFF2-40B4-BE49-F238E27FC236}">
                <a16:creationId xmlns:a16="http://schemas.microsoft.com/office/drawing/2014/main" id="{584695E2-5D8B-7F5C-C574-2EBD0CBD17E9}"/>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Executive summary</a:t>
            </a:r>
          </a:p>
        </p:txBody>
      </p:sp>
      <p:sp>
        <p:nvSpPr>
          <p:cNvPr id="5" name="TextBox 4">
            <a:extLst>
              <a:ext uri="{FF2B5EF4-FFF2-40B4-BE49-F238E27FC236}">
                <a16:creationId xmlns:a16="http://schemas.microsoft.com/office/drawing/2014/main" id="{8789AEE6-FA02-40AC-19C2-85AD3EEEA7A5}"/>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One project demonstrating the complete AI engineering lifecycle</a:t>
            </a:r>
          </a:p>
        </p:txBody>
      </p:sp>
      <p:cxnSp>
        <p:nvCxnSpPr>
          <p:cNvPr id="6" name="Straight Connector 5">
            <a:extLst>
              <a:ext uri="{FF2B5EF4-FFF2-40B4-BE49-F238E27FC236}">
                <a16:creationId xmlns:a16="http://schemas.microsoft.com/office/drawing/2014/main" id="{378447A0-7059-D351-FC0C-8A155FBB8B9E}"/>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927BA18-CE46-E2A3-F099-75C96C6A639C}"/>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926B89A3-3673-098F-E7BB-C1D8A89917E1}"/>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2</a:t>
            </a:r>
          </a:p>
        </p:txBody>
      </p:sp>
      <p:sp>
        <p:nvSpPr>
          <p:cNvPr id="9" name="Rectangle: Rounded Corners 8">
            <a:extLst>
              <a:ext uri="{FF2B5EF4-FFF2-40B4-BE49-F238E27FC236}">
                <a16:creationId xmlns:a16="http://schemas.microsoft.com/office/drawing/2014/main" id="{5916FDC3-10BC-09E1-FB8F-22D412252F57}"/>
              </a:ext>
            </a:extLst>
          </p:cNvPr>
          <p:cNvSpPr/>
          <p:nvPr/>
        </p:nvSpPr>
        <p:spPr>
          <a:xfrm>
            <a:off x="533400" y="1854200"/>
            <a:ext cx="3429000" cy="1905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2C6501B-2518-7009-EDC6-135DA4EAC04A}"/>
              </a:ext>
            </a:extLst>
          </p:cNvPr>
          <p:cNvSpPr/>
          <p:nvPr/>
        </p:nvSpPr>
        <p:spPr>
          <a:xfrm>
            <a:off x="533400" y="1854200"/>
            <a:ext cx="76200" cy="19050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CFE604F-12B4-F2A0-28EF-7FEF26B01226}"/>
              </a:ext>
            </a:extLst>
          </p:cNvPr>
          <p:cNvSpPr txBox="1"/>
          <p:nvPr/>
        </p:nvSpPr>
        <p:spPr>
          <a:xfrm>
            <a:off x="787400" y="2057400"/>
            <a:ext cx="2984500" cy="400110"/>
          </a:xfrm>
          <a:prstGeom prst="rect">
            <a:avLst/>
          </a:prstGeom>
          <a:noFill/>
        </p:spPr>
        <p:txBody>
          <a:bodyPr vert="horz" wrap="square" lIns="0" tIns="0" rIns="0" bIns="0" rtlCol="0" anchor="t">
            <a:spAutoFit/>
          </a:bodyPr>
          <a:lstStyle/>
          <a:p>
            <a:r>
              <a:rPr lang="en-US" sz="2600" b="1">
                <a:solidFill>
                  <a:srgbClr val="FF832B"/>
                </a:solidFill>
                <a:latin typeface="Aptos" panose="020B0004020202020204" pitchFamily="34" charset="0"/>
              </a:rPr>
              <a:t>01</a:t>
            </a:r>
          </a:p>
        </p:txBody>
      </p:sp>
      <p:sp>
        <p:nvSpPr>
          <p:cNvPr id="12" name="TextBox 11">
            <a:extLst>
              <a:ext uri="{FF2B5EF4-FFF2-40B4-BE49-F238E27FC236}">
                <a16:creationId xmlns:a16="http://schemas.microsoft.com/office/drawing/2014/main" id="{1D837906-4381-45AA-C556-B002E8826D59}"/>
              </a:ext>
            </a:extLst>
          </p:cNvPr>
          <p:cNvSpPr txBox="1"/>
          <p:nvPr/>
        </p:nvSpPr>
        <p:spPr>
          <a:xfrm>
            <a:off x="787400" y="2590800"/>
            <a:ext cx="2984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The problem</a:t>
            </a:r>
          </a:p>
        </p:txBody>
      </p:sp>
      <p:sp>
        <p:nvSpPr>
          <p:cNvPr id="13" name="TextBox 12">
            <a:extLst>
              <a:ext uri="{FF2B5EF4-FFF2-40B4-BE49-F238E27FC236}">
                <a16:creationId xmlns:a16="http://schemas.microsoft.com/office/drawing/2014/main" id="{31F06336-603D-6700-4D29-36534F46CA51}"/>
              </a:ext>
            </a:extLst>
          </p:cNvPr>
          <p:cNvSpPr txBox="1"/>
          <p:nvPr/>
        </p:nvSpPr>
        <p:spPr>
          <a:xfrm>
            <a:off x="787400" y="2971800"/>
            <a:ext cx="2984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Prior-authorization packets are document-heavy, policy-dependent, and vulnerable to missing or ambiguous evidence.</a:t>
            </a:r>
          </a:p>
        </p:txBody>
      </p:sp>
      <p:sp>
        <p:nvSpPr>
          <p:cNvPr id="14" name="Rectangle: Rounded Corners 13">
            <a:extLst>
              <a:ext uri="{FF2B5EF4-FFF2-40B4-BE49-F238E27FC236}">
                <a16:creationId xmlns:a16="http://schemas.microsoft.com/office/drawing/2014/main" id="{65038CAF-E5C9-F958-CF36-567796D791DF}"/>
              </a:ext>
            </a:extLst>
          </p:cNvPr>
          <p:cNvSpPr/>
          <p:nvPr/>
        </p:nvSpPr>
        <p:spPr>
          <a:xfrm>
            <a:off x="4381500" y="1854200"/>
            <a:ext cx="3429000" cy="1905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1ED4DBF7-5B0D-8B75-FDA8-93C33E8F0A50}"/>
              </a:ext>
            </a:extLst>
          </p:cNvPr>
          <p:cNvSpPr/>
          <p:nvPr/>
        </p:nvSpPr>
        <p:spPr>
          <a:xfrm>
            <a:off x="4381500" y="1854200"/>
            <a:ext cx="76200" cy="1905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01720D6-622E-EEB2-F41B-B4A608C0AF03}"/>
              </a:ext>
            </a:extLst>
          </p:cNvPr>
          <p:cNvSpPr txBox="1"/>
          <p:nvPr/>
        </p:nvSpPr>
        <p:spPr>
          <a:xfrm>
            <a:off x="4635500" y="2057400"/>
            <a:ext cx="2984500" cy="400110"/>
          </a:xfrm>
          <a:prstGeom prst="rect">
            <a:avLst/>
          </a:prstGeom>
          <a:noFill/>
        </p:spPr>
        <p:txBody>
          <a:bodyPr vert="horz" wrap="square" lIns="0" tIns="0" rIns="0" bIns="0" rtlCol="0" anchor="t">
            <a:spAutoFit/>
          </a:bodyPr>
          <a:lstStyle/>
          <a:p>
            <a:r>
              <a:rPr lang="en-US" sz="2600" b="1">
                <a:solidFill>
                  <a:srgbClr val="0F62FE"/>
                </a:solidFill>
                <a:latin typeface="Aptos" panose="020B0004020202020204" pitchFamily="34" charset="0"/>
              </a:rPr>
              <a:t>02</a:t>
            </a:r>
          </a:p>
        </p:txBody>
      </p:sp>
      <p:sp>
        <p:nvSpPr>
          <p:cNvPr id="17" name="TextBox 16">
            <a:extLst>
              <a:ext uri="{FF2B5EF4-FFF2-40B4-BE49-F238E27FC236}">
                <a16:creationId xmlns:a16="http://schemas.microsoft.com/office/drawing/2014/main" id="{B7870D60-378E-73D9-B2D9-D45F0995DF30}"/>
              </a:ext>
            </a:extLst>
          </p:cNvPr>
          <p:cNvSpPr txBox="1"/>
          <p:nvPr/>
        </p:nvSpPr>
        <p:spPr>
          <a:xfrm>
            <a:off x="4635500" y="2590800"/>
            <a:ext cx="2984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The solution</a:t>
            </a:r>
          </a:p>
        </p:txBody>
      </p:sp>
      <p:sp>
        <p:nvSpPr>
          <p:cNvPr id="18" name="TextBox 17">
            <a:extLst>
              <a:ext uri="{FF2B5EF4-FFF2-40B4-BE49-F238E27FC236}">
                <a16:creationId xmlns:a16="http://schemas.microsoft.com/office/drawing/2014/main" id="{6C78E380-C40B-68BC-799D-FE1F62721D6D}"/>
              </a:ext>
            </a:extLst>
          </p:cNvPr>
          <p:cNvSpPr txBox="1"/>
          <p:nvPr/>
        </p:nvSpPr>
        <p:spPr>
          <a:xfrm>
            <a:off x="4635500" y="2971800"/>
            <a:ext cx="2984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Ingest and classify documents, match patient evidence to policy criteria, expose gaps, and enforce provenance before review.</a:t>
            </a:r>
          </a:p>
        </p:txBody>
      </p:sp>
      <p:sp>
        <p:nvSpPr>
          <p:cNvPr id="19" name="Rectangle: Rounded Corners 18">
            <a:extLst>
              <a:ext uri="{FF2B5EF4-FFF2-40B4-BE49-F238E27FC236}">
                <a16:creationId xmlns:a16="http://schemas.microsoft.com/office/drawing/2014/main" id="{26FDA6F0-2FE1-4FB0-10C5-DD80AD777678}"/>
              </a:ext>
            </a:extLst>
          </p:cNvPr>
          <p:cNvSpPr/>
          <p:nvPr/>
        </p:nvSpPr>
        <p:spPr>
          <a:xfrm>
            <a:off x="8229600" y="1854200"/>
            <a:ext cx="3429000" cy="1905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5D74BD78-B5FA-01B9-E0C6-E824A2F13D3F}"/>
              </a:ext>
            </a:extLst>
          </p:cNvPr>
          <p:cNvSpPr/>
          <p:nvPr/>
        </p:nvSpPr>
        <p:spPr>
          <a:xfrm>
            <a:off x="8229600" y="1854200"/>
            <a:ext cx="76200" cy="19050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6F2F771-F620-3978-DF43-33930F7935B7}"/>
              </a:ext>
            </a:extLst>
          </p:cNvPr>
          <p:cNvSpPr txBox="1"/>
          <p:nvPr/>
        </p:nvSpPr>
        <p:spPr>
          <a:xfrm>
            <a:off x="8483600" y="2057400"/>
            <a:ext cx="2984500" cy="400110"/>
          </a:xfrm>
          <a:prstGeom prst="rect">
            <a:avLst/>
          </a:prstGeom>
          <a:noFill/>
        </p:spPr>
        <p:txBody>
          <a:bodyPr vert="horz" wrap="square" lIns="0" tIns="0" rIns="0" bIns="0" rtlCol="0" anchor="t">
            <a:spAutoFit/>
          </a:bodyPr>
          <a:lstStyle/>
          <a:p>
            <a:r>
              <a:rPr lang="en-US" sz="2600" b="1">
                <a:solidFill>
                  <a:srgbClr val="24A148"/>
                </a:solidFill>
                <a:latin typeface="Aptos" panose="020B0004020202020204" pitchFamily="34" charset="0"/>
              </a:rPr>
              <a:t>03</a:t>
            </a:r>
          </a:p>
        </p:txBody>
      </p:sp>
      <p:sp>
        <p:nvSpPr>
          <p:cNvPr id="22" name="TextBox 21">
            <a:extLst>
              <a:ext uri="{FF2B5EF4-FFF2-40B4-BE49-F238E27FC236}">
                <a16:creationId xmlns:a16="http://schemas.microsoft.com/office/drawing/2014/main" id="{6211524A-BAAA-C35A-D8B6-D2182103BC34}"/>
              </a:ext>
            </a:extLst>
          </p:cNvPr>
          <p:cNvSpPr txBox="1"/>
          <p:nvPr/>
        </p:nvSpPr>
        <p:spPr>
          <a:xfrm>
            <a:off x="8483600" y="2590800"/>
            <a:ext cx="2984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Current proof</a:t>
            </a:r>
          </a:p>
        </p:txBody>
      </p:sp>
      <p:sp>
        <p:nvSpPr>
          <p:cNvPr id="23" name="TextBox 22">
            <a:extLst>
              <a:ext uri="{FF2B5EF4-FFF2-40B4-BE49-F238E27FC236}">
                <a16:creationId xmlns:a16="http://schemas.microsoft.com/office/drawing/2014/main" id="{F24E806E-242D-F62D-C75B-8600D516BC20}"/>
              </a:ext>
            </a:extLst>
          </p:cNvPr>
          <p:cNvSpPr txBox="1"/>
          <p:nvPr/>
        </p:nvSpPr>
        <p:spPr>
          <a:xfrm>
            <a:off x="8483600" y="2971800"/>
            <a:ext cx="2984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Phase 1.5 includes typed ingestion, a leakage-resistant ML baseline, an end-to-end case spine, tests, and reports.</a:t>
            </a:r>
          </a:p>
        </p:txBody>
      </p:sp>
      <p:sp>
        <p:nvSpPr>
          <p:cNvPr id="24" name="Rectangle: Rounded Corners 23">
            <a:extLst>
              <a:ext uri="{FF2B5EF4-FFF2-40B4-BE49-F238E27FC236}">
                <a16:creationId xmlns:a16="http://schemas.microsoft.com/office/drawing/2014/main" id="{5E46166B-CB3D-57DA-B021-49201D8CDE19}"/>
              </a:ext>
            </a:extLst>
          </p:cNvPr>
          <p:cNvSpPr/>
          <p:nvPr/>
        </p:nvSpPr>
        <p:spPr>
          <a:xfrm>
            <a:off x="533400" y="4127500"/>
            <a:ext cx="11125200" cy="1651000"/>
          </a:xfrm>
          <a:prstGeom prst="roundRect">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4886CFD-5A64-79B8-F60F-820CC5D2F41E}"/>
              </a:ext>
            </a:extLst>
          </p:cNvPr>
          <p:cNvSpPr txBox="1"/>
          <p:nvPr/>
        </p:nvSpPr>
        <p:spPr>
          <a:xfrm>
            <a:off x="838200" y="4394200"/>
            <a:ext cx="1905000" cy="153888"/>
          </a:xfrm>
          <a:prstGeom prst="rect">
            <a:avLst/>
          </a:prstGeom>
          <a:noFill/>
        </p:spPr>
        <p:txBody>
          <a:bodyPr vert="horz" wrap="square" lIns="0" tIns="0" rIns="0" bIns="0" rtlCol="0" anchor="t">
            <a:spAutoFit/>
          </a:bodyPr>
          <a:lstStyle/>
          <a:p>
            <a:r>
              <a:rPr lang="en-US" sz="1000" b="1">
                <a:solidFill>
                  <a:srgbClr val="33B1FF"/>
                </a:solidFill>
                <a:latin typeface="Aptos" panose="020B0004020202020204" pitchFamily="34" charset="0"/>
              </a:rPr>
              <a:t>PROJECT THESIS</a:t>
            </a:r>
          </a:p>
        </p:txBody>
      </p:sp>
      <p:sp>
        <p:nvSpPr>
          <p:cNvPr id="26" name="TextBox 25">
            <a:extLst>
              <a:ext uri="{FF2B5EF4-FFF2-40B4-BE49-F238E27FC236}">
                <a16:creationId xmlns:a16="http://schemas.microsoft.com/office/drawing/2014/main" id="{9F51BE63-3E95-768D-B411-9518B29FD9AA}"/>
              </a:ext>
            </a:extLst>
          </p:cNvPr>
          <p:cNvSpPr txBox="1"/>
          <p:nvPr/>
        </p:nvSpPr>
        <p:spPr>
          <a:xfrm>
            <a:off x="838200" y="4800600"/>
            <a:ext cx="10287000" cy="677108"/>
          </a:xfrm>
          <a:prstGeom prst="rect">
            <a:avLst/>
          </a:prstGeom>
          <a:noFill/>
        </p:spPr>
        <p:txBody>
          <a:bodyPr vert="horz" wrap="square" lIns="0" tIns="0" rIns="0" bIns="0" rtlCol="0" anchor="t">
            <a:spAutoFit/>
          </a:bodyPr>
          <a:lstStyle/>
          <a:p>
            <a:r>
              <a:rPr lang="en-US" sz="2200" b="1">
                <a:solidFill>
                  <a:srgbClr val="FFFFFF"/>
                </a:solidFill>
                <a:latin typeface="Aptos" panose="020B0004020202020204" pitchFamily="34" charset="0"/>
              </a:rPr>
              <a:t>Use probabilistic AI for interpretation; use deterministic code for explicit rules; route uncertainty to a human.</a:t>
            </a:r>
          </a:p>
        </p:txBody>
      </p:sp>
    </p:spTree>
    <p:extLst>
      <p:ext uri="{BB962C8B-B14F-4D97-AF65-F5344CB8AC3E}">
        <p14:creationId xmlns:p14="http://schemas.microsoft.com/office/powerpoint/2010/main" val="2817099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C31833-340B-40A6-39BD-4B1471700A4D}"/>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EF9F1D8-7849-3004-F8D1-A4F40A6998B4}"/>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02  /  PROBLEM</a:t>
            </a:r>
          </a:p>
        </p:txBody>
      </p:sp>
      <p:sp>
        <p:nvSpPr>
          <p:cNvPr id="4" name="TextBox 3">
            <a:extLst>
              <a:ext uri="{FF2B5EF4-FFF2-40B4-BE49-F238E27FC236}">
                <a16:creationId xmlns:a16="http://schemas.microsoft.com/office/drawing/2014/main" id="{3C933018-EDBB-B9B6-F9EF-A8C08A273A21}"/>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Why prior authorization needs intelligence, not just automation</a:t>
            </a:r>
          </a:p>
        </p:txBody>
      </p:sp>
      <p:sp>
        <p:nvSpPr>
          <p:cNvPr id="5" name="TextBox 4">
            <a:extLst>
              <a:ext uri="{FF2B5EF4-FFF2-40B4-BE49-F238E27FC236}">
                <a16:creationId xmlns:a16="http://schemas.microsoft.com/office/drawing/2014/main" id="{FDDC59BB-E835-6753-D819-9E978E548533}"/>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The bottleneck is evidence completeness and traceability before submission</a:t>
            </a:r>
          </a:p>
        </p:txBody>
      </p:sp>
      <p:cxnSp>
        <p:nvCxnSpPr>
          <p:cNvPr id="6" name="Straight Connector 5">
            <a:extLst>
              <a:ext uri="{FF2B5EF4-FFF2-40B4-BE49-F238E27FC236}">
                <a16:creationId xmlns:a16="http://schemas.microsoft.com/office/drawing/2014/main" id="{C99E1DE1-2EC0-112F-5F50-5B03296C35F8}"/>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49556BD-1641-40EC-BC15-23965E575C52}"/>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E90A5371-E119-ABBB-4A56-54A32B21ECCD}"/>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3</a:t>
            </a:r>
          </a:p>
        </p:txBody>
      </p:sp>
      <p:sp>
        <p:nvSpPr>
          <p:cNvPr id="9" name="Rectangle: Rounded Corners 8">
            <a:extLst>
              <a:ext uri="{FF2B5EF4-FFF2-40B4-BE49-F238E27FC236}">
                <a16:creationId xmlns:a16="http://schemas.microsoft.com/office/drawing/2014/main" id="{96577D5D-B19A-F04A-727E-F73ED4CEAA56}"/>
              </a:ext>
            </a:extLst>
          </p:cNvPr>
          <p:cNvSpPr/>
          <p:nvPr/>
        </p:nvSpPr>
        <p:spPr>
          <a:xfrm>
            <a:off x="698500" y="2006600"/>
            <a:ext cx="1778000" cy="736600"/>
          </a:xfrm>
          <a:prstGeom prst="roundRect">
            <a:avLst/>
          </a:prstGeom>
          <a:solidFill>
            <a:srgbClr val="EAF2FF"/>
          </a:solidFill>
          <a:ln w="12700">
            <a:solidFill>
              <a:srgbClr val="458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45C1DF0-C26C-2F42-1DA8-4A42D42F4E43}"/>
              </a:ext>
            </a:extLst>
          </p:cNvPr>
          <p:cNvSpPr txBox="1"/>
          <p:nvPr/>
        </p:nvSpPr>
        <p:spPr>
          <a:xfrm>
            <a:off x="825500" y="2150519"/>
            <a:ext cx="15240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Patient packet</a:t>
            </a:r>
          </a:p>
        </p:txBody>
      </p:sp>
      <p:cxnSp>
        <p:nvCxnSpPr>
          <p:cNvPr id="11" name="Straight Connector 10">
            <a:extLst>
              <a:ext uri="{FF2B5EF4-FFF2-40B4-BE49-F238E27FC236}">
                <a16:creationId xmlns:a16="http://schemas.microsoft.com/office/drawing/2014/main" id="{AC6C674C-B4BD-FE2E-437A-8FB40E1CB438}"/>
              </a:ext>
            </a:extLst>
          </p:cNvPr>
          <p:cNvCxnSpPr/>
          <p:nvPr/>
        </p:nvCxnSpPr>
        <p:spPr>
          <a:xfrm>
            <a:off x="2476500" y="2374900"/>
            <a:ext cx="698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6510D62D-B391-436D-51F2-62716EF5F23B}"/>
              </a:ext>
            </a:extLst>
          </p:cNvPr>
          <p:cNvSpPr/>
          <p:nvPr/>
        </p:nvSpPr>
        <p:spPr>
          <a:xfrm>
            <a:off x="3175000" y="2006600"/>
            <a:ext cx="2032000" cy="73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D85AA14-A453-1268-8B93-EDE7664621E3}"/>
              </a:ext>
            </a:extLst>
          </p:cNvPr>
          <p:cNvSpPr txBox="1"/>
          <p:nvPr/>
        </p:nvSpPr>
        <p:spPr>
          <a:xfrm>
            <a:off x="3302000" y="2054340"/>
            <a:ext cx="1778000" cy="384721"/>
          </a:xfrm>
          <a:prstGeom prst="rect">
            <a:avLst/>
          </a:prstGeom>
          <a:noFill/>
        </p:spPr>
        <p:txBody>
          <a:bodyPr vert="horz" wrap="square" lIns="0" tIns="0" rIns="0" bIns="0" rtlCol="0" anchor="ctr">
            <a:spAutoFit/>
          </a:bodyPr>
          <a:lstStyle/>
          <a:p>
            <a:pPr algn="ctr"/>
            <a:r>
              <a:rPr lang="en-US" sz="1250" b="1">
                <a:solidFill>
                  <a:srgbClr val="172B4D"/>
                </a:solidFill>
                <a:latin typeface="Aptos" panose="020B0004020202020204" pitchFamily="34" charset="0"/>
              </a:rPr>
              <a:t>Multiple document types</a:t>
            </a:r>
          </a:p>
        </p:txBody>
      </p:sp>
      <p:cxnSp>
        <p:nvCxnSpPr>
          <p:cNvPr id="14" name="Straight Connector 13">
            <a:extLst>
              <a:ext uri="{FF2B5EF4-FFF2-40B4-BE49-F238E27FC236}">
                <a16:creationId xmlns:a16="http://schemas.microsoft.com/office/drawing/2014/main" id="{6D43FDB7-75FF-14F9-2A52-6BD2B4D06F27}"/>
              </a:ext>
            </a:extLst>
          </p:cNvPr>
          <p:cNvCxnSpPr/>
          <p:nvPr/>
        </p:nvCxnSpPr>
        <p:spPr>
          <a:xfrm>
            <a:off x="5207000" y="2374900"/>
            <a:ext cx="698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FB530F34-9D1B-2AD3-2A9F-3E2F4EB15C55}"/>
              </a:ext>
            </a:extLst>
          </p:cNvPr>
          <p:cNvSpPr/>
          <p:nvPr/>
        </p:nvSpPr>
        <p:spPr>
          <a:xfrm>
            <a:off x="5905500" y="2006600"/>
            <a:ext cx="2032000" cy="73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8B1BADA-7F9C-CE03-7942-36168390A9F7}"/>
              </a:ext>
            </a:extLst>
          </p:cNvPr>
          <p:cNvSpPr txBox="1"/>
          <p:nvPr/>
        </p:nvSpPr>
        <p:spPr>
          <a:xfrm>
            <a:off x="6032500" y="2150520"/>
            <a:ext cx="1778000" cy="192360"/>
          </a:xfrm>
          <a:prstGeom prst="rect">
            <a:avLst/>
          </a:prstGeom>
          <a:noFill/>
        </p:spPr>
        <p:txBody>
          <a:bodyPr vert="horz" wrap="square" lIns="0" tIns="0" rIns="0" bIns="0" rtlCol="0" anchor="ctr">
            <a:spAutoFit/>
          </a:bodyPr>
          <a:lstStyle/>
          <a:p>
            <a:pPr algn="ctr"/>
            <a:r>
              <a:rPr lang="en-US" sz="1250" b="1">
                <a:solidFill>
                  <a:srgbClr val="172B4D"/>
                </a:solidFill>
                <a:latin typeface="Aptos" panose="020B0004020202020204" pitchFamily="34" charset="0"/>
              </a:rPr>
              <a:t>Payer policy criteria</a:t>
            </a:r>
          </a:p>
        </p:txBody>
      </p:sp>
      <p:cxnSp>
        <p:nvCxnSpPr>
          <p:cNvPr id="17" name="Straight Connector 16">
            <a:extLst>
              <a:ext uri="{FF2B5EF4-FFF2-40B4-BE49-F238E27FC236}">
                <a16:creationId xmlns:a16="http://schemas.microsoft.com/office/drawing/2014/main" id="{C1214F8C-8FF6-2737-A21F-3AB5DE627185}"/>
              </a:ext>
            </a:extLst>
          </p:cNvPr>
          <p:cNvCxnSpPr/>
          <p:nvPr/>
        </p:nvCxnSpPr>
        <p:spPr>
          <a:xfrm>
            <a:off x="7937500" y="2374900"/>
            <a:ext cx="698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5E4E5085-4DFF-F2A5-DBE2-167BA3EF42E0}"/>
              </a:ext>
            </a:extLst>
          </p:cNvPr>
          <p:cNvSpPr/>
          <p:nvPr/>
        </p:nvSpPr>
        <p:spPr>
          <a:xfrm>
            <a:off x="8636000" y="2006600"/>
            <a:ext cx="2032000" cy="736600"/>
          </a:xfrm>
          <a:prstGeom prst="roundRect">
            <a:avLst/>
          </a:prstGeom>
          <a:solidFill>
            <a:srgbClr val="E8F5EC"/>
          </a:solidFill>
          <a:ln w="12700">
            <a:solidFill>
              <a:srgbClr val="24A1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4E29CF4-408B-E071-110E-0509177EEBEE}"/>
              </a:ext>
            </a:extLst>
          </p:cNvPr>
          <p:cNvSpPr txBox="1"/>
          <p:nvPr/>
        </p:nvSpPr>
        <p:spPr>
          <a:xfrm>
            <a:off x="8763000" y="2150519"/>
            <a:ext cx="1778000" cy="192360"/>
          </a:xfrm>
          <a:prstGeom prst="rect">
            <a:avLst/>
          </a:prstGeom>
          <a:noFill/>
        </p:spPr>
        <p:txBody>
          <a:bodyPr vert="horz" wrap="square" lIns="0" tIns="0" rIns="0" bIns="0" rtlCol="0" anchor="ctr">
            <a:spAutoFit/>
          </a:bodyPr>
          <a:lstStyle/>
          <a:p>
            <a:pPr algn="ctr"/>
            <a:r>
              <a:rPr lang="en-US" sz="1250" b="1">
                <a:solidFill>
                  <a:srgbClr val="24A148"/>
                </a:solidFill>
                <a:latin typeface="Aptos" panose="020B0004020202020204" pitchFamily="34" charset="0"/>
              </a:rPr>
              <a:t>Human reviewer</a:t>
            </a:r>
          </a:p>
        </p:txBody>
      </p:sp>
      <p:sp>
        <p:nvSpPr>
          <p:cNvPr id="20" name="Rectangle: Rounded Corners 19">
            <a:extLst>
              <a:ext uri="{FF2B5EF4-FFF2-40B4-BE49-F238E27FC236}">
                <a16:creationId xmlns:a16="http://schemas.microsoft.com/office/drawing/2014/main" id="{05AF5AE8-2DF5-09ED-5C84-5E1DAD98E3B9}"/>
              </a:ext>
            </a:extLst>
          </p:cNvPr>
          <p:cNvSpPr/>
          <p:nvPr/>
        </p:nvSpPr>
        <p:spPr>
          <a:xfrm>
            <a:off x="698500" y="3429000"/>
            <a:ext cx="3302000" cy="200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F4A353A-C502-B6DC-BE3C-4BFB445C0EB2}"/>
              </a:ext>
            </a:extLst>
          </p:cNvPr>
          <p:cNvSpPr/>
          <p:nvPr/>
        </p:nvSpPr>
        <p:spPr>
          <a:xfrm>
            <a:off x="698500" y="3429000"/>
            <a:ext cx="76200" cy="20066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C521F91-09B0-9487-FA78-3AEFCC341230}"/>
              </a:ext>
            </a:extLst>
          </p:cNvPr>
          <p:cNvSpPr txBox="1"/>
          <p:nvPr/>
        </p:nvSpPr>
        <p:spPr>
          <a:xfrm>
            <a:off x="952500" y="36576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Fragmented inputs</a:t>
            </a:r>
          </a:p>
        </p:txBody>
      </p:sp>
      <p:sp>
        <p:nvSpPr>
          <p:cNvPr id="23" name="TextBox 22">
            <a:extLst>
              <a:ext uri="{FF2B5EF4-FFF2-40B4-BE49-F238E27FC236}">
                <a16:creationId xmlns:a16="http://schemas.microsoft.com/office/drawing/2014/main" id="{D819D19B-CD57-3A58-E464-38872E11EB56}"/>
              </a:ext>
            </a:extLst>
          </p:cNvPr>
          <p:cNvSpPr txBox="1"/>
          <p:nvPr/>
        </p:nvSpPr>
        <p:spPr>
          <a:xfrm>
            <a:off x="952500" y="4127500"/>
            <a:ext cx="2857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Clinical notes, labs, prescriptions, referrals, insurance cards, histories, forms, and miscellaneous correspondence.</a:t>
            </a:r>
          </a:p>
        </p:txBody>
      </p:sp>
      <p:sp>
        <p:nvSpPr>
          <p:cNvPr id="24" name="Rectangle: Rounded Corners 23">
            <a:extLst>
              <a:ext uri="{FF2B5EF4-FFF2-40B4-BE49-F238E27FC236}">
                <a16:creationId xmlns:a16="http://schemas.microsoft.com/office/drawing/2014/main" id="{AEECEA2F-FECB-00C1-E780-B1AC00EE1B2F}"/>
              </a:ext>
            </a:extLst>
          </p:cNvPr>
          <p:cNvSpPr/>
          <p:nvPr/>
        </p:nvSpPr>
        <p:spPr>
          <a:xfrm>
            <a:off x="4445000" y="3429000"/>
            <a:ext cx="3302000" cy="200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345D3455-CB20-5AAC-F070-F100328FF17C}"/>
              </a:ext>
            </a:extLst>
          </p:cNvPr>
          <p:cNvSpPr/>
          <p:nvPr/>
        </p:nvSpPr>
        <p:spPr>
          <a:xfrm>
            <a:off x="4445000" y="3429000"/>
            <a:ext cx="76200" cy="20066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73C3208-FA64-B2F6-8D54-A1437B10051C}"/>
              </a:ext>
            </a:extLst>
          </p:cNvPr>
          <p:cNvSpPr txBox="1"/>
          <p:nvPr/>
        </p:nvSpPr>
        <p:spPr>
          <a:xfrm>
            <a:off x="4699000" y="36576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Policy translation</a:t>
            </a:r>
          </a:p>
        </p:txBody>
      </p:sp>
      <p:sp>
        <p:nvSpPr>
          <p:cNvPr id="27" name="TextBox 26">
            <a:extLst>
              <a:ext uri="{FF2B5EF4-FFF2-40B4-BE49-F238E27FC236}">
                <a16:creationId xmlns:a16="http://schemas.microsoft.com/office/drawing/2014/main" id="{01811608-43EC-E80E-A382-F39DE1F4F6D8}"/>
              </a:ext>
            </a:extLst>
          </p:cNvPr>
          <p:cNvSpPr txBox="1"/>
          <p:nvPr/>
        </p:nvSpPr>
        <p:spPr>
          <a:xfrm>
            <a:off x="4699000" y="4127500"/>
            <a:ext cx="2857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Natural-language requirements must become explicit checks while preserving payer, version, page, and source text.</a:t>
            </a:r>
          </a:p>
        </p:txBody>
      </p:sp>
      <p:sp>
        <p:nvSpPr>
          <p:cNvPr id="28" name="Rectangle: Rounded Corners 27">
            <a:extLst>
              <a:ext uri="{FF2B5EF4-FFF2-40B4-BE49-F238E27FC236}">
                <a16:creationId xmlns:a16="http://schemas.microsoft.com/office/drawing/2014/main" id="{362B29EF-A061-2D3D-84CE-465DD1D5B16F}"/>
              </a:ext>
            </a:extLst>
          </p:cNvPr>
          <p:cNvSpPr/>
          <p:nvPr/>
        </p:nvSpPr>
        <p:spPr>
          <a:xfrm>
            <a:off x="8191500" y="3429000"/>
            <a:ext cx="3302000" cy="200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38C4DD05-9580-1317-8CC9-F8BF4C1A6081}"/>
              </a:ext>
            </a:extLst>
          </p:cNvPr>
          <p:cNvSpPr/>
          <p:nvPr/>
        </p:nvSpPr>
        <p:spPr>
          <a:xfrm>
            <a:off x="8191500" y="3429000"/>
            <a:ext cx="76200" cy="2006600"/>
          </a:xfrm>
          <a:prstGeom prst="roundRect">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2BBA762-448B-8B2E-BE99-007C5095CEFE}"/>
              </a:ext>
            </a:extLst>
          </p:cNvPr>
          <p:cNvSpPr txBox="1"/>
          <p:nvPr/>
        </p:nvSpPr>
        <p:spPr>
          <a:xfrm>
            <a:off x="8445500" y="36576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Trust gap</a:t>
            </a:r>
          </a:p>
        </p:txBody>
      </p:sp>
      <p:sp>
        <p:nvSpPr>
          <p:cNvPr id="31" name="TextBox 30">
            <a:extLst>
              <a:ext uri="{FF2B5EF4-FFF2-40B4-BE49-F238E27FC236}">
                <a16:creationId xmlns:a16="http://schemas.microsoft.com/office/drawing/2014/main" id="{0F5508A1-6264-92FD-7BEF-2DC9261530AA}"/>
              </a:ext>
            </a:extLst>
          </p:cNvPr>
          <p:cNvSpPr txBox="1"/>
          <p:nvPr/>
        </p:nvSpPr>
        <p:spPr>
          <a:xfrm>
            <a:off x="8445500" y="4127500"/>
            <a:ext cx="2857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 confident-sounding answer is not enough; reviewers need evidence, citations, missing-data flags, and calibrated uncertainty.</a:t>
            </a:r>
          </a:p>
        </p:txBody>
      </p:sp>
    </p:spTree>
    <p:extLst>
      <p:ext uri="{BB962C8B-B14F-4D97-AF65-F5344CB8AC3E}">
        <p14:creationId xmlns:p14="http://schemas.microsoft.com/office/powerpoint/2010/main" val="305120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0D6621-93DC-A393-9EF8-5295C2904EFB}"/>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6E5370-E774-EA9E-173D-7DCB9E9B40D4}"/>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03  /  RESPONSIBLE AI</a:t>
            </a:r>
          </a:p>
        </p:txBody>
      </p:sp>
      <p:sp>
        <p:nvSpPr>
          <p:cNvPr id="4" name="TextBox 3">
            <a:extLst>
              <a:ext uri="{FF2B5EF4-FFF2-40B4-BE49-F238E27FC236}">
                <a16:creationId xmlns:a16="http://schemas.microsoft.com/office/drawing/2014/main" id="{7C185C78-8667-1C45-D627-722F26F7063F}"/>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Scope and safety guardrails</a:t>
            </a:r>
          </a:p>
        </p:txBody>
      </p:sp>
      <p:sp>
        <p:nvSpPr>
          <p:cNvPr id="5" name="TextBox 4">
            <a:extLst>
              <a:ext uri="{FF2B5EF4-FFF2-40B4-BE49-F238E27FC236}">
                <a16:creationId xmlns:a16="http://schemas.microsoft.com/office/drawing/2014/main" id="{BA8EA4BA-0AB3-B8FD-CA76-7E57B490E010}"/>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The portfolio version is administrative decision-support using synthetic data only</a:t>
            </a:r>
          </a:p>
        </p:txBody>
      </p:sp>
      <p:cxnSp>
        <p:nvCxnSpPr>
          <p:cNvPr id="6" name="Straight Connector 5">
            <a:extLst>
              <a:ext uri="{FF2B5EF4-FFF2-40B4-BE49-F238E27FC236}">
                <a16:creationId xmlns:a16="http://schemas.microsoft.com/office/drawing/2014/main" id="{AE21D16D-F40C-1222-D0F7-B258BDF2B4C3}"/>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90666FA-72F5-7978-51F6-8573B744E1A0}"/>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FD958E5E-B3AF-8874-C68A-AF77F2715E6B}"/>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4</a:t>
            </a:r>
          </a:p>
        </p:txBody>
      </p:sp>
      <p:sp>
        <p:nvSpPr>
          <p:cNvPr id="9" name="Rectangle: Rounded Corners 8">
            <a:extLst>
              <a:ext uri="{FF2B5EF4-FFF2-40B4-BE49-F238E27FC236}">
                <a16:creationId xmlns:a16="http://schemas.microsoft.com/office/drawing/2014/main" id="{839CBA87-6223-B41C-C0F0-09964D51A2BF}"/>
              </a:ext>
            </a:extLst>
          </p:cNvPr>
          <p:cNvSpPr/>
          <p:nvPr/>
        </p:nvSpPr>
        <p:spPr>
          <a:xfrm>
            <a:off x="635000" y="1841500"/>
            <a:ext cx="15240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137EB77-41D5-0DB0-7ABD-7E27A6E4E4E1}"/>
              </a:ext>
            </a:extLst>
          </p:cNvPr>
          <p:cNvSpPr txBox="1"/>
          <p:nvPr/>
        </p:nvSpPr>
        <p:spPr>
          <a:xfrm>
            <a:off x="736600" y="1905000"/>
            <a:ext cx="13208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IN SCOPE</a:t>
            </a:r>
          </a:p>
        </p:txBody>
      </p:sp>
      <p:sp>
        <p:nvSpPr>
          <p:cNvPr id="11" name="Oval 10">
            <a:extLst>
              <a:ext uri="{FF2B5EF4-FFF2-40B4-BE49-F238E27FC236}">
                <a16:creationId xmlns:a16="http://schemas.microsoft.com/office/drawing/2014/main" id="{412BFA4A-75BB-782D-4032-A1FC36442A7F}"/>
              </a:ext>
            </a:extLst>
          </p:cNvPr>
          <p:cNvSpPr/>
          <p:nvPr/>
        </p:nvSpPr>
        <p:spPr>
          <a:xfrm>
            <a:off x="660400" y="2425700"/>
            <a:ext cx="114300" cy="1143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9767864-121B-A72E-2434-02C55D368A74}"/>
              </a:ext>
            </a:extLst>
          </p:cNvPr>
          <p:cNvSpPr txBox="1"/>
          <p:nvPr/>
        </p:nvSpPr>
        <p:spPr>
          <a:xfrm>
            <a:off x="914400" y="23495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Prepare a case for human review</a:t>
            </a:r>
          </a:p>
        </p:txBody>
      </p:sp>
      <p:sp>
        <p:nvSpPr>
          <p:cNvPr id="13" name="Oval 12">
            <a:extLst>
              <a:ext uri="{FF2B5EF4-FFF2-40B4-BE49-F238E27FC236}">
                <a16:creationId xmlns:a16="http://schemas.microsoft.com/office/drawing/2014/main" id="{8742EFF3-8E89-48B3-C4D2-DD993D7C817F}"/>
              </a:ext>
            </a:extLst>
          </p:cNvPr>
          <p:cNvSpPr/>
          <p:nvPr/>
        </p:nvSpPr>
        <p:spPr>
          <a:xfrm>
            <a:off x="660400" y="3035300"/>
            <a:ext cx="114300" cy="1143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6F1DC0-7FDD-53E5-299D-8B2DD78C20A0}"/>
              </a:ext>
            </a:extLst>
          </p:cNvPr>
          <p:cNvSpPr txBox="1"/>
          <p:nvPr/>
        </p:nvSpPr>
        <p:spPr>
          <a:xfrm>
            <a:off x="914400" y="29591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Classify and organize synthetic documents</a:t>
            </a:r>
          </a:p>
        </p:txBody>
      </p:sp>
      <p:sp>
        <p:nvSpPr>
          <p:cNvPr id="15" name="Oval 14">
            <a:extLst>
              <a:ext uri="{FF2B5EF4-FFF2-40B4-BE49-F238E27FC236}">
                <a16:creationId xmlns:a16="http://schemas.microsoft.com/office/drawing/2014/main" id="{A84F257D-B64F-BBAB-5703-A3DABB4140D8}"/>
              </a:ext>
            </a:extLst>
          </p:cNvPr>
          <p:cNvSpPr/>
          <p:nvPr/>
        </p:nvSpPr>
        <p:spPr>
          <a:xfrm>
            <a:off x="660400" y="3644900"/>
            <a:ext cx="114300" cy="1143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DE249DC-BC8D-24DD-CA6B-81F73C0BE7A2}"/>
              </a:ext>
            </a:extLst>
          </p:cNvPr>
          <p:cNvSpPr txBox="1"/>
          <p:nvPr/>
        </p:nvSpPr>
        <p:spPr>
          <a:xfrm>
            <a:off x="914400" y="35687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Match evidence to explicit policy criteria</a:t>
            </a:r>
          </a:p>
        </p:txBody>
      </p:sp>
      <p:sp>
        <p:nvSpPr>
          <p:cNvPr id="17" name="Oval 16">
            <a:extLst>
              <a:ext uri="{FF2B5EF4-FFF2-40B4-BE49-F238E27FC236}">
                <a16:creationId xmlns:a16="http://schemas.microsoft.com/office/drawing/2014/main" id="{BE261BC6-C6B8-3040-13EA-DD3BF9827488}"/>
              </a:ext>
            </a:extLst>
          </p:cNvPr>
          <p:cNvSpPr/>
          <p:nvPr/>
        </p:nvSpPr>
        <p:spPr>
          <a:xfrm>
            <a:off x="660400" y="4254500"/>
            <a:ext cx="114300" cy="1143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21915BA-2303-723E-0E89-D7FE653E7A78}"/>
              </a:ext>
            </a:extLst>
          </p:cNvPr>
          <p:cNvSpPr txBox="1"/>
          <p:nvPr/>
        </p:nvSpPr>
        <p:spPr>
          <a:xfrm>
            <a:off x="914400" y="41783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Flag missing, ambiguous, or low-confidence evidence</a:t>
            </a:r>
          </a:p>
        </p:txBody>
      </p:sp>
      <p:sp>
        <p:nvSpPr>
          <p:cNvPr id="19" name="Oval 18">
            <a:extLst>
              <a:ext uri="{FF2B5EF4-FFF2-40B4-BE49-F238E27FC236}">
                <a16:creationId xmlns:a16="http://schemas.microsoft.com/office/drawing/2014/main" id="{A2BFEA3B-7F05-0609-ACB2-8668D52C5AC9}"/>
              </a:ext>
            </a:extLst>
          </p:cNvPr>
          <p:cNvSpPr/>
          <p:nvPr/>
        </p:nvSpPr>
        <p:spPr>
          <a:xfrm>
            <a:off x="660400" y="4864100"/>
            <a:ext cx="114300" cy="1143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B286A8D-BB1D-C0CC-0F4B-E7D9CD239815}"/>
              </a:ext>
            </a:extLst>
          </p:cNvPr>
          <p:cNvSpPr txBox="1"/>
          <p:nvPr/>
        </p:nvSpPr>
        <p:spPr>
          <a:xfrm>
            <a:off x="914400" y="47879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Preserve source provenance end to end</a:t>
            </a:r>
          </a:p>
        </p:txBody>
      </p:sp>
      <p:sp>
        <p:nvSpPr>
          <p:cNvPr id="21" name="Rectangle: Rounded Corners 20">
            <a:extLst>
              <a:ext uri="{FF2B5EF4-FFF2-40B4-BE49-F238E27FC236}">
                <a16:creationId xmlns:a16="http://schemas.microsoft.com/office/drawing/2014/main" id="{CB6E6BF3-4497-7C2C-C143-61996EEC36CD}"/>
              </a:ext>
            </a:extLst>
          </p:cNvPr>
          <p:cNvSpPr/>
          <p:nvPr/>
        </p:nvSpPr>
        <p:spPr>
          <a:xfrm>
            <a:off x="6540500" y="1841500"/>
            <a:ext cx="1778000" cy="304800"/>
          </a:xfrm>
          <a:prstGeom prst="roundRect">
            <a:avLst/>
          </a:prstGeom>
          <a:solidFill>
            <a:srgbClr val="FDEC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E9042A2-8540-3FEB-F0DE-044AB848D390}"/>
              </a:ext>
            </a:extLst>
          </p:cNvPr>
          <p:cNvSpPr txBox="1"/>
          <p:nvPr/>
        </p:nvSpPr>
        <p:spPr>
          <a:xfrm>
            <a:off x="6642100" y="1905000"/>
            <a:ext cx="1574800" cy="153888"/>
          </a:xfrm>
          <a:prstGeom prst="rect">
            <a:avLst/>
          </a:prstGeom>
          <a:noFill/>
        </p:spPr>
        <p:txBody>
          <a:bodyPr vert="horz" wrap="square" lIns="0" tIns="0" rIns="0" bIns="0" rtlCol="0" anchor="t">
            <a:spAutoFit/>
          </a:bodyPr>
          <a:lstStyle/>
          <a:p>
            <a:pPr algn="ctr"/>
            <a:r>
              <a:rPr lang="en-US" sz="1000" b="1">
                <a:solidFill>
                  <a:srgbClr val="DA1E28"/>
                </a:solidFill>
                <a:latin typeface="Aptos" panose="020B0004020202020204" pitchFamily="34" charset="0"/>
              </a:rPr>
              <a:t>OUT OF SCOPE</a:t>
            </a:r>
          </a:p>
        </p:txBody>
      </p:sp>
      <p:sp>
        <p:nvSpPr>
          <p:cNvPr id="23" name="Oval 22">
            <a:extLst>
              <a:ext uri="{FF2B5EF4-FFF2-40B4-BE49-F238E27FC236}">
                <a16:creationId xmlns:a16="http://schemas.microsoft.com/office/drawing/2014/main" id="{4D2D7185-1655-AF5D-8277-6589DA00DA6A}"/>
              </a:ext>
            </a:extLst>
          </p:cNvPr>
          <p:cNvSpPr/>
          <p:nvPr/>
        </p:nvSpPr>
        <p:spPr>
          <a:xfrm>
            <a:off x="6565900" y="2425700"/>
            <a:ext cx="114300" cy="114300"/>
          </a:xfrm>
          <a:prstGeom prst="ellipse">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023AD4C-4A36-0A53-64E8-1128AEB3ECDC}"/>
              </a:ext>
            </a:extLst>
          </p:cNvPr>
          <p:cNvSpPr txBox="1"/>
          <p:nvPr/>
        </p:nvSpPr>
        <p:spPr>
          <a:xfrm>
            <a:off x="6819900" y="23495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Diagnose, prescribe, or recommend treatment</a:t>
            </a:r>
          </a:p>
        </p:txBody>
      </p:sp>
      <p:sp>
        <p:nvSpPr>
          <p:cNvPr id="25" name="Oval 24">
            <a:extLst>
              <a:ext uri="{FF2B5EF4-FFF2-40B4-BE49-F238E27FC236}">
                <a16:creationId xmlns:a16="http://schemas.microsoft.com/office/drawing/2014/main" id="{F1BC36FC-03C8-9A5E-FA39-CDDE53932687}"/>
              </a:ext>
            </a:extLst>
          </p:cNvPr>
          <p:cNvSpPr/>
          <p:nvPr/>
        </p:nvSpPr>
        <p:spPr>
          <a:xfrm>
            <a:off x="6565900" y="3035300"/>
            <a:ext cx="114300" cy="114300"/>
          </a:xfrm>
          <a:prstGeom prst="ellipse">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AC049AC-3102-A50B-0D2C-4FEF4D3BCB5B}"/>
              </a:ext>
            </a:extLst>
          </p:cNvPr>
          <p:cNvSpPr txBox="1"/>
          <p:nvPr/>
        </p:nvSpPr>
        <p:spPr>
          <a:xfrm>
            <a:off x="6819900" y="29591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Approve or deny medical necessity</a:t>
            </a:r>
          </a:p>
        </p:txBody>
      </p:sp>
      <p:sp>
        <p:nvSpPr>
          <p:cNvPr id="27" name="Oval 26">
            <a:extLst>
              <a:ext uri="{FF2B5EF4-FFF2-40B4-BE49-F238E27FC236}">
                <a16:creationId xmlns:a16="http://schemas.microsoft.com/office/drawing/2014/main" id="{7C56934F-1196-4870-53A6-8C34BEDEECC7}"/>
              </a:ext>
            </a:extLst>
          </p:cNvPr>
          <p:cNvSpPr/>
          <p:nvPr/>
        </p:nvSpPr>
        <p:spPr>
          <a:xfrm>
            <a:off x="6565900" y="3644900"/>
            <a:ext cx="114300" cy="114300"/>
          </a:xfrm>
          <a:prstGeom prst="ellipse">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858A57-7190-C47D-7C54-64CF981E5B79}"/>
              </a:ext>
            </a:extLst>
          </p:cNvPr>
          <p:cNvSpPr txBox="1"/>
          <p:nvPr/>
        </p:nvSpPr>
        <p:spPr>
          <a:xfrm>
            <a:off x="6819900" y="35687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Use real PHI in the public portfolio</a:t>
            </a:r>
          </a:p>
        </p:txBody>
      </p:sp>
      <p:sp>
        <p:nvSpPr>
          <p:cNvPr id="29" name="Oval 28">
            <a:extLst>
              <a:ext uri="{FF2B5EF4-FFF2-40B4-BE49-F238E27FC236}">
                <a16:creationId xmlns:a16="http://schemas.microsoft.com/office/drawing/2014/main" id="{2A3EA832-8506-041C-A682-264AF72E847E}"/>
              </a:ext>
            </a:extLst>
          </p:cNvPr>
          <p:cNvSpPr/>
          <p:nvPr/>
        </p:nvSpPr>
        <p:spPr>
          <a:xfrm>
            <a:off x="6565900" y="4254500"/>
            <a:ext cx="114300" cy="114300"/>
          </a:xfrm>
          <a:prstGeom prst="ellipse">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D635DC9-30D2-467C-9AEC-F2DFCC211441}"/>
              </a:ext>
            </a:extLst>
          </p:cNvPr>
          <p:cNvSpPr txBox="1"/>
          <p:nvPr/>
        </p:nvSpPr>
        <p:spPr>
          <a:xfrm>
            <a:off x="6819900" y="41783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Infer live member benefit status from policy text</a:t>
            </a:r>
          </a:p>
        </p:txBody>
      </p:sp>
      <p:sp>
        <p:nvSpPr>
          <p:cNvPr id="31" name="Oval 30">
            <a:extLst>
              <a:ext uri="{FF2B5EF4-FFF2-40B4-BE49-F238E27FC236}">
                <a16:creationId xmlns:a16="http://schemas.microsoft.com/office/drawing/2014/main" id="{F7BC2D0B-A15A-4F44-3EA4-03D376C10757}"/>
              </a:ext>
            </a:extLst>
          </p:cNvPr>
          <p:cNvSpPr/>
          <p:nvPr/>
        </p:nvSpPr>
        <p:spPr>
          <a:xfrm>
            <a:off x="6565900" y="4864100"/>
            <a:ext cx="114300" cy="114300"/>
          </a:xfrm>
          <a:prstGeom prst="ellipse">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3DB3C67-E418-700A-EA8E-4B46B71F10A1}"/>
              </a:ext>
            </a:extLst>
          </p:cNvPr>
          <p:cNvSpPr txBox="1"/>
          <p:nvPr/>
        </p:nvSpPr>
        <p:spPr>
          <a:xfrm>
            <a:off x="6819900" y="4787900"/>
            <a:ext cx="4699000" cy="230832"/>
          </a:xfrm>
          <a:prstGeom prst="rect">
            <a:avLst/>
          </a:prstGeom>
          <a:noFill/>
        </p:spPr>
        <p:txBody>
          <a:bodyPr vert="horz" wrap="square" lIns="0" tIns="0" rIns="0" bIns="0" rtlCol="0" anchor="t">
            <a:spAutoFit/>
          </a:bodyPr>
          <a:lstStyle/>
          <a:p>
            <a:r>
              <a:rPr lang="en-US" sz="1500">
                <a:solidFill>
                  <a:srgbClr val="172B4D"/>
                </a:solidFill>
                <a:latin typeface="Aptos" panose="020B0004020202020204" pitchFamily="34" charset="0"/>
              </a:rPr>
              <a:t>Submit autonomously to a payer</a:t>
            </a:r>
          </a:p>
        </p:txBody>
      </p:sp>
      <p:sp>
        <p:nvSpPr>
          <p:cNvPr id="33" name="Rectangle: Rounded Corners 32">
            <a:extLst>
              <a:ext uri="{FF2B5EF4-FFF2-40B4-BE49-F238E27FC236}">
                <a16:creationId xmlns:a16="http://schemas.microsoft.com/office/drawing/2014/main" id="{0FDAF472-E945-AC7B-480F-49848ED0F308}"/>
              </a:ext>
            </a:extLst>
          </p:cNvPr>
          <p:cNvSpPr/>
          <p:nvPr/>
        </p:nvSpPr>
        <p:spPr>
          <a:xfrm>
            <a:off x="635000" y="5651500"/>
            <a:ext cx="10858500" cy="4826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8A103F3-5A62-D3B0-8085-E562FCB86374}"/>
              </a:ext>
            </a:extLst>
          </p:cNvPr>
          <p:cNvSpPr txBox="1"/>
          <p:nvPr/>
        </p:nvSpPr>
        <p:spPr>
          <a:xfrm>
            <a:off x="863600" y="5778500"/>
            <a:ext cx="104140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Human review is mandatory: model output never becomes submission-ready by itself.</a:t>
            </a:r>
          </a:p>
        </p:txBody>
      </p:sp>
    </p:spTree>
    <p:extLst>
      <p:ext uri="{BB962C8B-B14F-4D97-AF65-F5344CB8AC3E}">
        <p14:creationId xmlns:p14="http://schemas.microsoft.com/office/powerpoint/2010/main" val="92708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A4256B-76E8-943C-AF50-0B84095663AB}"/>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C31688-7944-8AFA-5965-C29FE98F48C3}"/>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04  /  SYSTEM DESIGN</a:t>
            </a:r>
          </a:p>
        </p:txBody>
      </p:sp>
      <p:sp>
        <p:nvSpPr>
          <p:cNvPr id="4" name="TextBox 3">
            <a:extLst>
              <a:ext uri="{FF2B5EF4-FFF2-40B4-BE49-F238E27FC236}">
                <a16:creationId xmlns:a16="http://schemas.microsoft.com/office/drawing/2014/main" id="{CDA89B58-BD97-93B2-83DC-E026BD63D1E8}"/>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End-to-end AI workflow</a:t>
            </a:r>
          </a:p>
        </p:txBody>
      </p:sp>
      <p:sp>
        <p:nvSpPr>
          <p:cNvPr id="5" name="TextBox 4">
            <a:extLst>
              <a:ext uri="{FF2B5EF4-FFF2-40B4-BE49-F238E27FC236}">
                <a16:creationId xmlns:a16="http://schemas.microsoft.com/office/drawing/2014/main" id="{2D1FB97F-F728-9751-DD6C-E142FFD8EDBF}"/>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 linear reviewer-facing flow with controlled intelligence inside each stage</a:t>
            </a:r>
          </a:p>
        </p:txBody>
      </p:sp>
      <p:cxnSp>
        <p:nvCxnSpPr>
          <p:cNvPr id="6" name="Straight Connector 5">
            <a:extLst>
              <a:ext uri="{FF2B5EF4-FFF2-40B4-BE49-F238E27FC236}">
                <a16:creationId xmlns:a16="http://schemas.microsoft.com/office/drawing/2014/main" id="{D5F31DF3-B961-032D-6D04-0E307B131D14}"/>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C0E48DE-78CA-241F-400D-D1FEC5CB48C7}"/>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E688E446-9F6D-77D7-5570-6F02A4F843B2}"/>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5</a:t>
            </a:r>
          </a:p>
        </p:txBody>
      </p:sp>
      <p:sp>
        <p:nvSpPr>
          <p:cNvPr id="9" name="Rectangle: Rounded Corners 8">
            <a:extLst>
              <a:ext uri="{FF2B5EF4-FFF2-40B4-BE49-F238E27FC236}">
                <a16:creationId xmlns:a16="http://schemas.microsoft.com/office/drawing/2014/main" id="{88041B8B-2C88-A9A1-D7DB-FD43F0EFA7AD}"/>
              </a:ext>
            </a:extLst>
          </p:cNvPr>
          <p:cNvSpPr/>
          <p:nvPr/>
        </p:nvSpPr>
        <p:spPr>
          <a:xfrm>
            <a:off x="660400" y="2032000"/>
            <a:ext cx="2159000" cy="736600"/>
          </a:xfrm>
          <a:prstGeom prst="roundRect">
            <a:avLst/>
          </a:prstGeom>
          <a:solidFill>
            <a:srgbClr val="EAF2FF"/>
          </a:solidFill>
          <a:ln w="12700">
            <a:solidFill>
              <a:srgbClr val="0F62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AD4254D-C7F8-8DC4-1E85-2666E2D66080}"/>
              </a:ext>
            </a:extLst>
          </p:cNvPr>
          <p:cNvSpPr txBox="1"/>
          <p:nvPr/>
        </p:nvSpPr>
        <p:spPr>
          <a:xfrm>
            <a:off x="787400" y="2175919"/>
            <a:ext cx="19050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1  Ingest</a:t>
            </a:r>
          </a:p>
        </p:txBody>
      </p:sp>
      <p:cxnSp>
        <p:nvCxnSpPr>
          <p:cNvPr id="11" name="Straight Connector 10">
            <a:extLst>
              <a:ext uri="{FF2B5EF4-FFF2-40B4-BE49-F238E27FC236}">
                <a16:creationId xmlns:a16="http://schemas.microsoft.com/office/drawing/2014/main" id="{E8BF34AF-0631-31EA-F15A-0FD6BEAF4F63}"/>
              </a:ext>
            </a:extLst>
          </p:cNvPr>
          <p:cNvCxnSpPr/>
          <p:nvPr/>
        </p:nvCxnSpPr>
        <p:spPr>
          <a:xfrm>
            <a:off x="2819400" y="2400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5AB43C7-C3AF-03BE-D9A5-79A7227539D0}"/>
              </a:ext>
            </a:extLst>
          </p:cNvPr>
          <p:cNvSpPr/>
          <p:nvPr/>
        </p:nvSpPr>
        <p:spPr>
          <a:xfrm>
            <a:off x="3454400" y="2032000"/>
            <a:ext cx="2159000" cy="736600"/>
          </a:xfrm>
          <a:prstGeom prst="roundRect">
            <a:avLst/>
          </a:prstGeom>
          <a:solidFill>
            <a:srgbClr val="EAF2FF"/>
          </a:solidFill>
          <a:ln w="12700">
            <a:solidFill>
              <a:srgbClr val="0F62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32A526E-47BF-249F-42E5-FC5094009EDC}"/>
              </a:ext>
            </a:extLst>
          </p:cNvPr>
          <p:cNvSpPr txBox="1"/>
          <p:nvPr/>
        </p:nvSpPr>
        <p:spPr>
          <a:xfrm>
            <a:off x="3581400" y="2175919"/>
            <a:ext cx="19050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2  Classify</a:t>
            </a:r>
          </a:p>
        </p:txBody>
      </p:sp>
      <p:cxnSp>
        <p:nvCxnSpPr>
          <p:cNvPr id="14" name="Straight Connector 13">
            <a:extLst>
              <a:ext uri="{FF2B5EF4-FFF2-40B4-BE49-F238E27FC236}">
                <a16:creationId xmlns:a16="http://schemas.microsoft.com/office/drawing/2014/main" id="{57491D11-CEF9-7BAD-7076-30E7666B605A}"/>
              </a:ext>
            </a:extLst>
          </p:cNvPr>
          <p:cNvCxnSpPr/>
          <p:nvPr/>
        </p:nvCxnSpPr>
        <p:spPr>
          <a:xfrm>
            <a:off x="5613400" y="2400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25A3F0E-40F8-19A5-2AAE-A158E6715EA1}"/>
              </a:ext>
            </a:extLst>
          </p:cNvPr>
          <p:cNvSpPr/>
          <p:nvPr/>
        </p:nvSpPr>
        <p:spPr>
          <a:xfrm>
            <a:off x="6248400" y="2032000"/>
            <a:ext cx="2159000" cy="736600"/>
          </a:xfrm>
          <a:prstGeom prst="roundRect">
            <a:avLst/>
          </a:prstGeom>
          <a:solidFill>
            <a:srgbClr val="EAF2FF"/>
          </a:solidFill>
          <a:ln w="12700">
            <a:solidFill>
              <a:srgbClr val="0F62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C9F2815-95D4-9B84-D12D-A38F20AD1260}"/>
              </a:ext>
            </a:extLst>
          </p:cNvPr>
          <p:cNvSpPr txBox="1"/>
          <p:nvPr/>
        </p:nvSpPr>
        <p:spPr>
          <a:xfrm>
            <a:off x="6375400" y="2175919"/>
            <a:ext cx="19050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3  Extract</a:t>
            </a:r>
          </a:p>
        </p:txBody>
      </p:sp>
      <p:cxnSp>
        <p:nvCxnSpPr>
          <p:cNvPr id="17" name="Straight Connector 16">
            <a:extLst>
              <a:ext uri="{FF2B5EF4-FFF2-40B4-BE49-F238E27FC236}">
                <a16:creationId xmlns:a16="http://schemas.microsoft.com/office/drawing/2014/main" id="{8808C442-A06C-7AA4-BC39-2F02E15882DC}"/>
              </a:ext>
            </a:extLst>
          </p:cNvPr>
          <p:cNvCxnSpPr/>
          <p:nvPr/>
        </p:nvCxnSpPr>
        <p:spPr>
          <a:xfrm>
            <a:off x="8407400" y="2400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77FF9046-C800-46FF-0587-894E5EF85123}"/>
              </a:ext>
            </a:extLst>
          </p:cNvPr>
          <p:cNvSpPr/>
          <p:nvPr/>
        </p:nvSpPr>
        <p:spPr>
          <a:xfrm>
            <a:off x="9042400" y="2032000"/>
            <a:ext cx="2159000" cy="736600"/>
          </a:xfrm>
          <a:prstGeom prst="roundRect">
            <a:avLst/>
          </a:prstGeom>
          <a:solidFill>
            <a:srgbClr val="FFF8D6"/>
          </a:solidFill>
          <a:ln w="12700">
            <a:solidFill>
              <a:srgbClr val="FF83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22940B-81D6-2151-0B9C-E6FED822F4E4}"/>
              </a:ext>
            </a:extLst>
          </p:cNvPr>
          <p:cNvSpPr txBox="1"/>
          <p:nvPr/>
        </p:nvSpPr>
        <p:spPr>
          <a:xfrm>
            <a:off x="9169400" y="2175919"/>
            <a:ext cx="1905000" cy="192360"/>
          </a:xfrm>
          <a:prstGeom prst="rect">
            <a:avLst/>
          </a:prstGeom>
          <a:noFill/>
        </p:spPr>
        <p:txBody>
          <a:bodyPr vert="horz" wrap="square" lIns="0" tIns="0" rIns="0" bIns="0" rtlCol="0" anchor="ctr">
            <a:spAutoFit/>
          </a:bodyPr>
          <a:lstStyle/>
          <a:p>
            <a:pPr algn="ctr"/>
            <a:r>
              <a:rPr lang="en-US" sz="1250" b="1">
                <a:solidFill>
                  <a:srgbClr val="FF832B"/>
                </a:solidFill>
                <a:latin typeface="Aptos" panose="020B0004020202020204" pitchFamily="34" charset="0"/>
              </a:rPr>
              <a:t>4  Retrieve policy</a:t>
            </a:r>
          </a:p>
        </p:txBody>
      </p:sp>
      <p:cxnSp>
        <p:nvCxnSpPr>
          <p:cNvPr id="20" name="Straight Connector 19">
            <a:extLst>
              <a:ext uri="{FF2B5EF4-FFF2-40B4-BE49-F238E27FC236}">
                <a16:creationId xmlns:a16="http://schemas.microsoft.com/office/drawing/2014/main" id="{B47D184F-CF2F-2ACE-CDB4-423423590205}"/>
              </a:ext>
            </a:extLst>
          </p:cNvPr>
          <p:cNvCxnSpPr/>
          <p:nvPr/>
        </p:nvCxnSpPr>
        <p:spPr>
          <a:xfrm>
            <a:off x="10121900" y="2768600"/>
            <a:ext cx="0" cy="60960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23277A8F-1C10-8D92-FC97-33A96EFA25B3}"/>
              </a:ext>
            </a:extLst>
          </p:cNvPr>
          <p:cNvSpPr/>
          <p:nvPr/>
        </p:nvSpPr>
        <p:spPr>
          <a:xfrm>
            <a:off x="660400" y="3556000"/>
            <a:ext cx="2159000" cy="736600"/>
          </a:xfrm>
          <a:prstGeom prst="roundRect">
            <a:avLst/>
          </a:prstGeom>
          <a:solidFill>
            <a:srgbClr val="FFF8D6"/>
          </a:solidFill>
          <a:ln w="12700">
            <a:solidFill>
              <a:srgbClr val="FF83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22D6F9C-EF1C-84E6-8435-C516073628D0}"/>
              </a:ext>
            </a:extLst>
          </p:cNvPr>
          <p:cNvSpPr txBox="1"/>
          <p:nvPr/>
        </p:nvSpPr>
        <p:spPr>
          <a:xfrm>
            <a:off x="787400" y="3699919"/>
            <a:ext cx="1905000" cy="192360"/>
          </a:xfrm>
          <a:prstGeom prst="rect">
            <a:avLst/>
          </a:prstGeom>
          <a:noFill/>
        </p:spPr>
        <p:txBody>
          <a:bodyPr vert="horz" wrap="square" lIns="0" tIns="0" rIns="0" bIns="0" rtlCol="0" anchor="ctr">
            <a:spAutoFit/>
          </a:bodyPr>
          <a:lstStyle/>
          <a:p>
            <a:pPr algn="ctr"/>
            <a:r>
              <a:rPr lang="en-US" sz="1250" b="1">
                <a:solidFill>
                  <a:srgbClr val="FF832B"/>
                </a:solidFill>
                <a:latin typeface="Aptos" panose="020B0004020202020204" pitchFamily="34" charset="0"/>
              </a:rPr>
              <a:t>5  Structure criteria</a:t>
            </a:r>
          </a:p>
        </p:txBody>
      </p:sp>
      <p:cxnSp>
        <p:nvCxnSpPr>
          <p:cNvPr id="23" name="Straight Connector 22">
            <a:extLst>
              <a:ext uri="{FF2B5EF4-FFF2-40B4-BE49-F238E27FC236}">
                <a16:creationId xmlns:a16="http://schemas.microsoft.com/office/drawing/2014/main" id="{B94A2AAB-7BD3-B9AC-5F8A-A9D348B3141F}"/>
              </a:ext>
            </a:extLst>
          </p:cNvPr>
          <p:cNvCxnSpPr/>
          <p:nvPr/>
        </p:nvCxnSpPr>
        <p:spPr>
          <a:xfrm>
            <a:off x="2819400" y="3924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F7BD55F-A8F7-39F3-FC8D-C8784C81A687}"/>
              </a:ext>
            </a:extLst>
          </p:cNvPr>
          <p:cNvSpPr/>
          <p:nvPr/>
        </p:nvSpPr>
        <p:spPr>
          <a:xfrm>
            <a:off x="3454400" y="3556000"/>
            <a:ext cx="2159000" cy="736600"/>
          </a:xfrm>
          <a:prstGeom prst="roundRect">
            <a:avLst/>
          </a:prstGeom>
          <a:solidFill>
            <a:srgbClr val="E8F5EC"/>
          </a:solidFill>
          <a:ln w="12700">
            <a:solidFill>
              <a:srgbClr val="24A1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CB72BF0-B66E-63AD-0D6B-FD060AC17C1D}"/>
              </a:ext>
            </a:extLst>
          </p:cNvPr>
          <p:cNvSpPr txBox="1"/>
          <p:nvPr/>
        </p:nvSpPr>
        <p:spPr>
          <a:xfrm>
            <a:off x="3581400" y="3699919"/>
            <a:ext cx="1905000" cy="192360"/>
          </a:xfrm>
          <a:prstGeom prst="rect">
            <a:avLst/>
          </a:prstGeom>
          <a:noFill/>
        </p:spPr>
        <p:txBody>
          <a:bodyPr vert="horz" wrap="square" lIns="0" tIns="0" rIns="0" bIns="0" rtlCol="0" anchor="ctr">
            <a:spAutoFit/>
          </a:bodyPr>
          <a:lstStyle/>
          <a:p>
            <a:pPr algn="ctr"/>
            <a:r>
              <a:rPr lang="en-US" sz="1250" b="1">
                <a:solidFill>
                  <a:srgbClr val="24A148"/>
                </a:solidFill>
                <a:latin typeface="Aptos" panose="020B0004020202020204" pitchFamily="34" charset="0"/>
              </a:rPr>
              <a:t>6  Match evidence</a:t>
            </a:r>
          </a:p>
        </p:txBody>
      </p:sp>
      <p:cxnSp>
        <p:nvCxnSpPr>
          <p:cNvPr id="26" name="Straight Connector 25">
            <a:extLst>
              <a:ext uri="{FF2B5EF4-FFF2-40B4-BE49-F238E27FC236}">
                <a16:creationId xmlns:a16="http://schemas.microsoft.com/office/drawing/2014/main" id="{88396043-2AB1-C222-3D1D-1D58B5E8AAB8}"/>
              </a:ext>
            </a:extLst>
          </p:cNvPr>
          <p:cNvCxnSpPr/>
          <p:nvPr/>
        </p:nvCxnSpPr>
        <p:spPr>
          <a:xfrm>
            <a:off x="5613400" y="3924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B4D60294-86A5-39F3-B5DA-461A633B1BE3}"/>
              </a:ext>
            </a:extLst>
          </p:cNvPr>
          <p:cNvSpPr/>
          <p:nvPr/>
        </p:nvSpPr>
        <p:spPr>
          <a:xfrm>
            <a:off x="6248400" y="3556000"/>
            <a:ext cx="2159000" cy="736600"/>
          </a:xfrm>
          <a:prstGeom prst="roundRect">
            <a:avLst/>
          </a:prstGeom>
          <a:solidFill>
            <a:srgbClr val="FDECEF"/>
          </a:solidFill>
          <a:ln w="12700">
            <a:solidFill>
              <a:srgbClr val="DA1E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049E3A1-7E92-137C-9D30-110D5C0C6A17}"/>
              </a:ext>
            </a:extLst>
          </p:cNvPr>
          <p:cNvSpPr txBox="1"/>
          <p:nvPr/>
        </p:nvSpPr>
        <p:spPr>
          <a:xfrm>
            <a:off x="6375400" y="3699919"/>
            <a:ext cx="1905000" cy="192360"/>
          </a:xfrm>
          <a:prstGeom prst="rect">
            <a:avLst/>
          </a:prstGeom>
          <a:noFill/>
        </p:spPr>
        <p:txBody>
          <a:bodyPr vert="horz" wrap="square" lIns="0" tIns="0" rIns="0" bIns="0" rtlCol="0" anchor="ctr">
            <a:spAutoFit/>
          </a:bodyPr>
          <a:lstStyle/>
          <a:p>
            <a:pPr algn="ctr"/>
            <a:r>
              <a:rPr lang="en-US" sz="1250" b="1">
                <a:solidFill>
                  <a:srgbClr val="DA1E28"/>
                </a:solidFill>
                <a:latin typeface="Aptos" panose="020B0004020202020204" pitchFamily="34" charset="0"/>
              </a:rPr>
              <a:t>7  Groundness gate</a:t>
            </a:r>
          </a:p>
        </p:txBody>
      </p:sp>
      <p:cxnSp>
        <p:nvCxnSpPr>
          <p:cNvPr id="29" name="Straight Connector 28">
            <a:extLst>
              <a:ext uri="{FF2B5EF4-FFF2-40B4-BE49-F238E27FC236}">
                <a16:creationId xmlns:a16="http://schemas.microsoft.com/office/drawing/2014/main" id="{F4D5C997-0790-3D8F-4D1E-13A86E9B99DB}"/>
              </a:ext>
            </a:extLst>
          </p:cNvPr>
          <p:cNvCxnSpPr/>
          <p:nvPr/>
        </p:nvCxnSpPr>
        <p:spPr>
          <a:xfrm>
            <a:off x="8407400" y="3924300"/>
            <a:ext cx="508000" cy="0"/>
          </a:xfrm>
          <a:prstGeom prst="line">
            <a:avLst/>
          </a:prstGeom>
          <a:ln w="19050">
            <a:solidFill>
              <a:srgbClr val="6F7E91"/>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0797E52F-240B-19B1-C490-F93603E04870}"/>
              </a:ext>
            </a:extLst>
          </p:cNvPr>
          <p:cNvSpPr/>
          <p:nvPr/>
        </p:nvSpPr>
        <p:spPr>
          <a:xfrm>
            <a:off x="9042400" y="3556000"/>
            <a:ext cx="2159000" cy="736600"/>
          </a:xfrm>
          <a:prstGeom prst="roundRect">
            <a:avLst/>
          </a:prstGeom>
          <a:solidFill>
            <a:srgbClr val="E8F5EC"/>
          </a:solidFill>
          <a:ln w="12700">
            <a:solidFill>
              <a:srgbClr val="24A1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33E48AED-C95E-C1D7-31E1-D87E75AC3F90}"/>
              </a:ext>
            </a:extLst>
          </p:cNvPr>
          <p:cNvSpPr txBox="1"/>
          <p:nvPr/>
        </p:nvSpPr>
        <p:spPr>
          <a:xfrm>
            <a:off x="9169400" y="3699919"/>
            <a:ext cx="1905000" cy="192360"/>
          </a:xfrm>
          <a:prstGeom prst="rect">
            <a:avLst/>
          </a:prstGeom>
          <a:noFill/>
        </p:spPr>
        <p:txBody>
          <a:bodyPr vert="horz" wrap="square" lIns="0" tIns="0" rIns="0" bIns="0" rtlCol="0" anchor="ctr">
            <a:spAutoFit/>
          </a:bodyPr>
          <a:lstStyle/>
          <a:p>
            <a:pPr algn="ctr"/>
            <a:r>
              <a:rPr lang="en-US" sz="1250" b="1">
                <a:solidFill>
                  <a:srgbClr val="24A148"/>
                </a:solidFill>
                <a:latin typeface="Aptos" panose="020B0004020202020204" pitchFamily="34" charset="0"/>
              </a:rPr>
              <a:t>8  Human review</a:t>
            </a:r>
          </a:p>
        </p:txBody>
      </p:sp>
      <p:sp>
        <p:nvSpPr>
          <p:cNvPr id="32" name="Rectangle: Rounded Corners 31">
            <a:extLst>
              <a:ext uri="{FF2B5EF4-FFF2-40B4-BE49-F238E27FC236}">
                <a16:creationId xmlns:a16="http://schemas.microsoft.com/office/drawing/2014/main" id="{FE0D56A1-F90C-F1F7-3B8D-4A4335CB892B}"/>
              </a:ext>
            </a:extLst>
          </p:cNvPr>
          <p:cNvSpPr/>
          <p:nvPr/>
        </p:nvSpPr>
        <p:spPr>
          <a:xfrm>
            <a:off x="660400" y="5207000"/>
            <a:ext cx="10541000" cy="711200"/>
          </a:xfrm>
          <a:prstGeom prst="roundRect">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F26FEEA-CEEB-DBA0-7D48-C6B863183550}"/>
              </a:ext>
            </a:extLst>
          </p:cNvPr>
          <p:cNvSpPr txBox="1"/>
          <p:nvPr/>
        </p:nvSpPr>
        <p:spPr>
          <a:xfrm>
            <a:off x="914400" y="5422900"/>
            <a:ext cx="1524000" cy="138499"/>
          </a:xfrm>
          <a:prstGeom prst="rect">
            <a:avLst/>
          </a:prstGeom>
          <a:noFill/>
        </p:spPr>
        <p:txBody>
          <a:bodyPr vert="horz" wrap="square" lIns="0" tIns="0" rIns="0" bIns="0" rtlCol="0" anchor="t">
            <a:spAutoFit/>
          </a:bodyPr>
          <a:lstStyle/>
          <a:p>
            <a:r>
              <a:rPr lang="en-US" sz="900" b="1">
                <a:solidFill>
                  <a:srgbClr val="33B1FF"/>
                </a:solidFill>
                <a:latin typeface="Aptos" panose="020B0004020202020204" pitchFamily="34" charset="0"/>
              </a:rPr>
              <a:t>IMPLEMENTED NOW</a:t>
            </a:r>
          </a:p>
        </p:txBody>
      </p:sp>
      <p:sp>
        <p:nvSpPr>
          <p:cNvPr id="34" name="TextBox 33">
            <a:extLst>
              <a:ext uri="{FF2B5EF4-FFF2-40B4-BE49-F238E27FC236}">
                <a16:creationId xmlns:a16="http://schemas.microsoft.com/office/drawing/2014/main" id="{03D9794C-1533-12A9-C7DF-436D8C94F7E8}"/>
              </a:ext>
            </a:extLst>
          </p:cNvPr>
          <p:cNvSpPr txBox="1"/>
          <p:nvPr/>
        </p:nvSpPr>
        <p:spPr>
          <a:xfrm>
            <a:off x="2603500" y="5346700"/>
            <a:ext cx="8255000" cy="215444"/>
          </a:xfrm>
          <a:prstGeom prst="rect">
            <a:avLst/>
          </a:prstGeom>
          <a:noFill/>
        </p:spPr>
        <p:txBody>
          <a:bodyPr vert="horz" wrap="square" lIns="0" tIns="0" rIns="0" bIns="0" rtlCol="0" anchor="t">
            <a:spAutoFit/>
          </a:bodyPr>
          <a:lstStyle/>
          <a:p>
            <a:r>
              <a:rPr lang="en-US" sz="1400" b="1">
                <a:solidFill>
                  <a:srgbClr val="FFFFFF"/>
                </a:solidFill>
                <a:latin typeface="Aptos" panose="020B0004020202020204" pitchFamily="34" charset="0"/>
              </a:rPr>
              <a:t>Typed ingestion + classification + deterministic matching + provenance gate</a:t>
            </a:r>
          </a:p>
        </p:txBody>
      </p:sp>
    </p:spTree>
    <p:extLst>
      <p:ext uri="{BB962C8B-B14F-4D97-AF65-F5344CB8AC3E}">
        <p14:creationId xmlns:p14="http://schemas.microsoft.com/office/powerpoint/2010/main" val="1090085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4D5F69-6C07-8A2E-9736-469F688697ED}"/>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4075008-2CAA-8729-59F9-B12E655D25DE}"/>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05  /  DATA ENGINEERING</a:t>
            </a:r>
          </a:p>
        </p:txBody>
      </p:sp>
      <p:sp>
        <p:nvSpPr>
          <p:cNvPr id="4" name="TextBox 3">
            <a:extLst>
              <a:ext uri="{FF2B5EF4-FFF2-40B4-BE49-F238E27FC236}">
                <a16:creationId xmlns:a16="http://schemas.microsoft.com/office/drawing/2014/main" id="{949EFE35-C3A2-7964-1FEA-AE557F7876EC}"/>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Typed entities make provenance enforceable</a:t>
            </a:r>
          </a:p>
        </p:txBody>
      </p:sp>
      <p:sp>
        <p:nvSpPr>
          <p:cNvPr id="5" name="TextBox 4">
            <a:extLst>
              <a:ext uri="{FF2B5EF4-FFF2-40B4-BE49-F238E27FC236}">
                <a16:creationId xmlns:a16="http://schemas.microsoft.com/office/drawing/2014/main" id="{7DEFB83B-84A6-D37E-7239-C432635946F2}"/>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Important state lives in validated structures, not only inside prompts</a:t>
            </a:r>
          </a:p>
        </p:txBody>
      </p:sp>
      <p:cxnSp>
        <p:nvCxnSpPr>
          <p:cNvPr id="6" name="Straight Connector 5">
            <a:extLst>
              <a:ext uri="{FF2B5EF4-FFF2-40B4-BE49-F238E27FC236}">
                <a16:creationId xmlns:a16="http://schemas.microsoft.com/office/drawing/2014/main" id="{EA44CCD2-FB82-A846-D62B-F9A35C1AF79D}"/>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EDEDE85-6CEA-EF31-65BD-C9D9863F9543}"/>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8EBC2B4F-1A13-0455-CF4C-ADEE17A67D48}"/>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6</a:t>
            </a:r>
          </a:p>
        </p:txBody>
      </p:sp>
      <p:sp>
        <p:nvSpPr>
          <p:cNvPr id="9" name="Rectangle: Rounded Corners 8">
            <a:extLst>
              <a:ext uri="{FF2B5EF4-FFF2-40B4-BE49-F238E27FC236}">
                <a16:creationId xmlns:a16="http://schemas.microsoft.com/office/drawing/2014/main" id="{99901700-B943-1F2D-A737-F77200F9BB79}"/>
              </a:ext>
            </a:extLst>
          </p:cNvPr>
          <p:cNvSpPr/>
          <p:nvPr/>
        </p:nvSpPr>
        <p:spPr>
          <a:xfrm>
            <a:off x="609600" y="18796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D17E664-D63A-47E7-B8CE-BDBC748D37F2}"/>
              </a:ext>
            </a:extLst>
          </p:cNvPr>
          <p:cNvSpPr/>
          <p:nvPr/>
        </p:nvSpPr>
        <p:spPr>
          <a:xfrm>
            <a:off x="609600" y="1879600"/>
            <a:ext cx="76200" cy="14224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41945E8-96D0-5E89-38EE-41DE11D28F98}"/>
              </a:ext>
            </a:extLst>
          </p:cNvPr>
          <p:cNvSpPr txBox="1"/>
          <p:nvPr/>
        </p:nvSpPr>
        <p:spPr>
          <a:xfrm>
            <a:off x="863600" y="21082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Case</a:t>
            </a:r>
          </a:p>
        </p:txBody>
      </p:sp>
      <p:sp>
        <p:nvSpPr>
          <p:cNvPr id="12" name="TextBox 11">
            <a:extLst>
              <a:ext uri="{FF2B5EF4-FFF2-40B4-BE49-F238E27FC236}">
                <a16:creationId xmlns:a16="http://schemas.microsoft.com/office/drawing/2014/main" id="{79E21ACD-7D2A-FB46-21A4-86B85D07DEE3}"/>
              </a:ext>
            </a:extLst>
          </p:cNvPr>
          <p:cNvSpPr txBox="1"/>
          <p:nvPr/>
        </p:nvSpPr>
        <p:spPr>
          <a:xfrm>
            <a:off x="863600" y="2578100"/>
            <a:ext cx="2984500" cy="38472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payer • medication • indication • documents</a:t>
            </a:r>
          </a:p>
        </p:txBody>
      </p:sp>
      <p:sp>
        <p:nvSpPr>
          <p:cNvPr id="13" name="Rectangle: Rounded Corners 12">
            <a:extLst>
              <a:ext uri="{FF2B5EF4-FFF2-40B4-BE49-F238E27FC236}">
                <a16:creationId xmlns:a16="http://schemas.microsoft.com/office/drawing/2014/main" id="{5161C04E-5D13-69CA-1B88-6B5FFF3C6D67}"/>
              </a:ext>
            </a:extLst>
          </p:cNvPr>
          <p:cNvSpPr/>
          <p:nvPr/>
        </p:nvSpPr>
        <p:spPr>
          <a:xfrm>
            <a:off x="4419600" y="18796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12FFD619-B689-DC13-CD9E-68A7585C4F78}"/>
              </a:ext>
            </a:extLst>
          </p:cNvPr>
          <p:cNvSpPr/>
          <p:nvPr/>
        </p:nvSpPr>
        <p:spPr>
          <a:xfrm>
            <a:off x="4419600" y="1879600"/>
            <a:ext cx="76200" cy="14224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CBFCDC3-5026-ECAD-A69F-AFC76D8FD4B8}"/>
              </a:ext>
            </a:extLst>
          </p:cNvPr>
          <p:cNvSpPr txBox="1"/>
          <p:nvPr/>
        </p:nvSpPr>
        <p:spPr>
          <a:xfrm>
            <a:off x="4673600" y="21082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Document</a:t>
            </a:r>
          </a:p>
        </p:txBody>
      </p:sp>
      <p:sp>
        <p:nvSpPr>
          <p:cNvPr id="16" name="TextBox 15">
            <a:extLst>
              <a:ext uri="{FF2B5EF4-FFF2-40B4-BE49-F238E27FC236}">
                <a16:creationId xmlns:a16="http://schemas.microsoft.com/office/drawing/2014/main" id="{371BF097-CF24-A773-F99F-743E8C2B55FD}"/>
              </a:ext>
            </a:extLst>
          </p:cNvPr>
          <p:cNvSpPr txBox="1"/>
          <p:nvPr/>
        </p:nvSpPr>
        <p:spPr>
          <a:xfrm>
            <a:off x="4673600" y="2578100"/>
            <a:ext cx="29845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type • confidence • page count</a:t>
            </a:r>
          </a:p>
        </p:txBody>
      </p:sp>
      <p:sp>
        <p:nvSpPr>
          <p:cNvPr id="17" name="Rectangle: Rounded Corners 16">
            <a:extLst>
              <a:ext uri="{FF2B5EF4-FFF2-40B4-BE49-F238E27FC236}">
                <a16:creationId xmlns:a16="http://schemas.microsoft.com/office/drawing/2014/main" id="{BB64CBAF-834B-C809-4492-A71A569D7266}"/>
              </a:ext>
            </a:extLst>
          </p:cNvPr>
          <p:cNvSpPr/>
          <p:nvPr/>
        </p:nvSpPr>
        <p:spPr>
          <a:xfrm>
            <a:off x="8229600" y="18796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3D0C8162-6C83-3BE7-86E5-75EFD6A7B7A8}"/>
              </a:ext>
            </a:extLst>
          </p:cNvPr>
          <p:cNvSpPr/>
          <p:nvPr/>
        </p:nvSpPr>
        <p:spPr>
          <a:xfrm>
            <a:off x="8229600" y="1879600"/>
            <a:ext cx="76200" cy="14224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304B916-8294-D20E-9850-475223D3F449}"/>
              </a:ext>
            </a:extLst>
          </p:cNvPr>
          <p:cNvSpPr txBox="1"/>
          <p:nvPr/>
        </p:nvSpPr>
        <p:spPr>
          <a:xfrm>
            <a:off x="8483600" y="21082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Evidence</a:t>
            </a:r>
          </a:p>
        </p:txBody>
      </p:sp>
      <p:sp>
        <p:nvSpPr>
          <p:cNvPr id="20" name="TextBox 19">
            <a:extLst>
              <a:ext uri="{FF2B5EF4-FFF2-40B4-BE49-F238E27FC236}">
                <a16:creationId xmlns:a16="http://schemas.microsoft.com/office/drawing/2014/main" id="{075C1EC6-767F-E7F5-0D9D-F2AA41293039}"/>
              </a:ext>
            </a:extLst>
          </p:cNvPr>
          <p:cNvSpPr txBox="1"/>
          <p:nvPr/>
        </p:nvSpPr>
        <p:spPr>
          <a:xfrm>
            <a:off x="8483600" y="2578100"/>
            <a:ext cx="2984500" cy="38472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normalized value • confidence • source span</a:t>
            </a:r>
          </a:p>
        </p:txBody>
      </p:sp>
      <p:sp>
        <p:nvSpPr>
          <p:cNvPr id="21" name="Rectangle: Rounded Corners 20">
            <a:extLst>
              <a:ext uri="{FF2B5EF4-FFF2-40B4-BE49-F238E27FC236}">
                <a16:creationId xmlns:a16="http://schemas.microsoft.com/office/drawing/2014/main" id="{D191391A-2877-28AA-43C1-C5EC02FD6008}"/>
              </a:ext>
            </a:extLst>
          </p:cNvPr>
          <p:cNvSpPr/>
          <p:nvPr/>
        </p:nvSpPr>
        <p:spPr>
          <a:xfrm>
            <a:off x="609600" y="37211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ED72BCA8-09F5-BCA2-5F36-FA896F98EA8F}"/>
              </a:ext>
            </a:extLst>
          </p:cNvPr>
          <p:cNvSpPr/>
          <p:nvPr/>
        </p:nvSpPr>
        <p:spPr>
          <a:xfrm>
            <a:off x="609600" y="3721100"/>
            <a:ext cx="76200" cy="14224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8C6B123-208B-F50B-6A1E-BB17C881D611}"/>
              </a:ext>
            </a:extLst>
          </p:cNvPr>
          <p:cNvSpPr txBox="1"/>
          <p:nvPr/>
        </p:nvSpPr>
        <p:spPr>
          <a:xfrm>
            <a:off x="863600" y="39497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Policy</a:t>
            </a:r>
          </a:p>
        </p:txBody>
      </p:sp>
      <p:sp>
        <p:nvSpPr>
          <p:cNvPr id="24" name="TextBox 23">
            <a:extLst>
              <a:ext uri="{FF2B5EF4-FFF2-40B4-BE49-F238E27FC236}">
                <a16:creationId xmlns:a16="http://schemas.microsoft.com/office/drawing/2014/main" id="{A1A33C0F-B366-D822-B067-99964C22CC6E}"/>
              </a:ext>
            </a:extLst>
          </p:cNvPr>
          <p:cNvSpPr txBox="1"/>
          <p:nvPr/>
        </p:nvSpPr>
        <p:spPr>
          <a:xfrm>
            <a:off x="863600" y="4419600"/>
            <a:ext cx="29845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version • effective date • criteria</a:t>
            </a:r>
          </a:p>
        </p:txBody>
      </p:sp>
      <p:sp>
        <p:nvSpPr>
          <p:cNvPr id="25" name="Rectangle: Rounded Corners 24">
            <a:extLst>
              <a:ext uri="{FF2B5EF4-FFF2-40B4-BE49-F238E27FC236}">
                <a16:creationId xmlns:a16="http://schemas.microsoft.com/office/drawing/2014/main" id="{B467D8A7-3B80-4EB5-100D-D6EC8A11AE02}"/>
              </a:ext>
            </a:extLst>
          </p:cNvPr>
          <p:cNvSpPr/>
          <p:nvPr/>
        </p:nvSpPr>
        <p:spPr>
          <a:xfrm>
            <a:off x="4419600" y="37211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BEAC1B29-03EF-CF3E-D82A-50B7ADCD4443}"/>
              </a:ext>
            </a:extLst>
          </p:cNvPr>
          <p:cNvSpPr/>
          <p:nvPr/>
        </p:nvSpPr>
        <p:spPr>
          <a:xfrm>
            <a:off x="4419600" y="3721100"/>
            <a:ext cx="76200" cy="14224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205E946-4D44-E626-598F-BAEA299614AB}"/>
              </a:ext>
            </a:extLst>
          </p:cNvPr>
          <p:cNvSpPr txBox="1"/>
          <p:nvPr/>
        </p:nvSpPr>
        <p:spPr>
          <a:xfrm>
            <a:off x="4673600" y="39497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Criterion</a:t>
            </a:r>
          </a:p>
        </p:txBody>
      </p:sp>
      <p:sp>
        <p:nvSpPr>
          <p:cNvPr id="28" name="TextBox 27">
            <a:extLst>
              <a:ext uri="{FF2B5EF4-FFF2-40B4-BE49-F238E27FC236}">
                <a16:creationId xmlns:a16="http://schemas.microsoft.com/office/drawing/2014/main" id="{046701D3-D878-9A6E-8D25-A945134FC358}"/>
              </a:ext>
            </a:extLst>
          </p:cNvPr>
          <p:cNvSpPr txBox="1"/>
          <p:nvPr/>
        </p:nvSpPr>
        <p:spPr>
          <a:xfrm>
            <a:off x="4673600" y="4419600"/>
            <a:ext cx="29845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operator • expected value • policy source</a:t>
            </a:r>
          </a:p>
        </p:txBody>
      </p:sp>
      <p:sp>
        <p:nvSpPr>
          <p:cNvPr id="29" name="Rectangle: Rounded Corners 28">
            <a:extLst>
              <a:ext uri="{FF2B5EF4-FFF2-40B4-BE49-F238E27FC236}">
                <a16:creationId xmlns:a16="http://schemas.microsoft.com/office/drawing/2014/main" id="{2600355D-FE73-46C1-87AD-BEA5EB552A5B}"/>
              </a:ext>
            </a:extLst>
          </p:cNvPr>
          <p:cNvSpPr/>
          <p:nvPr/>
        </p:nvSpPr>
        <p:spPr>
          <a:xfrm>
            <a:off x="8229600" y="3721100"/>
            <a:ext cx="3429000" cy="1422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7976ED2A-95FE-43F7-20F0-319CEF74B860}"/>
              </a:ext>
            </a:extLst>
          </p:cNvPr>
          <p:cNvSpPr/>
          <p:nvPr/>
        </p:nvSpPr>
        <p:spPr>
          <a:xfrm>
            <a:off x="8229600" y="3721100"/>
            <a:ext cx="76200" cy="14224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FF5083F-B873-2B8D-6A8C-06AAE1DF5502}"/>
              </a:ext>
            </a:extLst>
          </p:cNvPr>
          <p:cNvSpPr txBox="1"/>
          <p:nvPr/>
        </p:nvSpPr>
        <p:spPr>
          <a:xfrm>
            <a:off x="8483600" y="3949700"/>
            <a:ext cx="2984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Evaluation</a:t>
            </a:r>
          </a:p>
        </p:txBody>
      </p:sp>
      <p:sp>
        <p:nvSpPr>
          <p:cNvPr id="32" name="TextBox 31">
            <a:extLst>
              <a:ext uri="{FF2B5EF4-FFF2-40B4-BE49-F238E27FC236}">
                <a16:creationId xmlns:a16="http://schemas.microsoft.com/office/drawing/2014/main" id="{7A6990AF-93C4-3124-7482-1990B39196B4}"/>
              </a:ext>
            </a:extLst>
          </p:cNvPr>
          <p:cNvSpPr txBox="1"/>
          <p:nvPr/>
        </p:nvSpPr>
        <p:spPr>
          <a:xfrm>
            <a:off x="8483600" y="4419600"/>
            <a:ext cx="2984500" cy="38472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five-state result • evidence IDs • explanation</a:t>
            </a:r>
          </a:p>
        </p:txBody>
      </p:sp>
      <p:sp>
        <p:nvSpPr>
          <p:cNvPr id="33" name="TextBox 32">
            <a:extLst>
              <a:ext uri="{FF2B5EF4-FFF2-40B4-BE49-F238E27FC236}">
                <a16:creationId xmlns:a16="http://schemas.microsoft.com/office/drawing/2014/main" id="{B0808FC5-7B94-6861-275E-EBB3F1AE4114}"/>
              </a:ext>
            </a:extLst>
          </p:cNvPr>
          <p:cNvSpPr txBox="1"/>
          <p:nvPr/>
        </p:nvSpPr>
        <p:spPr>
          <a:xfrm>
            <a:off x="825500" y="5791200"/>
            <a:ext cx="10414000" cy="215444"/>
          </a:xfrm>
          <a:prstGeom prst="rect">
            <a:avLst/>
          </a:prstGeom>
          <a:noFill/>
        </p:spPr>
        <p:txBody>
          <a:bodyPr vert="horz" wrap="square" lIns="0" tIns="0" rIns="0" bIns="0" rtlCol="0" anchor="t">
            <a:spAutoFit/>
          </a:bodyPr>
          <a:lstStyle/>
          <a:p>
            <a:pPr algn="ctr"/>
            <a:r>
              <a:rPr lang="fr-FR" sz="1400" b="1">
                <a:solidFill>
                  <a:srgbClr val="071B33"/>
                </a:solidFill>
                <a:latin typeface="Aptos" panose="020B0004020202020204" pitchFamily="34" charset="0"/>
              </a:rPr>
              <a:t>Provenance contract: document + page + source text + confidence + method</a:t>
            </a:r>
            <a:endParaRPr lang="en-US" sz="1400" b="1">
              <a:solidFill>
                <a:srgbClr val="071B33"/>
              </a:solidFill>
              <a:latin typeface="Aptos" panose="020B0004020202020204" pitchFamily="34" charset="0"/>
            </a:endParaRPr>
          </a:p>
        </p:txBody>
      </p:sp>
    </p:spTree>
    <p:extLst>
      <p:ext uri="{BB962C8B-B14F-4D97-AF65-F5344CB8AC3E}">
        <p14:creationId xmlns:p14="http://schemas.microsoft.com/office/powerpoint/2010/main" val="547435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936782-2B0E-CD64-336D-9A101A529427}"/>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45AEF7-9DD8-56B9-59F2-FA0782B53807}"/>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06  /  INGESTION</a:t>
            </a:r>
          </a:p>
        </p:txBody>
      </p:sp>
      <p:sp>
        <p:nvSpPr>
          <p:cNvPr id="4" name="TextBox 3">
            <a:extLst>
              <a:ext uri="{FF2B5EF4-FFF2-40B4-BE49-F238E27FC236}">
                <a16:creationId xmlns:a16="http://schemas.microsoft.com/office/drawing/2014/main" id="{7F6E820D-0DC9-B714-B816-4CD30F9434E9}"/>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From files to page-level text</a:t>
            </a:r>
          </a:p>
        </p:txBody>
      </p:sp>
      <p:sp>
        <p:nvSpPr>
          <p:cNvPr id="5" name="TextBox 4">
            <a:extLst>
              <a:ext uri="{FF2B5EF4-FFF2-40B4-BE49-F238E27FC236}">
                <a16:creationId xmlns:a16="http://schemas.microsoft.com/office/drawing/2014/main" id="{D231FBB0-85CF-A94B-A627-301A649B067B}"/>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One typed contract for text, text-bearing PDF, and scanned-image paths</a:t>
            </a:r>
          </a:p>
        </p:txBody>
      </p:sp>
      <p:cxnSp>
        <p:nvCxnSpPr>
          <p:cNvPr id="6" name="Straight Connector 5">
            <a:extLst>
              <a:ext uri="{FF2B5EF4-FFF2-40B4-BE49-F238E27FC236}">
                <a16:creationId xmlns:a16="http://schemas.microsoft.com/office/drawing/2014/main" id="{2A674B30-6AFD-786C-13BF-9FD618AC61CD}"/>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5DEF566-F0CC-377F-B1DC-8183EB3B0225}"/>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B63CA055-3619-1C63-772E-D257DCF5D39F}"/>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7</a:t>
            </a:r>
          </a:p>
        </p:txBody>
      </p:sp>
      <p:sp>
        <p:nvSpPr>
          <p:cNvPr id="9" name="Rectangle: Rounded Corners 8">
            <a:extLst>
              <a:ext uri="{FF2B5EF4-FFF2-40B4-BE49-F238E27FC236}">
                <a16:creationId xmlns:a16="http://schemas.microsoft.com/office/drawing/2014/main" id="{2E495F7D-6CD2-691D-3735-1D340E0BDF0D}"/>
              </a:ext>
            </a:extLst>
          </p:cNvPr>
          <p:cNvSpPr/>
          <p:nvPr/>
        </p:nvSpPr>
        <p:spPr>
          <a:xfrm>
            <a:off x="533400" y="1905000"/>
            <a:ext cx="1498600" cy="5842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E92F327-92A4-C996-9A51-C9B854DFC08B}"/>
              </a:ext>
            </a:extLst>
          </p:cNvPr>
          <p:cNvSpPr txBox="1"/>
          <p:nvPr/>
        </p:nvSpPr>
        <p:spPr>
          <a:xfrm>
            <a:off x="660400" y="2048920"/>
            <a:ext cx="12446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Decode / parse</a:t>
            </a:r>
          </a:p>
        </p:txBody>
      </p:sp>
      <p:cxnSp>
        <p:nvCxnSpPr>
          <p:cNvPr id="11" name="Straight Connector 10">
            <a:extLst>
              <a:ext uri="{FF2B5EF4-FFF2-40B4-BE49-F238E27FC236}">
                <a16:creationId xmlns:a16="http://schemas.microsoft.com/office/drawing/2014/main" id="{FEC36E98-D168-EC90-EFF7-D98A057FEE7B}"/>
              </a:ext>
            </a:extLst>
          </p:cNvPr>
          <p:cNvCxnSpPr/>
          <p:nvPr/>
        </p:nvCxnSpPr>
        <p:spPr>
          <a:xfrm>
            <a:off x="2032000" y="2197100"/>
            <a:ext cx="279400" cy="0"/>
          </a:xfrm>
          <a:prstGeom prst="line">
            <a:avLst/>
          </a:prstGeom>
          <a:ln w="15875">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9F0F3540-0028-F4E3-FD13-13BF4C85839A}"/>
              </a:ext>
            </a:extLst>
          </p:cNvPr>
          <p:cNvSpPr/>
          <p:nvPr/>
        </p:nvSpPr>
        <p:spPr>
          <a:xfrm>
            <a:off x="2400300" y="1905000"/>
            <a:ext cx="1498600" cy="5842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04EBC18-4C97-3CF3-285F-6F37B19C6E7E}"/>
              </a:ext>
            </a:extLst>
          </p:cNvPr>
          <p:cNvSpPr txBox="1"/>
          <p:nvPr/>
        </p:nvSpPr>
        <p:spPr>
          <a:xfrm>
            <a:off x="2527300" y="2048919"/>
            <a:ext cx="12446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Grayscale</a:t>
            </a:r>
          </a:p>
        </p:txBody>
      </p:sp>
      <p:cxnSp>
        <p:nvCxnSpPr>
          <p:cNvPr id="14" name="Straight Connector 13">
            <a:extLst>
              <a:ext uri="{FF2B5EF4-FFF2-40B4-BE49-F238E27FC236}">
                <a16:creationId xmlns:a16="http://schemas.microsoft.com/office/drawing/2014/main" id="{8F83ED61-A223-ECF5-9480-766DF1980EC9}"/>
              </a:ext>
            </a:extLst>
          </p:cNvPr>
          <p:cNvCxnSpPr/>
          <p:nvPr/>
        </p:nvCxnSpPr>
        <p:spPr>
          <a:xfrm>
            <a:off x="3898900" y="2197100"/>
            <a:ext cx="279400" cy="0"/>
          </a:xfrm>
          <a:prstGeom prst="line">
            <a:avLst/>
          </a:prstGeom>
          <a:ln w="15875">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E3086959-E595-B3B9-1B59-66C5D21DBD63}"/>
              </a:ext>
            </a:extLst>
          </p:cNvPr>
          <p:cNvSpPr/>
          <p:nvPr/>
        </p:nvSpPr>
        <p:spPr>
          <a:xfrm>
            <a:off x="4267200" y="1905000"/>
            <a:ext cx="1498600" cy="5842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5C65369-801F-BF46-A505-16342BE30B37}"/>
              </a:ext>
            </a:extLst>
          </p:cNvPr>
          <p:cNvSpPr txBox="1"/>
          <p:nvPr/>
        </p:nvSpPr>
        <p:spPr>
          <a:xfrm>
            <a:off x="4394200" y="2048919"/>
            <a:ext cx="12446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Denoise</a:t>
            </a:r>
          </a:p>
        </p:txBody>
      </p:sp>
      <p:cxnSp>
        <p:nvCxnSpPr>
          <p:cNvPr id="17" name="Straight Connector 16">
            <a:extLst>
              <a:ext uri="{FF2B5EF4-FFF2-40B4-BE49-F238E27FC236}">
                <a16:creationId xmlns:a16="http://schemas.microsoft.com/office/drawing/2014/main" id="{38771B3B-FBDF-859F-FB19-1FF55006C47F}"/>
              </a:ext>
            </a:extLst>
          </p:cNvPr>
          <p:cNvCxnSpPr/>
          <p:nvPr/>
        </p:nvCxnSpPr>
        <p:spPr>
          <a:xfrm>
            <a:off x="5765800" y="2197100"/>
            <a:ext cx="279400" cy="0"/>
          </a:xfrm>
          <a:prstGeom prst="line">
            <a:avLst/>
          </a:prstGeom>
          <a:ln w="15875">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EF9D0E92-DCDC-65D9-D905-E88F53C8B5C7}"/>
              </a:ext>
            </a:extLst>
          </p:cNvPr>
          <p:cNvSpPr/>
          <p:nvPr/>
        </p:nvSpPr>
        <p:spPr>
          <a:xfrm>
            <a:off x="6134100" y="1905000"/>
            <a:ext cx="1498600" cy="5842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6B25A95-DDF4-094D-80E1-CD2DB415DE92}"/>
              </a:ext>
            </a:extLst>
          </p:cNvPr>
          <p:cNvSpPr txBox="1"/>
          <p:nvPr/>
        </p:nvSpPr>
        <p:spPr>
          <a:xfrm>
            <a:off x="6261100" y="2048919"/>
            <a:ext cx="12446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Deskew</a:t>
            </a:r>
          </a:p>
        </p:txBody>
      </p:sp>
      <p:cxnSp>
        <p:nvCxnSpPr>
          <p:cNvPr id="20" name="Straight Connector 19">
            <a:extLst>
              <a:ext uri="{FF2B5EF4-FFF2-40B4-BE49-F238E27FC236}">
                <a16:creationId xmlns:a16="http://schemas.microsoft.com/office/drawing/2014/main" id="{EDBF4263-4C72-9A66-62BF-7038D05F6543}"/>
              </a:ext>
            </a:extLst>
          </p:cNvPr>
          <p:cNvCxnSpPr/>
          <p:nvPr/>
        </p:nvCxnSpPr>
        <p:spPr>
          <a:xfrm>
            <a:off x="7632700" y="2197100"/>
            <a:ext cx="279400" cy="0"/>
          </a:xfrm>
          <a:prstGeom prst="line">
            <a:avLst/>
          </a:prstGeom>
          <a:ln w="15875">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21994001-2E2A-5143-798D-7E8FA3B1F93F}"/>
              </a:ext>
            </a:extLst>
          </p:cNvPr>
          <p:cNvSpPr/>
          <p:nvPr/>
        </p:nvSpPr>
        <p:spPr>
          <a:xfrm>
            <a:off x="8001000" y="1905000"/>
            <a:ext cx="1498600" cy="5842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3163CA6-169A-ADC3-C8F6-E13D6F7F5489}"/>
              </a:ext>
            </a:extLst>
          </p:cNvPr>
          <p:cNvSpPr txBox="1"/>
          <p:nvPr/>
        </p:nvSpPr>
        <p:spPr>
          <a:xfrm>
            <a:off x="8128000" y="2048920"/>
            <a:ext cx="1244600" cy="192360"/>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Otsu threshold</a:t>
            </a:r>
          </a:p>
        </p:txBody>
      </p:sp>
      <p:cxnSp>
        <p:nvCxnSpPr>
          <p:cNvPr id="23" name="Straight Connector 22">
            <a:extLst>
              <a:ext uri="{FF2B5EF4-FFF2-40B4-BE49-F238E27FC236}">
                <a16:creationId xmlns:a16="http://schemas.microsoft.com/office/drawing/2014/main" id="{B761BB52-031C-17D9-B454-142F1BC2AF52}"/>
              </a:ext>
            </a:extLst>
          </p:cNvPr>
          <p:cNvCxnSpPr/>
          <p:nvPr/>
        </p:nvCxnSpPr>
        <p:spPr>
          <a:xfrm>
            <a:off x="9499600" y="2197100"/>
            <a:ext cx="279400" cy="0"/>
          </a:xfrm>
          <a:prstGeom prst="line">
            <a:avLst/>
          </a:prstGeom>
          <a:ln w="15875">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6BC892E-F95A-8CDD-61E5-09A37230F255}"/>
              </a:ext>
            </a:extLst>
          </p:cNvPr>
          <p:cNvSpPr/>
          <p:nvPr/>
        </p:nvSpPr>
        <p:spPr>
          <a:xfrm>
            <a:off x="9867900" y="1905000"/>
            <a:ext cx="1498600" cy="584200"/>
          </a:xfrm>
          <a:prstGeom prst="roundRect">
            <a:avLst/>
          </a:prstGeom>
          <a:solidFill>
            <a:srgbClr val="FFF8D6"/>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0C19F64-B7A3-5D2D-8BA1-E6D84E274248}"/>
              </a:ext>
            </a:extLst>
          </p:cNvPr>
          <p:cNvSpPr txBox="1"/>
          <p:nvPr/>
        </p:nvSpPr>
        <p:spPr>
          <a:xfrm>
            <a:off x="9994900" y="2048920"/>
            <a:ext cx="1244600" cy="192360"/>
          </a:xfrm>
          <a:prstGeom prst="rect">
            <a:avLst/>
          </a:prstGeom>
          <a:noFill/>
        </p:spPr>
        <p:txBody>
          <a:bodyPr vert="horz" wrap="square" lIns="0" tIns="0" rIns="0" bIns="0" rtlCol="0" anchor="ctr">
            <a:spAutoFit/>
          </a:bodyPr>
          <a:lstStyle/>
          <a:p>
            <a:pPr algn="ctr"/>
            <a:r>
              <a:rPr lang="en-US" sz="1250" b="1">
                <a:solidFill>
                  <a:srgbClr val="FF832B"/>
                </a:solidFill>
                <a:latin typeface="Aptos" panose="020B0004020202020204" pitchFamily="34" charset="0"/>
              </a:rPr>
              <a:t>OCR adapter</a:t>
            </a:r>
          </a:p>
        </p:txBody>
      </p:sp>
      <p:pic>
        <p:nvPicPr>
          <p:cNvPr id="27" name="Picture 26">
            <a:extLst>
              <a:ext uri="{FF2B5EF4-FFF2-40B4-BE49-F238E27FC236}">
                <a16:creationId xmlns:a16="http://schemas.microsoft.com/office/drawing/2014/main" id="{89A4336B-98D5-6387-34A7-526C84C036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 y="3073400"/>
            <a:ext cx="2222500" cy="2413000"/>
          </a:xfrm>
          <a:prstGeom prst="rect">
            <a:avLst/>
          </a:prstGeom>
        </p:spPr>
      </p:pic>
      <p:pic>
        <p:nvPicPr>
          <p:cNvPr id="29" name="Picture 28">
            <a:extLst>
              <a:ext uri="{FF2B5EF4-FFF2-40B4-BE49-F238E27FC236}">
                <a16:creationId xmlns:a16="http://schemas.microsoft.com/office/drawing/2014/main" id="{74FB7648-7CB1-E7ED-DCAD-775759E3D69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00400" y="3073400"/>
            <a:ext cx="2222500" cy="2413000"/>
          </a:xfrm>
          <a:prstGeom prst="rect">
            <a:avLst/>
          </a:prstGeom>
        </p:spPr>
      </p:pic>
      <p:sp>
        <p:nvSpPr>
          <p:cNvPr id="30" name="Rectangle: Rounded Corners 29">
            <a:extLst>
              <a:ext uri="{FF2B5EF4-FFF2-40B4-BE49-F238E27FC236}">
                <a16:creationId xmlns:a16="http://schemas.microsoft.com/office/drawing/2014/main" id="{AACFF547-C10C-2A6E-A76D-4716A4993917}"/>
              </a:ext>
            </a:extLst>
          </p:cNvPr>
          <p:cNvSpPr/>
          <p:nvPr/>
        </p:nvSpPr>
        <p:spPr>
          <a:xfrm>
            <a:off x="5867400" y="3073400"/>
            <a:ext cx="2603500" cy="2413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6A860F23-6453-091C-F021-EC2909BF0563}"/>
              </a:ext>
            </a:extLst>
          </p:cNvPr>
          <p:cNvSpPr/>
          <p:nvPr/>
        </p:nvSpPr>
        <p:spPr>
          <a:xfrm>
            <a:off x="5867400" y="3073400"/>
            <a:ext cx="76200" cy="2413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58F7C83-3840-4357-04F3-3509EF8C9FC6}"/>
              </a:ext>
            </a:extLst>
          </p:cNvPr>
          <p:cNvSpPr txBox="1"/>
          <p:nvPr/>
        </p:nvSpPr>
        <p:spPr>
          <a:xfrm>
            <a:off x="6121400" y="3276600"/>
            <a:ext cx="2159000" cy="400110"/>
          </a:xfrm>
          <a:prstGeom prst="rect">
            <a:avLst/>
          </a:prstGeom>
          <a:noFill/>
        </p:spPr>
        <p:txBody>
          <a:bodyPr vert="horz" wrap="square" lIns="0" tIns="0" rIns="0" bIns="0" rtlCol="0" anchor="t">
            <a:spAutoFit/>
          </a:bodyPr>
          <a:lstStyle/>
          <a:p>
            <a:r>
              <a:rPr lang="en-US" sz="2600" b="1">
                <a:solidFill>
                  <a:srgbClr val="0F62FE"/>
                </a:solidFill>
                <a:latin typeface="Aptos" panose="020B0004020202020204" pitchFamily="34" charset="0"/>
              </a:rPr>
              <a:t>32</a:t>
            </a:r>
          </a:p>
        </p:txBody>
      </p:sp>
      <p:sp>
        <p:nvSpPr>
          <p:cNvPr id="33" name="TextBox 32">
            <a:extLst>
              <a:ext uri="{FF2B5EF4-FFF2-40B4-BE49-F238E27FC236}">
                <a16:creationId xmlns:a16="http://schemas.microsoft.com/office/drawing/2014/main" id="{8F6E01AC-6235-C272-4D65-A57AFF0BC1CD}"/>
              </a:ext>
            </a:extLst>
          </p:cNvPr>
          <p:cNvSpPr txBox="1"/>
          <p:nvPr/>
        </p:nvSpPr>
        <p:spPr>
          <a:xfrm>
            <a:off x="6121400" y="3810000"/>
            <a:ext cx="21590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Rendered benchmark</a:t>
            </a:r>
          </a:p>
        </p:txBody>
      </p:sp>
      <p:sp>
        <p:nvSpPr>
          <p:cNvPr id="34" name="TextBox 33">
            <a:extLst>
              <a:ext uri="{FF2B5EF4-FFF2-40B4-BE49-F238E27FC236}">
                <a16:creationId xmlns:a16="http://schemas.microsoft.com/office/drawing/2014/main" id="{0E9DD3D9-173F-9B1E-C629-7C84B5A5CE1B}"/>
              </a:ext>
            </a:extLst>
          </p:cNvPr>
          <p:cNvSpPr txBox="1"/>
          <p:nvPr/>
        </p:nvSpPr>
        <p:spPr>
          <a:xfrm>
            <a:off x="6121400" y="4191000"/>
            <a:ext cx="2159000" cy="738664"/>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16 text-bearing PDFs + 16 scan-like images. Degradations include clean, rotated, blurred, low-contrast, and noisy variants.</a:t>
            </a:r>
          </a:p>
        </p:txBody>
      </p:sp>
      <p:sp>
        <p:nvSpPr>
          <p:cNvPr id="35" name="Rectangle: Rounded Corners 34">
            <a:extLst>
              <a:ext uri="{FF2B5EF4-FFF2-40B4-BE49-F238E27FC236}">
                <a16:creationId xmlns:a16="http://schemas.microsoft.com/office/drawing/2014/main" id="{049E0207-AF9A-384C-EB01-3A3F3E5AF090}"/>
              </a:ext>
            </a:extLst>
          </p:cNvPr>
          <p:cNvSpPr/>
          <p:nvPr/>
        </p:nvSpPr>
        <p:spPr>
          <a:xfrm>
            <a:off x="8826500" y="3073400"/>
            <a:ext cx="2603500" cy="2413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5BBE0AF5-1876-E80B-9DB3-5DFFED03DA40}"/>
              </a:ext>
            </a:extLst>
          </p:cNvPr>
          <p:cNvSpPr/>
          <p:nvPr/>
        </p:nvSpPr>
        <p:spPr>
          <a:xfrm>
            <a:off x="8826500" y="3073400"/>
            <a:ext cx="76200" cy="24130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1988C71-E0D1-B4C1-C1E0-B940F515294B}"/>
              </a:ext>
            </a:extLst>
          </p:cNvPr>
          <p:cNvSpPr txBox="1"/>
          <p:nvPr/>
        </p:nvSpPr>
        <p:spPr>
          <a:xfrm>
            <a:off x="9080500" y="3276600"/>
            <a:ext cx="2159000" cy="400110"/>
          </a:xfrm>
          <a:prstGeom prst="rect">
            <a:avLst/>
          </a:prstGeom>
          <a:noFill/>
        </p:spPr>
        <p:txBody>
          <a:bodyPr vert="horz" wrap="square" lIns="0" tIns="0" rIns="0" bIns="0" rtlCol="0" anchor="t">
            <a:spAutoFit/>
          </a:bodyPr>
          <a:lstStyle/>
          <a:p>
            <a:r>
              <a:rPr lang="en-US" sz="2600" b="1">
                <a:solidFill>
                  <a:srgbClr val="FF832B"/>
                </a:solidFill>
                <a:latin typeface="Aptos" panose="020B0004020202020204" pitchFamily="34" charset="0"/>
              </a:rPr>
              <a:t>0.000</a:t>
            </a:r>
          </a:p>
        </p:txBody>
      </p:sp>
      <p:sp>
        <p:nvSpPr>
          <p:cNvPr id="38" name="TextBox 37">
            <a:extLst>
              <a:ext uri="{FF2B5EF4-FFF2-40B4-BE49-F238E27FC236}">
                <a16:creationId xmlns:a16="http://schemas.microsoft.com/office/drawing/2014/main" id="{F8DE87F7-F0D9-BD4E-EDBE-DF1825CFE67A}"/>
              </a:ext>
            </a:extLst>
          </p:cNvPr>
          <p:cNvSpPr txBox="1"/>
          <p:nvPr/>
        </p:nvSpPr>
        <p:spPr>
          <a:xfrm>
            <a:off x="9080500" y="3810000"/>
            <a:ext cx="21590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Measured honestly</a:t>
            </a:r>
          </a:p>
        </p:txBody>
      </p:sp>
      <p:sp>
        <p:nvSpPr>
          <p:cNvPr id="39" name="TextBox 38">
            <a:extLst>
              <a:ext uri="{FF2B5EF4-FFF2-40B4-BE49-F238E27FC236}">
                <a16:creationId xmlns:a16="http://schemas.microsoft.com/office/drawing/2014/main" id="{1BE6F264-7028-B519-AE1E-8A8E8C84F78C}"/>
              </a:ext>
            </a:extLst>
          </p:cNvPr>
          <p:cNvSpPr txBox="1"/>
          <p:nvPr/>
        </p:nvSpPr>
        <p:spPr>
          <a:xfrm>
            <a:off x="9080500" y="4191000"/>
            <a:ext cx="2159000" cy="923330"/>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PDF mean character error rate: 0.000. Image preprocessing: 100%. OCR character accuracy: not reported without a configured runtime.</a:t>
            </a:r>
          </a:p>
        </p:txBody>
      </p:sp>
    </p:spTree>
    <p:extLst>
      <p:ext uri="{BB962C8B-B14F-4D97-AF65-F5344CB8AC3E}">
        <p14:creationId xmlns:p14="http://schemas.microsoft.com/office/powerpoint/2010/main" val="223330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59A87-3B9F-EB38-3C63-BAE5A5B48AB8}"/>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A990310-705C-DB85-A5D8-7F6EABCE51A5}"/>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07  /  EXPERIMENT DESIGN</a:t>
            </a:r>
          </a:p>
        </p:txBody>
      </p:sp>
      <p:sp>
        <p:nvSpPr>
          <p:cNvPr id="4" name="TextBox 3">
            <a:extLst>
              <a:ext uri="{FF2B5EF4-FFF2-40B4-BE49-F238E27FC236}">
                <a16:creationId xmlns:a16="http://schemas.microsoft.com/office/drawing/2014/main" id="{E521C11D-3803-1A88-EB22-A1EF0F624A98}"/>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Synthetic dataset with leakage-resistant splits</a:t>
            </a:r>
          </a:p>
        </p:txBody>
      </p:sp>
      <p:sp>
        <p:nvSpPr>
          <p:cNvPr id="5" name="TextBox 4">
            <a:extLst>
              <a:ext uri="{FF2B5EF4-FFF2-40B4-BE49-F238E27FC236}">
                <a16:creationId xmlns:a16="http://schemas.microsoft.com/office/drawing/2014/main" id="{B06EFC0A-17FB-508C-9AA7-A5D016A441BD}"/>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Cases and template families are mutually exclusive across partitions</a:t>
            </a:r>
          </a:p>
        </p:txBody>
      </p:sp>
      <p:cxnSp>
        <p:nvCxnSpPr>
          <p:cNvPr id="6" name="Straight Connector 5">
            <a:extLst>
              <a:ext uri="{FF2B5EF4-FFF2-40B4-BE49-F238E27FC236}">
                <a16:creationId xmlns:a16="http://schemas.microsoft.com/office/drawing/2014/main" id="{7D4A04F1-2065-81F9-643D-344148CED53B}"/>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1AF2BA9-D619-E0FE-28BE-3E24D609D7D7}"/>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53107107-95E0-7420-27CB-F823D755ADC4}"/>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8</a:t>
            </a:r>
          </a:p>
        </p:txBody>
      </p:sp>
      <p:sp>
        <p:nvSpPr>
          <p:cNvPr id="9" name="Rectangle: Rounded Corners 8">
            <a:extLst>
              <a:ext uri="{FF2B5EF4-FFF2-40B4-BE49-F238E27FC236}">
                <a16:creationId xmlns:a16="http://schemas.microsoft.com/office/drawing/2014/main" id="{5A9AB6FB-D60C-3235-2B63-3CBC1D9D7F2B}"/>
              </a:ext>
            </a:extLst>
          </p:cNvPr>
          <p:cNvSpPr/>
          <p:nvPr/>
        </p:nvSpPr>
        <p:spPr>
          <a:xfrm>
            <a:off x="889000" y="2095500"/>
            <a:ext cx="3683000" cy="9652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6543BA-5D82-BA25-B176-0806CB89D7F8}"/>
              </a:ext>
            </a:extLst>
          </p:cNvPr>
          <p:cNvSpPr txBox="1"/>
          <p:nvPr/>
        </p:nvSpPr>
        <p:spPr>
          <a:xfrm>
            <a:off x="1016000" y="2247900"/>
            <a:ext cx="3429000" cy="307777"/>
          </a:xfrm>
          <a:prstGeom prst="rect">
            <a:avLst/>
          </a:prstGeom>
          <a:noFill/>
        </p:spPr>
        <p:txBody>
          <a:bodyPr vert="horz" wrap="square" lIns="0" tIns="0" rIns="0" bIns="0" rtlCol="0" anchor="t">
            <a:spAutoFit/>
          </a:bodyPr>
          <a:lstStyle/>
          <a:p>
            <a:pPr algn="ctr"/>
            <a:r>
              <a:rPr lang="en-US" sz="2000" b="1">
                <a:solidFill>
                  <a:srgbClr val="FFFFFF"/>
                </a:solidFill>
                <a:latin typeface="Aptos" panose="020B0004020202020204" pitchFamily="34" charset="0"/>
              </a:rPr>
              <a:t>336</a:t>
            </a:r>
          </a:p>
        </p:txBody>
      </p:sp>
      <p:sp>
        <p:nvSpPr>
          <p:cNvPr id="11" name="TextBox 10">
            <a:extLst>
              <a:ext uri="{FF2B5EF4-FFF2-40B4-BE49-F238E27FC236}">
                <a16:creationId xmlns:a16="http://schemas.microsoft.com/office/drawing/2014/main" id="{711B1224-B05A-5530-5C81-FFE5C7C15AF1}"/>
              </a:ext>
            </a:extLst>
          </p:cNvPr>
          <p:cNvSpPr txBox="1"/>
          <p:nvPr/>
        </p:nvSpPr>
        <p:spPr>
          <a:xfrm>
            <a:off x="1016000" y="2667000"/>
            <a:ext cx="34290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TRAIN</a:t>
            </a:r>
          </a:p>
        </p:txBody>
      </p:sp>
      <p:sp>
        <p:nvSpPr>
          <p:cNvPr id="12" name="Rectangle: Rounded Corners 11">
            <a:extLst>
              <a:ext uri="{FF2B5EF4-FFF2-40B4-BE49-F238E27FC236}">
                <a16:creationId xmlns:a16="http://schemas.microsoft.com/office/drawing/2014/main" id="{678A9CAA-4DF8-3882-C884-3B8046BFCB62}"/>
              </a:ext>
            </a:extLst>
          </p:cNvPr>
          <p:cNvSpPr/>
          <p:nvPr/>
        </p:nvSpPr>
        <p:spPr>
          <a:xfrm>
            <a:off x="4953000" y="2095500"/>
            <a:ext cx="1587500" cy="965200"/>
          </a:xfrm>
          <a:prstGeom prst="roundRect">
            <a:avLst/>
          </a:prstGeom>
          <a:solidFill>
            <a:srgbClr val="33B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92B24BB-C336-C7B6-3558-9399029718C7}"/>
              </a:ext>
            </a:extLst>
          </p:cNvPr>
          <p:cNvSpPr txBox="1"/>
          <p:nvPr/>
        </p:nvSpPr>
        <p:spPr>
          <a:xfrm>
            <a:off x="5080000" y="2247900"/>
            <a:ext cx="1333500" cy="307777"/>
          </a:xfrm>
          <a:prstGeom prst="rect">
            <a:avLst/>
          </a:prstGeom>
          <a:noFill/>
        </p:spPr>
        <p:txBody>
          <a:bodyPr vert="horz" wrap="square" lIns="0" tIns="0" rIns="0" bIns="0" rtlCol="0" anchor="t">
            <a:spAutoFit/>
          </a:bodyPr>
          <a:lstStyle/>
          <a:p>
            <a:pPr algn="ctr"/>
            <a:r>
              <a:rPr lang="en-US" sz="2000" b="1">
                <a:solidFill>
                  <a:srgbClr val="FFFFFF"/>
                </a:solidFill>
                <a:latin typeface="Aptos" panose="020B0004020202020204" pitchFamily="34" charset="0"/>
              </a:rPr>
              <a:t>48</a:t>
            </a:r>
          </a:p>
        </p:txBody>
      </p:sp>
      <p:sp>
        <p:nvSpPr>
          <p:cNvPr id="14" name="TextBox 13">
            <a:extLst>
              <a:ext uri="{FF2B5EF4-FFF2-40B4-BE49-F238E27FC236}">
                <a16:creationId xmlns:a16="http://schemas.microsoft.com/office/drawing/2014/main" id="{AA3F84AB-4DF6-FF3E-811F-9E4DEED60F22}"/>
              </a:ext>
            </a:extLst>
          </p:cNvPr>
          <p:cNvSpPr txBox="1"/>
          <p:nvPr/>
        </p:nvSpPr>
        <p:spPr>
          <a:xfrm>
            <a:off x="5080000" y="2667000"/>
            <a:ext cx="13335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VAL</a:t>
            </a:r>
          </a:p>
        </p:txBody>
      </p:sp>
      <p:sp>
        <p:nvSpPr>
          <p:cNvPr id="15" name="Rectangle: Rounded Corners 14">
            <a:extLst>
              <a:ext uri="{FF2B5EF4-FFF2-40B4-BE49-F238E27FC236}">
                <a16:creationId xmlns:a16="http://schemas.microsoft.com/office/drawing/2014/main" id="{97D1BAD1-12C1-4943-0DF7-35DBC2F3C75C}"/>
              </a:ext>
            </a:extLst>
          </p:cNvPr>
          <p:cNvSpPr/>
          <p:nvPr/>
        </p:nvSpPr>
        <p:spPr>
          <a:xfrm>
            <a:off x="6921500" y="2095500"/>
            <a:ext cx="1587500" cy="965200"/>
          </a:xfrm>
          <a:prstGeom prst="roundRect">
            <a:avLst/>
          </a:prstGeom>
          <a:solidFill>
            <a:srgbClr val="009D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AB9A189-3D45-8E5B-3859-06CB45588EEC}"/>
              </a:ext>
            </a:extLst>
          </p:cNvPr>
          <p:cNvSpPr txBox="1"/>
          <p:nvPr/>
        </p:nvSpPr>
        <p:spPr>
          <a:xfrm>
            <a:off x="7048500" y="2247900"/>
            <a:ext cx="1333500" cy="307777"/>
          </a:xfrm>
          <a:prstGeom prst="rect">
            <a:avLst/>
          </a:prstGeom>
          <a:noFill/>
        </p:spPr>
        <p:txBody>
          <a:bodyPr vert="horz" wrap="square" lIns="0" tIns="0" rIns="0" bIns="0" rtlCol="0" anchor="t">
            <a:spAutoFit/>
          </a:bodyPr>
          <a:lstStyle/>
          <a:p>
            <a:pPr algn="ctr"/>
            <a:r>
              <a:rPr lang="en-US" sz="2000" b="1">
                <a:solidFill>
                  <a:srgbClr val="FFFFFF"/>
                </a:solidFill>
                <a:latin typeface="Aptos" panose="020B0004020202020204" pitchFamily="34" charset="0"/>
              </a:rPr>
              <a:t>48</a:t>
            </a:r>
          </a:p>
        </p:txBody>
      </p:sp>
      <p:sp>
        <p:nvSpPr>
          <p:cNvPr id="17" name="TextBox 16">
            <a:extLst>
              <a:ext uri="{FF2B5EF4-FFF2-40B4-BE49-F238E27FC236}">
                <a16:creationId xmlns:a16="http://schemas.microsoft.com/office/drawing/2014/main" id="{BC2D8F7F-9C2F-FE38-AE66-543BDB79DEF4}"/>
              </a:ext>
            </a:extLst>
          </p:cNvPr>
          <p:cNvSpPr txBox="1"/>
          <p:nvPr/>
        </p:nvSpPr>
        <p:spPr>
          <a:xfrm>
            <a:off x="7048500" y="2667000"/>
            <a:ext cx="13335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TEST</a:t>
            </a:r>
          </a:p>
        </p:txBody>
      </p:sp>
      <p:sp>
        <p:nvSpPr>
          <p:cNvPr id="18" name="Rectangle: Rounded Corners 17">
            <a:extLst>
              <a:ext uri="{FF2B5EF4-FFF2-40B4-BE49-F238E27FC236}">
                <a16:creationId xmlns:a16="http://schemas.microsoft.com/office/drawing/2014/main" id="{9D6152A8-112D-5C4A-83F7-DA266E544D19}"/>
              </a:ext>
            </a:extLst>
          </p:cNvPr>
          <p:cNvSpPr/>
          <p:nvPr/>
        </p:nvSpPr>
        <p:spPr>
          <a:xfrm>
            <a:off x="8890000" y="2095500"/>
            <a:ext cx="1587500" cy="9652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855E6CA-33B4-7657-33DA-BE545836B254}"/>
              </a:ext>
            </a:extLst>
          </p:cNvPr>
          <p:cNvSpPr txBox="1"/>
          <p:nvPr/>
        </p:nvSpPr>
        <p:spPr>
          <a:xfrm>
            <a:off x="9017000" y="2247900"/>
            <a:ext cx="1333500" cy="307777"/>
          </a:xfrm>
          <a:prstGeom prst="rect">
            <a:avLst/>
          </a:prstGeom>
          <a:noFill/>
        </p:spPr>
        <p:txBody>
          <a:bodyPr vert="horz" wrap="square" lIns="0" tIns="0" rIns="0" bIns="0" rtlCol="0" anchor="t">
            <a:spAutoFit/>
          </a:bodyPr>
          <a:lstStyle/>
          <a:p>
            <a:pPr algn="ctr"/>
            <a:r>
              <a:rPr lang="en-US" sz="2000" b="1">
                <a:solidFill>
                  <a:srgbClr val="FFFFFF"/>
                </a:solidFill>
                <a:latin typeface="Aptos" panose="020B0004020202020204" pitchFamily="34" charset="0"/>
              </a:rPr>
              <a:t>48</a:t>
            </a:r>
          </a:p>
        </p:txBody>
      </p:sp>
      <p:sp>
        <p:nvSpPr>
          <p:cNvPr id="20" name="TextBox 19">
            <a:extLst>
              <a:ext uri="{FF2B5EF4-FFF2-40B4-BE49-F238E27FC236}">
                <a16:creationId xmlns:a16="http://schemas.microsoft.com/office/drawing/2014/main" id="{EE0179FF-AB78-9C91-B091-4D913FDDE3AE}"/>
              </a:ext>
            </a:extLst>
          </p:cNvPr>
          <p:cNvSpPr txBox="1"/>
          <p:nvPr/>
        </p:nvSpPr>
        <p:spPr>
          <a:xfrm>
            <a:off x="9017000" y="2667000"/>
            <a:ext cx="13335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CHALLENGE</a:t>
            </a:r>
          </a:p>
        </p:txBody>
      </p:sp>
      <p:sp>
        <p:nvSpPr>
          <p:cNvPr id="21" name="TextBox 20">
            <a:extLst>
              <a:ext uri="{FF2B5EF4-FFF2-40B4-BE49-F238E27FC236}">
                <a16:creationId xmlns:a16="http://schemas.microsoft.com/office/drawing/2014/main" id="{E259695F-A27E-3FB7-D084-F30F463C20C1}"/>
              </a:ext>
            </a:extLst>
          </p:cNvPr>
          <p:cNvSpPr txBox="1"/>
          <p:nvPr/>
        </p:nvSpPr>
        <p:spPr>
          <a:xfrm>
            <a:off x="889000" y="3365500"/>
            <a:ext cx="10033000" cy="246221"/>
          </a:xfrm>
          <a:prstGeom prst="rect">
            <a:avLst/>
          </a:prstGeom>
          <a:noFill/>
        </p:spPr>
        <p:txBody>
          <a:bodyPr vert="horz" wrap="square" lIns="0" tIns="0" rIns="0" bIns="0" rtlCol="0" anchor="t">
            <a:spAutoFit/>
          </a:bodyPr>
          <a:lstStyle/>
          <a:p>
            <a:pPr algn="ctr"/>
            <a:r>
              <a:rPr lang="en-US" sz="1600" b="1">
                <a:solidFill>
                  <a:srgbClr val="071B33"/>
                </a:solidFill>
                <a:latin typeface="Aptos" panose="020B0004020202020204" pitchFamily="34" charset="0"/>
              </a:rPr>
              <a:t>480 documents  •  8 balanced classes  •  10 template families  •  deterministic seed 42</a:t>
            </a:r>
          </a:p>
        </p:txBody>
      </p:sp>
      <p:sp>
        <p:nvSpPr>
          <p:cNvPr id="22" name="Rectangle: Rounded Corners 21">
            <a:extLst>
              <a:ext uri="{FF2B5EF4-FFF2-40B4-BE49-F238E27FC236}">
                <a16:creationId xmlns:a16="http://schemas.microsoft.com/office/drawing/2014/main" id="{6A4D0115-4723-0C0D-42BD-B45BAE9AC33F}"/>
              </a:ext>
            </a:extLst>
          </p:cNvPr>
          <p:cNvSpPr/>
          <p:nvPr/>
        </p:nvSpPr>
        <p:spPr>
          <a:xfrm>
            <a:off x="889000" y="4064000"/>
            <a:ext cx="31115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DF4322E6-9625-EF89-F8A8-146B74017FBD}"/>
              </a:ext>
            </a:extLst>
          </p:cNvPr>
          <p:cNvSpPr/>
          <p:nvPr/>
        </p:nvSpPr>
        <p:spPr>
          <a:xfrm>
            <a:off x="889000" y="4064000"/>
            <a:ext cx="76200" cy="1587500"/>
          </a:xfrm>
          <a:prstGeom prst="roundRect">
            <a:avLst/>
          </a:prstGeom>
          <a:solidFill>
            <a:srgbClr val="009D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5DCB007-19C6-3995-14F9-B1F8E030D5B6}"/>
              </a:ext>
            </a:extLst>
          </p:cNvPr>
          <p:cNvSpPr txBox="1"/>
          <p:nvPr/>
        </p:nvSpPr>
        <p:spPr>
          <a:xfrm>
            <a:off x="1143000" y="4292600"/>
            <a:ext cx="26670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Primary test</a:t>
            </a:r>
          </a:p>
        </p:txBody>
      </p:sp>
      <p:sp>
        <p:nvSpPr>
          <p:cNvPr id="25" name="TextBox 24">
            <a:extLst>
              <a:ext uri="{FF2B5EF4-FFF2-40B4-BE49-F238E27FC236}">
                <a16:creationId xmlns:a16="http://schemas.microsoft.com/office/drawing/2014/main" id="{D2F990A6-EC51-EC1E-5D28-FF3C5F9D0440}"/>
              </a:ext>
            </a:extLst>
          </p:cNvPr>
          <p:cNvSpPr txBox="1"/>
          <p:nvPr/>
        </p:nvSpPr>
        <p:spPr>
          <a:xfrm>
            <a:off x="1143000" y="4762500"/>
            <a:ext cx="26670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Held-out family 08 is the scientific comparison point. The vectorizer is fit on training data only.</a:t>
            </a:r>
          </a:p>
        </p:txBody>
      </p:sp>
      <p:sp>
        <p:nvSpPr>
          <p:cNvPr id="26" name="Rectangle: Rounded Corners 25">
            <a:extLst>
              <a:ext uri="{FF2B5EF4-FFF2-40B4-BE49-F238E27FC236}">
                <a16:creationId xmlns:a16="http://schemas.microsoft.com/office/drawing/2014/main" id="{7B0390C9-7389-ADC0-3586-B35DA1826941}"/>
              </a:ext>
            </a:extLst>
          </p:cNvPr>
          <p:cNvSpPr/>
          <p:nvPr/>
        </p:nvSpPr>
        <p:spPr>
          <a:xfrm>
            <a:off x="4445000" y="4064000"/>
            <a:ext cx="31115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AEE4A9A0-5BA9-9CA8-1981-BCB46A434A19}"/>
              </a:ext>
            </a:extLst>
          </p:cNvPr>
          <p:cNvSpPr/>
          <p:nvPr/>
        </p:nvSpPr>
        <p:spPr>
          <a:xfrm>
            <a:off x="4445000" y="4064000"/>
            <a:ext cx="76200" cy="15875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2847637-0B09-6689-2E1B-270F5FA65F75}"/>
              </a:ext>
            </a:extLst>
          </p:cNvPr>
          <p:cNvSpPr txBox="1"/>
          <p:nvPr/>
        </p:nvSpPr>
        <p:spPr>
          <a:xfrm>
            <a:off x="4699000" y="4292600"/>
            <a:ext cx="26670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Challenge set</a:t>
            </a:r>
          </a:p>
        </p:txBody>
      </p:sp>
      <p:sp>
        <p:nvSpPr>
          <p:cNvPr id="29" name="TextBox 28">
            <a:extLst>
              <a:ext uri="{FF2B5EF4-FFF2-40B4-BE49-F238E27FC236}">
                <a16:creationId xmlns:a16="http://schemas.microsoft.com/office/drawing/2014/main" id="{EE486722-668E-C45E-93C9-40F302A050C5}"/>
              </a:ext>
            </a:extLst>
          </p:cNvPr>
          <p:cNvSpPr txBox="1"/>
          <p:nvPr/>
        </p:nvSpPr>
        <p:spPr>
          <a:xfrm>
            <a:off x="4699000" y="4762500"/>
            <a:ext cx="26670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Family 09 adds unseen framing, cross-class noise, and deterministic OCR-like corruption.</a:t>
            </a:r>
          </a:p>
        </p:txBody>
      </p:sp>
      <p:sp>
        <p:nvSpPr>
          <p:cNvPr id="30" name="Rectangle: Rounded Corners 29">
            <a:extLst>
              <a:ext uri="{FF2B5EF4-FFF2-40B4-BE49-F238E27FC236}">
                <a16:creationId xmlns:a16="http://schemas.microsoft.com/office/drawing/2014/main" id="{457D423D-9CDE-67BB-A8B7-016ED3B0F877}"/>
              </a:ext>
            </a:extLst>
          </p:cNvPr>
          <p:cNvSpPr/>
          <p:nvPr/>
        </p:nvSpPr>
        <p:spPr>
          <a:xfrm>
            <a:off x="8001000" y="4064000"/>
            <a:ext cx="31115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239E3A7C-B53E-4938-071C-76B02DEF99F5}"/>
              </a:ext>
            </a:extLst>
          </p:cNvPr>
          <p:cNvSpPr/>
          <p:nvPr/>
        </p:nvSpPr>
        <p:spPr>
          <a:xfrm>
            <a:off x="8001000" y="4064000"/>
            <a:ext cx="76200" cy="15875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56B7D5-8D6C-0AB6-629A-471F9D239FE3}"/>
              </a:ext>
            </a:extLst>
          </p:cNvPr>
          <p:cNvSpPr txBox="1"/>
          <p:nvPr/>
        </p:nvSpPr>
        <p:spPr>
          <a:xfrm>
            <a:off x="8255000" y="4292600"/>
            <a:ext cx="26670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Leakage defense</a:t>
            </a:r>
          </a:p>
        </p:txBody>
      </p:sp>
      <p:sp>
        <p:nvSpPr>
          <p:cNvPr id="33" name="TextBox 32">
            <a:extLst>
              <a:ext uri="{FF2B5EF4-FFF2-40B4-BE49-F238E27FC236}">
                <a16:creationId xmlns:a16="http://schemas.microsoft.com/office/drawing/2014/main" id="{70FA24A1-D028-8E36-1F0D-F4543B1D4924}"/>
              </a:ext>
            </a:extLst>
          </p:cNvPr>
          <p:cNvSpPr txBox="1"/>
          <p:nvPr/>
        </p:nvSpPr>
        <p:spPr>
          <a:xfrm>
            <a:off x="8255000" y="4762500"/>
            <a:ext cx="2667000" cy="38472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The loader rejects overlapping case IDs or template-family IDs before training.</a:t>
            </a:r>
          </a:p>
        </p:txBody>
      </p:sp>
    </p:spTree>
    <p:extLst>
      <p:ext uri="{BB962C8B-B14F-4D97-AF65-F5344CB8AC3E}">
        <p14:creationId xmlns:p14="http://schemas.microsoft.com/office/powerpoint/2010/main" val="375952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584D9D-10A1-DDC4-5815-5F0E6EFF00D0}"/>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88F6CCC-F669-C225-50FE-84B915A0CA03}"/>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08  /  MACHINE LEARNING</a:t>
            </a:r>
          </a:p>
        </p:txBody>
      </p:sp>
      <p:sp>
        <p:nvSpPr>
          <p:cNvPr id="4" name="TextBox 3">
            <a:extLst>
              <a:ext uri="{FF2B5EF4-FFF2-40B4-BE49-F238E27FC236}">
                <a16:creationId xmlns:a16="http://schemas.microsoft.com/office/drawing/2014/main" id="{E258714C-1A26-AC91-78E5-8E1A6FA2131F}"/>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Classical baseline: TF-IDF + logistic regression</a:t>
            </a:r>
          </a:p>
        </p:txBody>
      </p:sp>
      <p:sp>
        <p:nvSpPr>
          <p:cNvPr id="5" name="TextBox 4">
            <a:extLst>
              <a:ext uri="{FF2B5EF4-FFF2-40B4-BE49-F238E27FC236}">
                <a16:creationId xmlns:a16="http://schemas.microsoft.com/office/drawing/2014/main" id="{D0297A33-F3C8-E0DC-463E-C14D98DD2899}"/>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 fast, interpretable benchmark before introducing a transformer</a:t>
            </a:r>
          </a:p>
        </p:txBody>
      </p:sp>
      <p:cxnSp>
        <p:nvCxnSpPr>
          <p:cNvPr id="6" name="Straight Connector 5">
            <a:extLst>
              <a:ext uri="{FF2B5EF4-FFF2-40B4-BE49-F238E27FC236}">
                <a16:creationId xmlns:a16="http://schemas.microsoft.com/office/drawing/2014/main" id="{29CA1EF2-CC8F-5132-9514-7EF2A2241E39}"/>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87AB5A4-5E80-344B-AFAB-F55F10D53727}"/>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7587BFC2-1008-85C9-60F4-8D978C3E82C2}"/>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9</a:t>
            </a:r>
          </a:p>
        </p:txBody>
      </p:sp>
      <p:sp>
        <p:nvSpPr>
          <p:cNvPr id="9" name="Rectangle: Rounded Corners 8">
            <a:extLst>
              <a:ext uri="{FF2B5EF4-FFF2-40B4-BE49-F238E27FC236}">
                <a16:creationId xmlns:a16="http://schemas.microsoft.com/office/drawing/2014/main" id="{1909963D-0F20-C752-20CB-361248616C5B}"/>
              </a:ext>
            </a:extLst>
          </p:cNvPr>
          <p:cNvSpPr/>
          <p:nvPr/>
        </p:nvSpPr>
        <p:spPr>
          <a:xfrm>
            <a:off x="698500" y="2222500"/>
            <a:ext cx="1841500" cy="7366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68AC940-118C-847E-D213-9B8DA80F3FF9}"/>
              </a:ext>
            </a:extLst>
          </p:cNvPr>
          <p:cNvSpPr txBox="1"/>
          <p:nvPr/>
        </p:nvSpPr>
        <p:spPr>
          <a:xfrm>
            <a:off x="825500" y="2366419"/>
            <a:ext cx="1587500" cy="192360"/>
          </a:xfrm>
          <a:prstGeom prst="rect">
            <a:avLst/>
          </a:prstGeom>
          <a:noFill/>
        </p:spPr>
        <p:txBody>
          <a:bodyPr vert="horz" wrap="square" lIns="0" tIns="0" rIns="0" bIns="0" rtlCol="0" anchor="ctr">
            <a:spAutoFit/>
          </a:bodyPr>
          <a:lstStyle/>
          <a:p>
            <a:pPr algn="ctr"/>
            <a:r>
              <a:rPr lang="en-US" sz="1250" b="1">
                <a:solidFill>
                  <a:srgbClr val="172B4D"/>
                </a:solidFill>
                <a:latin typeface="Aptos" panose="020B0004020202020204" pitchFamily="34" charset="0"/>
              </a:rPr>
              <a:t>Document text</a:t>
            </a:r>
          </a:p>
        </p:txBody>
      </p:sp>
      <p:cxnSp>
        <p:nvCxnSpPr>
          <p:cNvPr id="11" name="Straight Connector 10">
            <a:extLst>
              <a:ext uri="{FF2B5EF4-FFF2-40B4-BE49-F238E27FC236}">
                <a16:creationId xmlns:a16="http://schemas.microsoft.com/office/drawing/2014/main" id="{86BC8E1A-38EA-06F3-8D20-26A8F6491786}"/>
              </a:ext>
            </a:extLst>
          </p:cNvPr>
          <p:cNvCxnSpPr/>
          <p:nvPr/>
        </p:nvCxnSpPr>
        <p:spPr>
          <a:xfrm>
            <a:off x="2540000" y="2590800"/>
            <a:ext cx="6350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67993C25-49F8-F7E6-D331-6DE3EF5E35F8}"/>
              </a:ext>
            </a:extLst>
          </p:cNvPr>
          <p:cNvSpPr/>
          <p:nvPr/>
        </p:nvSpPr>
        <p:spPr>
          <a:xfrm>
            <a:off x="3175000" y="2133600"/>
            <a:ext cx="2222500" cy="914400"/>
          </a:xfrm>
          <a:prstGeom prst="roundRect">
            <a:avLst/>
          </a:prstGeom>
          <a:solidFill>
            <a:srgbClr val="EAF2FF"/>
          </a:solidFill>
          <a:ln w="12700">
            <a:solidFill>
              <a:srgbClr val="0F62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45731D9-9236-A74B-1E7C-A5466FA86B27}"/>
              </a:ext>
            </a:extLst>
          </p:cNvPr>
          <p:cNvSpPr txBox="1"/>
          <p:nvPr/>
        </p:nvSpPr>
        <p:spPr>
          <a:xfrm>
            <a:off x="3302000" y="2181339"/>
            <a:ext cx="1968500" cy="384721"/>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TF-IDF features
unigrams + bigrams</a:t>
            </a:r>
          </a:p>
        </p:txBody>
      </p:sp>
      <p:cxnSp>
        <p:nvCxnSpPr>
          <p:cNvPr id="14" name="Straight Connector 13">
            <a:extLst>
              <a:ext uri="{FF2B5EF4-FFF2-40B4-BE49-F238E27FC236}">
                <a16:creationId xmlns:a16="http://schemas.microsoft.com/office/drawing/2014/main" id="{B4AE7B5A-BE9C-E832-21FA-438A78D644FA}"/>
              </a:ext>
            </a:extLst>
          </p:cNvPr>
          <p:cNvCxnSpPr/>
          <p:nvPr/>
        </p:nvCxnSpPr>
        <p:spPr>
          <a:xfrm>
            <a:off x="5397500" y="2590800"/>
            <a:ext cx="6350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8D8FCB18-AAE9-9F42-D23D-88D7693FCAD6}"/>
              </a:ext>
            </a:extLst>
          </p:cNvPr>
          <p:cNvSpPr/>
          <p:nvPr/>
        </p:nvSpPr>
        <p:spPr>
          <a:xfrm>
            <a:off x="6032500" y="2133600"/>
            <a:ext cx="2222500" cy="914400"/>
          </a:xfrm>
          <a:prstGeom prst="roundRect">
            <a:avLst/>
          </a:prstGeom>
          <a:solidFill>
            <a:srgbClr val="EAF2FF"/>
          </a:solidFill>
          <a:ln w="12700">
            <a:solidFill>
              <a:srgbClr val="0F62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A88E12A-138D-8229-1A30-F17899E59014}"/>
              </a:ext>
            </a:extLst>
          </p:cNvPr>
          <p:cNvSpPr txBox="1"/>
          <p:nvPr/>
        </p:nvSpPr>
        <p:spPr>
          <a:xfrm>
            <a:off x="6159500" y="2181339"/>
            <a:ext cx="1968500" cy="384721"/>
          </a:xfrm>
          <a:prstGeom prst="rect">
            <a:avLst/>
          </a:prstGeom>
          <a:noFill/>
        </p:spPr>
        <p:txBody>
          <a:bodyPr vert="horz" wrap="square" lIns="0" tIns="0" rIns="0" bIns="0" rtlCol="0" anchor="ctr">
            <a:spAutoFit/>
          </a:bodyPr>
          <a:lstStyle/>
          <a:p>
            <a:pPr algn="ctr"/>
            <a:r>
              <a:rPr lang="en-US" sz="1250" b="1">
                <a:solidFill>
                  <a:srgbClr val="0F62FE"/>
                </a:solidFill>
                <a:latin typeface="Aptos" panose="020B0004020202020204" pitchFamily="34" charset="0"/>
              </a:rPr>
              <a:t>Balanced logistic
regression</a:t>
            </a:r>
          </a:p>
        </p:txBody>
      </p:sp>
      <p:cxnSp>
        <p:nvCxnSpPr>
          <p:cNvPr id="17" name="Straight Connector 16">
            <a:extLst>
              <a:ext uri="{FF2B5EF4-FFF2-40B4-BE49-F238E27FC236}">
                <a16:creationId xmlns:a16="http://schemas.microsoft.com/office/drawing/2014/main" id="{4D24298D-313E-0445-A9A6-BC47F2EB7311}"/>
              </a:ext>
            </a:extLst>
          </p:cNvPr>
          <p:cNvCxnSpPr/>
          <p:nvPr/>
        </p:nvCxnSpPr>
        <p:spPr>
          <a:xfrm>
            <a:off x="8255000" y="2590800"/>
            <a:ext cx="6350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1FB271DB-5C3C-FCDF-2AC5-0F33C5C2C193}"/>
              </a:ext>
            </a:extLst>
          </p:cNvPr>
          <p:cNvSpPr/>
          <p:nvPr/>
        </p:nvSpPr>
        <p:spPr>
          <a:xfrm>
            <a:off x="8890000" y="2133600"/>
            <a:ext cx="2286000" cy="914400"/>
          </a:xfrm>
          <a:prstGeom prst="roundRect">
            <a:avLst/>
          </a:prstGeom>
          <a:solidFill>
            <a:srgbClr val="E8F5EC"/>
          </a:solidFill>
          <a:ln w="12700">
            <a:solidFill>
              <a:srgbClr val="24A1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76C26D0-688E-A13F-00F3-A86643BFCD28}"/>
              </a:ext>
            </a:extLst>
          </p:cNvPr>
          <p:cNvSpPr txBox="1"/>
          <p:nvPr/>
        </p:nvSpPr>
        <p:spPr>
          <a:xfrm>
            <a:off x="9017000" y="2181339"/>
            <a:ext cx="2032000" cy="384721"/>
          </a:xfrm>
          <a:prstGeom prst="rect">
            <a:avLst/>
          </a:prstGeom>
          <a:noFill/>
        </p:spPr>
        <p:txBody>
          <a:bodyPr vert="horz" wrap="square" lIns="0" tIns="0" rIns="0" bIns="0" rtlCol="0" anchor="ctr">
            <a:spAutoFit/>
          </a:bodyPr>
          <a:lstStyle/>
          <a:p>
            <a:pPr algn="ctr"/>
            <a:r>
              <a:rPr lang="en-US" sz="1250" b="1">
                <a:solidFill>
                  <a:srgbClr val="24A148"/>
                </a:solidFill>
                <a:latin typeface="Aptos" panose="020B0004020202020204" pitchFamily="34" charset="0"/>
              </a:rPr>
              <a:t>Class probability +
review route</a:t>
            </a:r>
          </a:p>
        </p:txBody>
      </p:sp>
      <p:sp>
        <p:nvSpPr>
          <p:cNvPr id="20" name="Rectangle: Rounded Corners 19">
            <a:extLst>
              <a:ext uri="{FF2B5EF4-FFF2-40B4-BE49-F238E27FC236}">
                <a16:creationId xmlns:a16="http://schemas.microsoft.com/office/drawing/2014/main" id="{DCEC1D84-7171-377B-C879-3484F08744D5}"/>
              </a:ext>
            </a:extLst>
          </p:cNvPr>
          <p:cNvSpPr/>
          <p:nvPr/>
        </p:nvSpPr>
        <p:spPr>
          <a:xfrm>
            <a:off x="698500" y="3873500"/>
            <a:ext cx="3302000" cy="1714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9C334261-8235-943A-E3D5-2A224C1CB151}"/>
              </a:ext>
            </a:extLst>
          </p:cNvPr>
          <p:cNvSpPr/>
          <p:nvPr/>
        </p:nvSpPr>
        <p:spPr>
          <a:xfrm>
            <a:off x="698500" y="3873500"/>
            <a:ext cx="76200" cy="17145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5630748-0D2A-D9E2-FBC4-912CFF1A7C98}"/>
              </a:ext>
            </a:extLst>
          </p:cNvPr>
          <p:cNvSpPr txBox="1"/>
          <p:nvPr/>
        </p:nvSpPr>
        <p:spPr>
          <a:xfrm>
            <a:off x="952500" y="41021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Feature design</a:t>
            </a:r>
          </a:p>
        </p:txBody>
      </p:sp>
      <p:sp>
        <p:nvSpPr>
          <p:cNvPr id="23" name="TextBox 22">
            <a:extLst>
              <a:ext uri="{FF2B5EF4-FFF2-40B4-BE49-F238E27FC236}">
                <a16:creationId xmlns:a16="http://schemas.microsoft.com/office/drawing/2014/main" id="{827A9560-5B44-5204-9D36-CBAE1161415E}"/>
              </a:ext>
            </a:extLst>
          </p:cNvPr>
          <p:cNvSpPr txBox="1"/>
          <p:nvPr/>
        </p:nvSpPr>
        <p:spPr>
          <a:xfrm>
            <a:off x="952500" y="4572000"/>
            <a:ext cx="2857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Lowercase English text, stop-word removal, 1–2 grams, minimum document frequency 2, sublinear term frequency.</a:t>
            </a:r>
          </a:p>
        </p:txBody>
      </p:sp>
      <p:sp>
        <p:nvSpPr>
          <p:cNvPr id="24" name="Rectangle: Rounded Corners 23">
            <a:extLst>
              <a:ext uri="{FF2B5EF4-FFF2-40B4-BE49-F238E27FC236}">
                <a16:creationId xmlns:a16="http://schemas.microsoft.com/office/drawing/2014/main" id="{EB708E9D-FBEF-D271-F593-648C6C6FE60F}"/>
              </a:ext>
            </a:extLst>
          </p:cNvPr>
          <p:cNvSpPr/>
          <p:nvPr/>
        </p:nvSpPr>
        <p:spPr>
          <a:xfrm>
            <a:off x="4445000" y="3873500"/>
            <a:ext cx="3302000" cy="1714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94C63F1D-5B85-C855-961B-9762CC8A6A3E}"/>
              </a:ext>
            </a:extLst>
          </p:cNvPr>
          <p:cNvSpPr/>
          <p:nvPr/>
        </p:nvSpPr>
        <p:spPr>
          <a:xfrm>
            <a:off x="4445000" y="3873500"/>
            <a:ext cx="76200" cy="17145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3CA3295-6E3E-DDA6-D5F9-9727058294AF}"/>
              </a:ext>
            </a:extLst>
          </p:cNvPr>
          <p:cNvSpPr txBox="1"/>
          <p:nvPr/>
        </p:nvSpPr>
        <p:spPr>
          <a:xfrm>
            <a:off x="4699000" y="41021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Training design</a:t>
            </a:r>
          </a:p>
        </p:txBody>
      </p:sp>
      <p:sp>
        <p:nvSpPr>
          <p:cNvPr id="27" name="TextBox 26">
            <a:extLst>
              <a:ext uri="{FF2B5EF4-FFF2-40B4-BE49-F238E27FC236}">
                <a16:creationId xmlns:a16="http://schemas.microsoft.com/office/drawing/2014/main" id="{3B78B128-6EDD-041B-1CB5-E9B2234D089E}"/>
              </a:ext>
            </a:extLst>
          </p:cNvPr>
          <p:cNvSpPr txBox="1"/>
          <p:nvPr/>
        </p:nvSpPr>
        <p:spPr>
          <a:xfrm>
            <a:off x="4699000" y="4572000"/>
            <a:ext cx="2857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Balanced class weights, maximum 1,000 iterations, random state 42, training split only.</a:t>
            </a:r>
          </a:p>
        </p:txBody>
      </p:sp>
      <p:sp>
        <p:nvSpPr>
          <p:cNvPr id="28" name="Rectangle: Rounded Corners 27">
            <a:extLst>
              <a:ext uri="{FF2B5EF4-FFF2-40B4-BE49-F238E27FC236}">
                <a16:creationId xmlns:a16="http://schemas.microsoft.com/office/drawing/2014/main" id="{5B63E7AB-7161-51F5-9736-0698D8305D22}"/>
              </a:ext>
            </a:extLst>
          </p:cNvPr>
          <p:cNvSpPr/>
          <p:nvPr/>
        </p:nvSpPr>
        <p:spPr>
          <a:xfrm>
            <a:off x="8191500" y="3873500"/>
            <a:ext cx="3302000" cy="1714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173DF23E-44FB-BE86-73C0-EA91FBD5D25F}"/>
              </a:ext>
            </a:extLst>
          </p:cNvPr>
          <p:cNvSpPr/>
          <p:nvPr/>
        </p:nvSpPr>
        <p:spPr>
          <a:xfrm>
            <a:off x="8191500" y="3873500"/>
            <a:ext cx="76200" cy="17145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0AA1412-ECE5-12DF-4385-955DE2C489B0}"/>
              </a:ext>
            </a:extLst>
          </p:cNvPr>
          <p:cNvSpPr txBox="1"/>
          <p:nvPr/>
        </p:nvSpPr>
        <p:spPr>
          <a:xfrm>
            <a:off x="8445500" y="4102100"/>
            <a:ext cx="2857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Decision policy</a:t>
            </a:r>
          </a:p>
        </p:txBody>
      </p:sp>
      <p:sp>
        <p:nvSpPr>
          <p:cNvPr id="31" name="TextBox 30">
            <a:extLst>
              <a:ext uri="{FF2B5EF4-FFF2-40B4-BE49-F238E27FC236}">
                <a16:creationId xmlns:a16="http://schemas.microsoft.com/office/drawing/2014/main" id="{E76BCE8E-BFEC-4655-6C11-38A7BA4FF62E}"/>
              </a:ext>
            </a:extLst>
          </p:cNvPr>
          <p:cNvSpPr txBox="1"/>
          <p:nvPr/>
        </p:nvSpPr>
        <p:spPr>
          <a:xfrm>
            <a:off x="8445500" y="4572000"/>
            <a:ext cx="2857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 0.65 confidence threshold routes uncertain predictions to human review; it is not clinically validated.</a:t>
            </a:r>
          </a:p>
        </p:txBody>
      </p:sp>
    </p:spTree>
    <p:extLst>
      <p:ext uri="{BB962C8B-B14F-4D97-AF65-F5344CB8AC3E}">
        <p14:creationId xmlns:p14="http://schemas.microsoft.com/office/powerpoint/2010/main" val="1508366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B1CB4-3BFE-6365-341E-41F117554E04}"/>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B6625BB-09F5-5D54-2AA6-301B7BD1B02D}"/>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09  /  RESULTS</a:t>
            </a:r>
          </a:p>
        </p:txBody>
      </p:sp>
      <p:sp>
        <p:nvSpPr>
          <p:cNvPr id="4" name="TextBox 3">
            <a:extLst>
              <a:ext uri="{FF2B5EF4-FFF2-40B4-BE49-F238E27FC236}">
                <a16:creationId xmlns:a16="http://schemas.microsoft.com/office/drawing/2014/main" id="{4DD2D2DA-CA4D-F99E-8A7E-C3DCF66447B2}"/>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Classifier performance: strong test, harder challenge</a:t>
            </a:r>
          </a:p>
        </p:txBody>
      </p:sp>
      <p:sp>
        <p:nvSpPr>
          <p:cNvPr id="5" name="TextBox 4">
            <a:extLst>
              <a:ext uri="{FF2B5EF4-FFF2-40B4-BE49-F238E27FC236}">
                <a16:creationId xmlns:a16="http://schemas.microsoft.com/office/drawing/2014/main" id="{FD417ADD-4A90-E7CD-F10F-D16F6C8788CC}"/>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Macro F1 is the primary balanced metric; all values come from reproducible reports</a:t>
            </a:r>
          </a:p>
        </p:txBody>
      </p:sp>
      <p:cxnSp>
        <p:nvCxnSpPr>
          <p:cNvPr id="6" name="Straight Connector 5">
            <a:extLst>
              <a:ext uri="{FF2B5EF4-FFF2-40B4-BE49-F238E27FC236}">
                <a16:creationId xmlns:a16="http://schemas.microsoft.com/office/drawing/2014/main" id="{784206AE-7CA9-A994-352D-F89D3FF6E6A0}"/>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58732DF-00EF-664B-A016-4CFC78F1E30D}"/>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5DF3FE9B-0F70-0573-FA7B-2D4CD2A63ACA}"/>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10</a:t>
            </a:r>
          </a:p>
        </p:txBody>
      </p:sp>
      <p:sp>
        <p:nvSpPr>
          <p:cNvPr id="9" name="Rectangle: Rounded Corners 8">
            <a:extLst>
              <a:ext uri="{FF2B5EF4-FFF2-40B4-BE49-F238E27FC236}">
                <a16:creationId xmlns:a16="http://schemas.microsoft.com/office/drawing/2014/main" id="{9CD1630F-8D18-2B5E-8F21-178BE834F2A3}"/>
              </a:ext>
            </a:extLst>
          </p:cNvPr>
          <p:cNvSpPr/>
          <p:nvPr/>
        </p:nvSpPr>
        <p:spPr>
          <a:xfrm>
            <a:off x="1206500" y="2616200"/>
            <a:ext cx="1651000" cy="2971800"/>
          </a:xfrm>
          <a:prstGeom prst="roundRect">
            <a:avLst/>
          </a:prstGeom>
          <a:solidFill>
            <a:srgbClr val="33B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A66126D-3D1E-CE35-54F0-4F1360EC370F}"/>
              </a:ext>
            </a:extLst>
          </p:cNvPr>
          <p:cNvSpPr txBox="1"/>
          <p:nvPr/>
        </p:nvSpPr>
        <p:spPr>
          <a:xfrm>
            <a:off x="1143000" y="2235200"/>
            <a:ext cx="1778000" cy="323165"/>
          </a:xfrm>
          <a:prstGeom prst="rect">
            <a:avLst/>
          </a:prstGeom>
          <a:noFill/>
        </p:spPr>
        <p:txBody>
          <a:bodyPr vert="horz" wrap="square" lIns="0" tIns="0" rIns="0" bIns="0" rtlCol="0" anchor="t">
            <a:spAutoFit/>
          </a:bodyPr>
          <a:lstStyle/>
          <a:p>
            <a:pPr algn="ctr"/>
            <a:r>
              <a:rPr lang="en-US" sz="2100" b="1">
                <a:solidFill>
                  <a:srgbClr val="33B1FF"/>
                </a:solidFill>
                <a:latin typeface="Aptos" panose="020B0004020202020204" pitchFamily="34" charset="0"/>
              </a:rPr>
              <a:t>93.6%</a:t>
            </a:r>
          </a:p>
        </p:txBody>
      </p:sp>
      <p:sp>
        <p:nvSpPr>
          <p:cNvPr id="11" name="TextBox 10">
            <a:extLst>
              <a:ext uri="{FF2B5EF4-FFF2-40B4-BE49-F238E27FC236}">
                <a16:creationId xmlns:a16="http://schemas.microsoft.com/office/drawing/2014/main" id="{01647B26-5490-ACE6-1795-21012570BE12}"/>
              </a:ext>
            </a:extLst>
          </p:cNvPr>
          <p:cNvSpPr txBox="1"/>
          <p:nvPr/>
        </p:nvSpPr>
        <p:spPr>
          <a:xfrm>
            <a:off x="1143000" y="56896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Validation</a:t>
            </a:r>
          </a:p>
        </p:txBody>
      </p:sp>
      <p:sp>
        <p:nvSpPr>
          <p:cNvPr id="12" name="Rectangle: Rounded Corners 11">
            <a:extLst>
              <a:ext uri="{FF2B5EF4-FFF2-40B4-BE49-F238E27FC236}">
                <a16:creationId xmlns:a16="http://schemas.microsoft.com/office/drawing/2014/main" id="{1CADAA92-8606-8924-C774-09CF48EF9262}"/>
              </a:ext>
            </a:extLst>
          </p:cNvPr>
          <p:cNvSpPr/>
          <p:nvPr/>
        </p:nvSpPr>
        <p:spPr>
          <a:xfrm>
            <a:off x="4508500" y="2479675"/>
            <a:ext cx="1651000" cy="3108325"/>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18683A2-8987-EE86-EF65-F75EDA706BA9}"/>
              </a:ext>
            </a:extLst>
          </p:cNvPr>
          <p:cNvSpPr txBox="1"/>
          <p:nvPr/>
        </p:nvSpPr>
        <p:spPr>
          <a:xfrm>
            <a:off x="4445000" y="2098675"/>
            <a:ext cx="1778000" cy="323165"/>
          </a:xfrm>
          <a:prstGeom prst="rect">
            <a:avLst/>
          </a:prstGeom>
          <a:noFill/>
        </p:spPr>
        <p:txBody>
          <a:bodyPr vert="horz" wrap="square" lIns="0" tIns="0" rIns="0" bIns="0" rtlCol="0" anchor="t">
            <a:spAutoFit/>
          </a:bodyPr>
          <a:lstStyle/>
          <a:p>
            <a:pPr algn="ctr"/>
            <a:r>
              <a:rPr lang="en-US" sz="2100" b="1">
                <a:solidFill>
                  <a:srgbClr val="24A148"/>
                </a:solidFill>
                <a:latin typeface="Aptos" panose="020B0004020202020204" pitchFamily="34" charset="0"/>
              </a:rPr>
              <a:t>97.9%</a:t>
            </a:r>
          </a:p>
        </p:txBody>
      </p:sp>
      <p:sp>
        <p:nvSpPr>
          <p:cNvPr id="14" name="TextBox 13">
            <a:extLst>
              <a:ext uri="{FF2B5EF4-FFF2-40B4-BE49-F238E27FC236}">
                <a16:creationId xmlns:a16="http://schemas.microsoft.com/office/drawing/2014/main" id="{5E534404-A0E3-F91A-9D12-07A55DD05F71}"/>
              </a:ext>
            </a:extLst>
          </p:cNvPr>
          <p:cNvSpPr txBox="1"/>
          <p:nvPr/>
        </p:nvSpPr>
        <p:spPr>
          <a:xfrm>
            <a:off x="4445000" y="56896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Test</a:t>
            </a:r>
          </a:p>
        </p:txBody>
      </p:sp>
      <p:sp>
        <p:nvSpPr>
          <p:cNvPr id="15" name="Rectangle: Rounded Corners 14">
            <a:extLst>
              <a:ext uri="{FF2B5EF4-FFF2-40B4-BE49-F238E27FC236}">
                <a16:creationId xmlns:a16="http://schemas.microsoft.com/office/drawing/2014/main" id="{880E7286-2BAA-A317-7238-0FAE6DCB4E85}"/>
              </a:ext>
            </a:extLst>
          </p:cNvPr>
          <p:cNvSpPr/>
          <p:nvPr/>
        </p:nvSpPr>
        <p:spPr>
          <a:xfrm>
            <a:off x="7810500" y="2679700"/>
            <a:ext cx="1651000" cy="29083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9532961-04E4-5987-9762-01F573CC10BB}"/>
              </a:ext>
            </a:extLst>
          </p:cNvPr>
          <p:cNvSpPr txBox="1"/>
          <p:nvPr/>
        </p:nvSpPr>
        <p:spPr>
          <a:xfrm>
            <a:off x="7747000" y="2298700"/>
            <a:ext cx="1778000" cy="323165"/>
          </a:xfrm>
          <a:prstGeom prst="rect">
            <a:avLst/>
          </a:prstGeom>
          <a:noFill/>
        </p:spPr>
        <p:txBody>
          <a:bodyPr vert="horz" wrap="square" lIns="0" tIns="0" rIns="0" bIns="0" rtlCol="0" anchor="t">
            <a:spAutoFit/>
          </a:bodyPr>
          <a:lstStyle/>
          <a:p>
            <a:pPr algn="ctr"/>
            <a:r>
              <a:rPr lang="en-US" sz="2100" b="1">
                <a:solidFill>
                  <a:srgbClr val="FF832B"/>
                </a:solidFill>
                <a:latin typeface="Aptos" panose="020B0004020202020204" pitchFamily="34" charset="0"/>
              </a:rPr>
              <a:t>91.6%</a:t>
            </a:r>
          </a:p>
        </p:txBody>
      </p:sp>
      <p:sp>
        <p:nvSpPr>
          <p:cNvPr id="17" name="TextBox 16">
            <a:extLst>
              <a:ext uri="{FF2B5EF4-FFF2-40B4-BE49-F238E27FC236}">
                <a16:creationId xmlns:a16="http://schemas.microsoft.com/office/drawing/2014/main" id="{B5FD9091-E0A7-9E44-D5ED-7128F7743189}"/>
              </a:ext>
            </a:extLst>
          </p:cNvPr>
          <p:cNvSpPr txBox="1"/>
          <p:nvPr/>
        </p:nvSpPr>
        <p:spPr>
          <a:xfrm>
            <a:off x="7747000" y="56896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Challenge</a:t>
            </a:r>
          </a:p>
        </p:txBody>
      </p:sp>
      <p:cxnSp>
        <p:nvCxnSpPr>
          <p:cNvPr id="18" name="Straight Connector 17">
            <a:extLst>
              <a:ext uri="{FF2B5EF4-FFF2-40B4-BE49-F238E27FC236}">
                <a16:creationId xmlns:a16="http://schemas.microsoft.com/office/drawing/2014/main" id="{98BA6C60-D587-F7B4-1150-219052D5DE8C}"/>
              </a:ext>
            </a:extLst>
          </p:cNvPr>
          <p:cNvCxnSpPr/>
          <p:nvPr/>
        </p:nvCxnSpPr>
        <p:spPr>
          <a:xfrm>
            <a:off x="762000" y="5588000"/>
            <a:ext cx="10033000" cy="0"/>
          </a:xfrm>
          <a:prstGeom prst="line">
            <a:avLst/>
          </a:prstGeom>
          <a:ln w="19050">
            <a:solidFill>
              <a:srgbClr val="6F7E91"/>
            </a:solidFill>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F7DDC1A3-3009-80E5-9A2B-25BC5A3D49E0}"/>
              </a:ext>
            </a:extLst>
          </p:cNvPr>
          <p:cNvSpPr/>
          <p:nvPr/>
        </p:nvSpPr>
        <p:spPr>
          <a:xfrm>
            <a:off x="9906000" y="2095500"/>
            <a:ext cx="1778000" cy="2159000"/>
          </a:xfrm>
          <a:prstGeom prst="roundRect">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90207C6-1FE8-61BD-0AED-1F315EAA6BA4}"/>
              </a:ext>
            </a:extLst>
          </p:cNvPr>
          <p:cNvSpPr txBox="1"/>
          <p:nvPr/>
        </p:nvSpPr>
        <p:spPr>
          <a:xfrm>
            <a:off x="10160000" y="2387600"/>
            <a:ext cx="1270000" cy="369332"/>
          </a:xfrm>
          <a:prstGeom prst="rect">
            <a:avLst/>
          </a:prstGeom>
          <a:noFill/>
        </p:spPr>
        <p:txBody>
          <a:bodyPr vert="horz" wrap="square" lIns="0" tIns="0" rIns="0" bIns="0" rtlCol="0" anchor="t">
            <a:spAutoFit/>
          </a:bodyPr>
          <a:lstStyle/>
          <a:p>
            <a:pPr algn="ctr"/>
            <a:r>
              <a:rPr lang="en-US" sz="2400" b="1">
                <a:solidFill>
                  <a:srgbClr val="33B1FF"/>
                </a:solidFill>
                <a:latin typeface="Aptos" panose="020B0004020202020204" pitchFamily="34" charset="0"/>
              </a:rPr>
              <a:t>0.004</a:t>
            </a:r>
          </a:p>
        </p:txBody>
      </p:sp>
      <p:sp>
        <p:nvSpPr>
          <p:cNvPr id="21" name="TextBox 20">
            <a:extLst>
              <a:ext uri="{FF2B5EF4-FFF2-40B4-BE49-F238E27FC236}">
                <a16:creationId xmlns:a16="http://schemas.microsoft.com/office/drawing/2014/main" id="{4E4B9EBA-AA06-F83D-0E2B-7538E60DBB19}"/>
              </a:ext>
            </a:extLst>
          </p:cNvPr>
          <p:cNvSpPr txBox="1"/>
          <p:nvPr/>
        </p:nvSpPr>
        <p:spPr>
          <a:xfrm>
            <a:off x="10160000" y="2895600"/>
            <a:ext cx="1270000" cy="169277"/>
          </a:xfrm>
          <a:prstGeom prst="rect">
            <a:avLst/>
          </a:prstGeom>
          <a:noFill/>
        </p:spPr>
        <p:txBody>
          <a:bodyPr vert="horz" wrap="square" lIns="0" tIns="0" rIns="0" bIns="0" rtlCol="0" anchor="t">
            <a:spAutoFit/>
          </a:bodyPr>
          <a:lstStyle/>
          <a:p>
            <a:pPr algn="ctr"/>
            <a:r>
              <a:rPr lang="en-US" sz="1100" b="1">
                <a:solidFill>
                  <a:srgbClr val="FFFFFF"/>
                </a:solidFill>
                <a:latin typeface="Aptos" panose="020B0004020202020204" pitchFamily="34" charset="0"/>
              </a:rPr>
              <a:t>ms / document</a:t>
            </a:r>
          </a:p>
        </p:txBody>
      </p:sp>
      <p:sp>
        <p:nvSpPr>
          <p:cNvPr id="22" name="TextBox 21">
            <a:extLst>
              <a:ext uri="{FF2B5EF4-FFF2-40B4-BE49-F238E27FC236}">
                <a16:creationId xmlns:a16="http://schemas.microsoft.com/office/drawing/2014/main" id="{9FBC8075-F8E1-C949-B108-D25B17E8FAC6}"/>
              </a:ext>
            </a:extLst>
          </p:cNvPr>
          <p:cNvSpPr txBox="1"/>
          <p:nvPr/>
        </p:nvSpPr>
        <p:spPr>
          <a:xfrm>
            <a:off x="10134600" y="3429000"/>
            <a:ext cx="1320800" cy="153888"/>
          </a:xfrm>
          <a:prstGeom prst="rect">
            <a:avLst/>
          </a:prstGeom>
          <a:noFill/>
        </p:spPr>
        <p:txBody>
          <a:bodyPr vert="horz" wrap="square" lIns="0" tIns="0" rIns="0" bIns="0" rtlCol="0" anchor="t">
            <a:spAutoFit/>
          </a:bodyPr>
          <a:lstStyle/>
          <a:p>
            <a:pPr algn="ctr"/>
            <a:r>
              <a:rPr lang="en-US" sz="1000">
                <a:solidFill>
                  <a:srgbClr val="E8EEF5"/>
                </a:solidFill>
                <a:latin typeface="Aptos" panose="020B0004020202020204" pitchFamily="34" charset="0"/>
              </a:rPr>
              <a:t>CPU batch inference</a:t>
            </a:r>
          </a:p>
        </p:txBody>
      </p:sp>
      <p:sp>
        <p:nvSpPr>
          <p:cNvPr id="23" name="Rectangle: Rounded Corners 22">
            <a:extLst>
              <a:ext uri="{FF2B5EF4-FFF2-40B4-BE49-F238E27FC236}">
                <a16:creationId xmlns:a16="http://schemas.microsoft.com/office/drawing/2014/main" id="{8D80D582-E8E0-2EA6-8A2C-9F40774F22DF}"/>
              </a:ext>
            </a:extLst>
          </p:cNvPr>
          <p:cNvSpPr/>
          <p:nvPr/>
        </p:nvSpPr>
        <p:spPr>
          <a:xfrm>
            <a:off x="9601200" y="4635500"/>
            <a:ext cx="21590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8CC8CA3-7ECD-2847-89D7-EEEB5707121E}"/>
              </a:ext>
            </a:extLst>
          </p:cNvPr>
          <p:cNvSpPr txBox="1"/>
          <p:nvPr/>
        </p:nvSpPr>
        <p:spPr>
          <a:xfrm>
            <a:off x="9702800" y="4699000"/>
            <a:ext cx="19558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TEST CONFUSION: 1 / 48</a:t>
            </a:r>
          </a:p>
        </p:txBody>
      </p:sp>
    </p:spTree>
    <p:extLst>
      <p:ext uri="{BB962C8B-B14F-4D97-AF65-F5344CB8AC3E}">
        <p14:creationId xmlns:p14="http://schemas.microsoft.com/office/powerpoint/2010/main" val="2958812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B9378F-7976-C518-AD9A-76093EDE39EE}"/>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0EA26F8-70AD-A46F-899A-811832C00A7F}"/>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10  /  EVALUATION</a:t>
            </a:r>
          </a:p>
        </p:txBody>
      </p:sp>
      <p:sp>
        <p:nvSpPr>
          <p:cNvPr id="4" name="TextBox 3">
            <a:extLst>
              <a:ext uri="{FF2B5EF4-FFF2-40B4-BE49-F238E27FC236}">
                <a16:creationId xmlns:a16="http://schemas.microsoft.com/office/drawing/2014/main" id="{1816C115-EF72-957D-2887-C1573BF4BB33}"/>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Accuracy is not the same as confidence quality</a:t>
            </a:r>
          </a:p>
        </p:txBody>
      </p:sp>
      <p:sp>
        <p:nvSpPr>
          <p:cNvPr id="5" name="TextBox 4">
            <a:extLst>
              <a:ext uri="{FF2B5EF4-FFF2-40B4-BE49-F238E27FC236}">
                <a16:creationId xmlns:a16="http://schemas.microsoft.com/office/drawing/2014/main" id="{909667AE-257B-AD63-B9DB-22CD061C71CE}"/>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Calibration and review-routing reveal the next engineering priority</a:t>
            </a:r>
          </a:p>
        </p:txBody>
      </p:sp>
      <p:cxnSp>
        <p:nvCxnSpPr>
          <p:cNvPr id="6" name="Straight Connector 5">
            <a:extLst>
              <a:ext uri="{FF2B5EF4-FFF2-40B4-BE49-F238E27FC236}">
                <a16:creationId xmlns:a16="http://schemas.microsoft.com/office/drawing/2014/main" id="{E1998770-ACA5-23B4-C5A7-17D3F98C7828}"/>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5862A3A-F1CE-9375-5F23-95C3EAF84053}"/>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37A3B39A-B25F-E6E8-75A4-6EF78318782A}"/>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11</a:t>
            </a:r>
          </a:p>
        </p:txBody>
      </p:sp>
      <p:sp>
        <p:nvSpPr>
          <p:cNvPr id="9" name="Rectangle: Rounded Corners 8">
            <a:extLst>
              <a:ext uri="{FF2B5EF4-FFF2-40B4-BE49-F238E27FC236}">
                <a16:creationId xmlns:a16="http://schemas.microsoft.com/office/drawing/2014/main" id="{41670A99-E25B-61EE-7D7D-B86245739A7A}"/>
              </a:ext>
            </a:extLst>
          </p:cNvPr>
          <p:cNvSpPr/>
          <p:nvPr/>
        </p:nvSpPr>
        <p:spPr>
          <a:xfrm>
            <a:off x="698500" y="1968500"/>
            <a:ext cx="2413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D49656C-94F6-0EAF-5C3B-02A896140CAC}"/>
              </a:ext>
            </a:extLst>
          </p:cNvPr>
          <p:cNvSpPr/>
          <p:nvPr/>
        </p:nvSpPr>
        <p:spPr>
          <a:xfrm>
            <a:off x="698500" y="1968500"/>
            <a:ext cx="76200" cy="16510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F920DD-700F-0074-ADEC-9D1CAA494A37}"/>
              </a:ext>
            </a:extLst>
          </p:cNvPr>
          <p:cNvSpPr txBox="1"/>
          <p:nvPr/>
        </p:nvSpPr>
        <p:spPr>
          <a:xfrm>
            <a:off x="952500" y="2171700"/>
            <a:ext cx="1968500" cy="400110"/>
          </a:xfrm>
          <a:prstGeom prst="rect">
            <a:avLst/>
          </a:prstGeom>
          <a:noFill/>
        </p:spPr>
        <p:txBody>
          <a:bodyPr vert="horz" wrap="square" lIns="0" tIns="0" rIns="0" bIns="0" rtlCol="0" anchor="t">
            <a:spAutoFit/>
          </a:bodyPr>
          <a:lstStyle/>
          <a:p>
            <a:r>
              <a:rPr lang="en-US" sz="2600" b="1">
                <a:solidFill>
                  <a:srgbClr val="24A148"/>
                </a:solidFill>
                <a:latin typeface="Aptos" panose="020B0004020202020204" pitchFamily="34" charset="0"/>
              </a:rPr>
              <a:t>97.9%</a:t>
            </a:r>
          </a:p>
        </p:txBody>
      </p:sp>
      <p:sp>
        <p:nvSpPr>
          <p:cNvPr id="12" name="TextBox 11">
            <a:extLst>
              <a:ext uri="{FF2B5EF4-FFF2-40B4-BE49-F238E27FC236}">
                <a16:creationId xmlns:a16="http://schemas.microsoft.com/office/drawing/2014/main" id="{36BE640D-4905-6BAB-4631-E994329E5A36}"/>
              </a:ext>
            </a:extLst>
          </p:cNvPr>
          <p:cNvSpPr txBox="1"/>
          <p:nvPr/>
        </p:nvSpPr>
        <p:spPr>
          <a:xfrm>
            <a:off x="952500" y="2705100"/>
            <a:ext cx="1968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Test accuracy</a:t>
            </a:r>
          </a:p>
        </p:txBody>
      </p:sp>
      <p:sp>
        <p:nvSpPr>
          <p:cNvPr id="13" name="TextBox 12">
            <a:extLst>
              <a:ext uri="{FF2B5EF4-FFF2-40B4-BE49-F238E27FC236}">
                <a16:creationId xmlns:a16="http://schemas.microsoft.com/office/drawing/2014/main" id="{B111406A-43EE-0E46-C776-F01D67B3F8BE}"/>
              </a:ext>
            </a:extLst>
          </p:cNvPr>
          <p:cNvSpPr txBox="1"/>
          <p:nvPr/>
        </p:nvSpPr>
        <p:spPr>
          <a:xfrm>
            <a:off x="952500" y="3086100"/>
            <a:ext cx="1968500" cy="369332"/>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Correct class prediction on the grouped held-out test set.</a:t>
            </a:r>
          </a:p>
        </p:txBody>
      </p:sp>
      <p:sp>
        <p:nvSpPr>
          <p:cNvPr id="14" name="Rectangle: Rounded Corners 13">
            <a:extLst>
              <a:ext uri="{FF2B5EF4-FFF2-40B4-BE49-F238E27FC236}">
                <a16:creationId xmlns:a16="http://schemas.microsoft.com/office/drawing/2014/main" id="{F386CB14-9C9E-7767-9B8C-AED6C2AD9EE1}"/>
              </a:ext>
            </a:extLst>
          </p:cNvPr>
          <p:cNvSpPr/>
          <p:nvPr/>
        </p:nvSpPr>
        <p:spPr>
          <a:xfrm>
            <a:off x="3429000" y="1968500"/>
            <a:ext cx="2413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3C6938A-4E89-A8F9-AA51-17F233629B8E}"/>
              </a:ext>
            </a:extLst>
          </p:cNvPr>
          <p:cNvSpPr/>
          <p:nvPr/>
        </p:nvSpPr>
        <p:spPr>
          <a:xfrm>
            <a:off x="3429000" y="1968500"/>
            <a:ext cx="76200" cy="1651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06AFACE-EB6E-2AC3-FB46-1139933E9CB1}"/>
              </a:ext>
            </a:extLst>
          </p:cNvPr>
          <p:cNvSpPr txBox="1"/>
          <p:nvPr/>
        </p:nvSpPr>
        <p:spPr>
          <a:xfrm>
            <a:off x="3683000" y="2171700"/>
            <a:ext cx="1968500" cy="400110"/>
          </a:xfrm>
          <a:prstGeom prst="rect">
            <a:avLst/>
          </a:prstGeom>
          <a:noFill/>
        </p:spPr>
        <p:txBody>
          <a:bodyPr vert="horz" wrap="square" lIns="0" tIns="0" rIns="0" bIns="0" rtlCol="0" anchor="t">
            <a:spAutoFit/>
          </a:bodyPr>
          <a:lstStyle/>
          <a:p>
            <a:r>
              <a:rPr lang="en-US" sz="2600" b="1">
                <a:solidFill>
                  <a:srgbClr val="0F62FE"/>
                </a:solidFill>
                <a:latin typeface="Aptos" panose="020B0004020202020204" pitchFamily="34" charset="0"/>
              </a:rPr>
              <a:t>56.1%</a:t>
            </a:r>
          </a:p>
        </p:txBody>
      </p:sp>
      <p:sp>
        <p:nvSpPr>
          <p:cNvPr id="17" name="TextBox 16">
            <a:extLst>
              <a:ext uri="{FF2B5EF4-FFF2-40B4-BE49-F238E27FC236}">
                <a16:creationId xmlns:a16="http://schemas.microsoft.com/office/drawing/2014/main" id="{59BC5792-C53D-0A07-158E-CEAC8C50C845}"/>
              </a:ext>
            </a:extLst>
          </p:cNvPr>
          <p:cNvSpPr txBox="1"/>
          <p:nvPr/>
        </p:nvSpPr>
        <p:spPr>
          <a:xfrm>
            <a:off x="3683000" y="2705100"/>
            <a:ext cx="1968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Mean confidence</a:t>
            </a:r>
          </a:p>
        </p:txBody>
      </p:sp>
      <p:sp>
        <p:nvSpPr>
          <p:cNvPr id="18" name="TextBox 17">
            <a:extLst>
              <a:ext uri="{FF2B5EF4-FFF2-40B4-BE49-F238E27FC236}">
                <a16:creationId xmlns:a16="http://schemas.microsoft.com/office/drawing/2014/main" id="{D0AD3356-B561-3EE0-8184-7EA174ECAE0D}"/>
              </a:ext>
            </a:extLst>
          </p:cNvPr>
          <p:cNvSpPr txBox="1"/>
          <p:nvPr/>
        </p:nvSpPr>
        <p:spPr>
          <a:xfrm>
            <a:off x="3683000" y="3086100"/>
            <a:ext cx="1968500" cy="369332"/>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Average maximum probability despite strong accuracy.</a:t>
            </a:r>
          </a:p>
        </p:txBody>
      </p:sp>
      <p:sp>
        <p:nvSpPr>
          <p:cNvPr id="19" name="Rectangle: Rounded Corners 18">
            <a:extLst>
              <a:ext uri="{FF2B5EF4-FFF2-40B4-BE49-F238E27FC236}">
                <a16:creationId xmlns:a16="http://schemas.microsoft.com/office/drawing/2014/main" id="{8A850576-A220-3B40-A79A-0E7FF4A4B4F8}"/>
              </a:ext>
            </a:extLst>
          </p:cNvPr>
          <p:cNvSpPr/>
          <p:nvPr/>
        </p:nvSpPr>
        <p:spPr>
          <a:xfrm>
            <a:off x="6159500" y="1968500"/>
            <a:ext cx="2413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55FF584-F322-3709-B987-7C3460B44A93}"/>
              </a:ext>
            </a:extLst>
          </p:cNvPr>
          <p:cNvSpPr/>
          <p:nvPr/>
        </p:nvSpPr>
        <p:spPr>
          <a:xfrm>
            <a:off x="6159500" y="1968500"/>
            <a:ext cx="76200" cy="1651000"/>
          </a:xfrm>
          <a:prstGeom prst="roundRect">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6188615-21AC-3224-9AB1-C07EF33ECBEC}"/>
              </a:ext>
            </a:extLst>
          </p:cNvPr>
          <p:cNvSpPr txBox="1"/>
          <p:nvPr/>
        </p:nvSpPr>
        <p:spPr>
          <a:xfrm>
            <a:off x="6413500" y="2171700"/>
            <a:ext cx="1968500" cy="400110"/>
          </a:xfrm>
          <a:prstGeom prst="rect">
            <a:avLst/>
          </a:prstGeom>
          <a:noFill/>
        </p:spPr>
        <p:txBody>
          <a:bodyPr vert="horz" wrap="square" lIns="0" tIns="0" rIns="0" bIns="0" rtlCol="0" anchor="t">
            <a:spAutoFit/>
          </a:bodyPr>
          <a:lstStyle/>
          <a:p>
            <a:r>
              <a:rPr lang="en-US" sz="2600" b="1">
                <a:solidFill>
                  <a:srgbClr val="DA1E28"/>
                </a:solidFill>
                <a:latin typeface="Aptos" panose="020B0004020202020204" pitchFamily="34" charset="0"/>
              </a:rPr>
              <a:t>0.418</a:t>
            </a:r>
          </a:p>
        </p:txBody>
      </p:sp>
      <p:sp>
        <p:nvSpPr>
          <p:cNvPr id="22" name="TextBox 21">
            <a:extLst>
              <a:ext uri="{FF2B5EF4-FFF2-40B4-BE49-F238E27FC236}">
                <a16:creationId xmlns:a16="http://schemas.microsoft.com/office/drawing/2014/main" id="{0AD9CC0A-380E-A228-6D4D-CB8294635DC6}"/>
              </a:ext>
            </a:extLst>
          </p:cNvPr>
          <p:cNvSpPr txBox="1"/>
          <p:nvPr/>
        </p:nvSpPr>
        <p:spPr>
          <a:xfrm>
            <a:off x="6413500" y="2705100"/>
            <a:ext cx="1968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Calibration error</a:t>
            </a:r>
          </a:p>
        </p:txBody>
      </p:sp>
      <p:sp>
        <p:nvSpPr>
          <p:cNvPr id="23" name="TextBox 22">
            <a:extLst>
              <a:ext uri="{FF2B5EF4-FFF2-40B4-BE49-F238E27FC236}">
                <a16:creationId xmlns:a16="http://schemas.microsoft.com/office/drawing/2014/main" id="{427265E2-6CB7-589D-C0F6-386DE2E5B003}"/>
              </a:ext>
            </a:extLst>
          </p:cNvPr>
          <p:cNvSpPr txBox="1"/>
          <p:nvPr/>
        </p:nvSpPr>
        <p:spPr>
          <a:xfrm>
            <a:off x="6413500" y="3086100"/>
            <a:ext cx="1968500" cy="369332"/>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10-bin expected calibration error; lower is better.</a:t>
            </a:r>
          </a:p>
        </p:txBody>
      </p:sp>
      <p:sp>
        <p:nvSpPr>
          <p:cNvPr id="24" name="Rectangle: Rounded Corners 23">
            <a:extLst>
              <a:ext uri="{FF2B5EF4-FFF2-40B4-BE49-F238E27FC236}">
                <a16:creationId xmlns:a16="http://schemas.microsoft.com/office/drawing/2014/main" id="{D66DD030-D7D1-952B-0A92-A1CCBCDEB7B9}"/>
              </a:ext>
            </a:extLst>
          </p:cNvPr>
          <p:cNvSpPr/>
          <p:nvPr/>
        </p:nvSpPr>
        <p:spPr>
          <a:xfrm>
            <a:off x="8890000" y="1968500"/>
            <a:ext cx="2413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0EFCFF9-5B9F-3B1B-CAE3-671DA0F3F3FB}"/>
              </a:ext>
            </a:extLst>
          </p:cNvPr>
          <p:cNvSpPr/>
          <p:nvPr/>
        </p:nvSpPr>
        <p:spPr>
          <a:xfrm>
            <a:off x="8890000" y="1968500"/>
            <a:ext cx="76200" cy="16510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4DF6E33-EF3A-1BA1-3A67-71738BE11C53}"/>
              </a:ext>
            </a:extLst>
          </p:cNvPr>
          <p:cNvSpPr txBox="1"/>
          <p:nvPr/>
        </p:nvSpPr>
        <p:spPr>
          <a:xfrm>
            <a:off x="9144000" y="2171700"/>
            <a:ext cx="1968500" cy="400110"/>
          </a:xfrm>
          <a:prstGeom prst="rect">
            <a:avLst/>
          </a:prstGeom>
          <a:noFill/>
        </p:spPr>
        <p:txBody>
          <a:bodyPr vert="horz" wrap="square" lIns="0" tIns="0" rIns="0" bIns="0" rtlCol="0" anchor="t">
            <a:spAutoFit/>
          </a:bodyPr>
          <a:lstStyle/>
          <a:p>
            <a:r>
              <a:rPr lang="en-US" sz="2600" b="1">
                <a:solidFill>
                  <a:srgbClr val="FF832B"/>
                </a:solidFill>
                <a:latin typeface="Aptos" panose="020B0004020202020204" pitchFamily="34" charset="0"/>
              </a:rPr>
              <a:t>68.8%</a:t>
            </a:r>
          </a:p>
        </p:txBody>
      </p:sp>
      <p:sp>
        <p:nvSpPr>
          <p:cNvPr id="27" name="TextBox 26">
            <a:extLst>
              <a:ext uri="{FF2B5EF4-FFF2-40B4-BE49-F238E27FC236}">
                <a16:creationId xmlns:a16="http://schemas.microsoft.com/office/drawing/2014/main" id="{E73A435C-0C88-CFD1-0AD3-6A842EF5D74A}"/>
              </a:ext>
            </a:extLst>
          </p:cNvPr>
          <p:cNvSpPr txBox="1"/>
          <p:nvPr/>
        </p:nvSpPr>
        <p:spPr>
          <a:xfrm>
            <a:off x="9144000" y="2705100"/>
            <a:ext cx="1968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Review routing</a:t>
            </a:r>
          </a:p>
        </p:txBody>
      </p:sp>
      <p:sp>
        <p:nvSpPr>
          <p:cNvPr id="28" name="TextBox 27">
            <a:extLst>
              <a:ext uri="{FF2B5EF4-FFF2-40B4-BE49-F238E27FC236}">
                <a16:creationId xmlns:a16="http://schemas.microsoft.com/office/drawing/2014/main" id="{F9F67AE2-E984-FD1A-C846-A2C7BB59A673}"/>
              </a:ext>
            </a:extLst>
          </p:cNvPr>
          <p:cNvSpPr txBox="1"/>
          <p:nvPr/>
        </p:nvSpPr>
        <p:spPr>
          <a:xfrm>
            <a:off x="9144000" y="3086100"/>
            <a:ext cx="1968500" cy="369332"/>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Predictions below the 0.65 threshold.</a:t>
            </a:r>
          </a:p>
        </p:txBody>
      </p:sp>
      <p:sp>
        <p:nvSpPr>
          <p:cNvPr id="29" name="Rectangle: Rounded Corners 28">
            <a:extLst>
              <a:ext uri="{FF2B5EF4-FFF2-40B4-BE49-F238E27FC236}">
                <a16:creationId xmlns:a16="http://schemas.microsoft.com/office/drawing/2014/main" id="{0E4D74A3-C43D-B1C6-EB71-F5B4EFC01329}"/>
              </a:ext>
            </a:extLst>
          </p:cNvPr>
          <p:cNvSpPr/>
          <p:nvPr/>
        </p:nvSpPr>
        <p:spPr>
          <a:xfrm>
            <a:off x="698500" y="4127500"/>
            <a:ext cx="10604500" cy="14605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B04DA52-409F-3F67-BB50-59CE18AE137A}"/>
              </a:ext>
            </a:extLst>
          </p:cNvPr>
          <p:cNvSpPr txBox="1"/>
          <p:nvPr/>
        </p:nvSpPr>
        <p:spPr>
          <a:xfrm>
            <a:off x="990600" y="4381500"/>
            <a:ext cx="3175000" cy="200055"/>
          </a:xfrm>
          <a:prstGeom prst="rect">
            <a:avLst/>
          </a:prstGeom>
          <a:noFill/>
        </p:spPr>
        <p:txBody>
          <a:bodyPr vert="horz" wrap="square" lIns="0" tIns="0" rIns="0" bIns="0" rtlCol="0" anchor="t">
            <a:spAutoFit/>
          </a:bodyPr>
          <a:lstStyle/>
          <a:p>
            <a:r>
              <a:rPr lang="en-US" sz="1300" b="1">
                <a:solidFill>
                  <a:srgbClr val="FF832B"/>
                </a:solidFill>
                <a:latin typeface="Aptos" panose="020B0004020202020204" pitchFamily="34" charset="0"/>
              </a:rPr>
              <a:t>Engineering interpretation</a:t>
            </a:r>
          </a:p>
        </p:txBody>
      </p:sp>
      <p:sp>
        <p:nvSpPr>
          <p:cNvPr id="31" name="TextBox 30">
            <a:extLst>
              <a:ext uri="{FF2B5EF4-FFF2-40B4-BE49-F238E27FC236}">
                <a16:creationId xmlns:a16="http://schemas.microsoft.com/office/drawing/2014/main" id="{79010D19-BA8C-00EA-B1E7-1EABEE6EFD14}"/>
              </a:ext>
            </a:extLst>
          </p:cNvPr>
          <p:cNvSpPr txBox="1"/>
          <p:nvPr/>
        </p:nvSpPr>
        <p:spPr>
          <a:xfrm>
            <a:off x="990600" y="4800600"/>
            <a:ext cx="9906000" cy="553998"/>
          </a:xfrm>
          <a:prstGeom prst="rect">
            <a:avLst/>
          </a:prstGeom>
          <a:noFill/>
        </p:spPr>
        <p:txBody>
          <a:bodyPr vert="horz" wrap="square" lIns="0" tIns="0" rIns="0" bIns="0" rtlCol="0" anchor="t">
            <a:spAutoFit/>
          </a:bodyPr>
          <a:lstStyle/>
          <a:p>
            <a:r>
              <a:rPr lang="en-US" b="1">
                <a:solidFill>
                  <a:srgbClr val="071B33"/>
                </a:solidFill>
                <a:latin typeface="Aptos" panose="020B0004020202020204" pitchFamily="34" charset="0"/>
              </a:rPr>
              <a:t>The classifier is often correct but under-confident. Probability calibration and threshold selection matter more next than chasing a higher headline accuracy.</a:t>
            </a:r>
          </a:p>
        </p:txBody>
      </p:sp>
    </p:spTree>
    <p:extLst>
      <p:ext uri="{BB962C8B-B14F-4D97-AF65-F5344CB8AC3E}">
        <p14:creationId xmlns:p14="http://schemas.microsoft.com/office/powerpoint/2010/main" val="2916574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F9AB8F-D569-D03E-7DA8-3D5695F9B0AD}"/>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BF58758-630B-5CFA-3F59-6F704F802418}"/>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11  /  CORE INTELLIGENCE</a:t>
            </a:r>
          </a:p>
        </p:txBody>
      </p:sp>
      <p:sp>
        <p:nvSpPr>
          <p:cNvPr id="4" name="TextBox 3">
            <a:extLst>
              <a:ext uri="{FF2B5EF4-FFF2-40B4-BE49-F238E27FC236}">
                <a16:creationId xmlns:a16="http://schemas.microsoft.com/office/drawing/2014/main" id="{BC83B1B4-14AC-B818-1D12-74B535A4A683}"/>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Criteria-to-evidence matching uses a five-state contract</a:t>
            </a:r>
          </a:p>
        </p:txBody>
      </p:sp>
      <p:sp>
        <p:nvSpPr>
          <p:cNvPr id="5" name="TextBox 4">
            <a:extLst>
              <a:ext uri="{FF2B5EF4-FFF2-40B4-BE49-F238E27FC236}">
                <a16:creationId xmlns:a16="http://schemas.microsoft.com/office/drawing/2014/main" id="{83E33AFE-8199-1C6C-231D-A86F2C783DC6}"/>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Deterministic rules first; ambiguity is represented instead of guessed</a:t>
            </a:r>
          </a:p>
        </p:txBody>
      </p:sp>
      <p:cxnSp>
        <p:nvCxnSpPr>
          <p:cNvPr id="6" name="Straight Connector 5">
            <a:extLst>
              <a:ext uri="{FF2B5EF4-FFF2-40B4-BE49-F238E27FC236}">
                <a16:creationId xmlns:a16="http://schemas.microsoft.com/office/drawing/2014/main" id="{B582FDE6-18FA-2799-3CFD-010CC5266B41}"/>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9A53271-752C-0B8D-AAA9-6725CA78BD86}"/>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1493AE71-3036-9910-EC2D-DCCDD244352C}"/>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12</a:t>
            </a:r>
          </a:p>
        </p:txBody>
      </p:sp>
      <p:sp>
        <p:nvSpPr>
          <p:cNvPr id="9" name="Rectangle: Rounded Corners 8">
            <a:extLst>
              <a:ext uri="{FF2B5EF4-FFF2-40B4-BE49-F238E27FC236}">
                <a16:creationId xmlns:a16="http://schemas.microsoft.com/office/drawing/2014/main" id="{234F4B6D-F19E-1A12-4D30-BF93E8EE1263}"/>
              </a:ext>
            </a:extLst>
          </p:cNvPr>
          <p:cNvSpPr/>
          <p:nvPr/>
        </p:nvSpPr>
        <p:spPr>
          <a:xfrm>
            <a:off x="698500" y="1905000"/>
            <a:ext cx="19050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8A1D22B-B108-FBE6-0B7A-2BC27AE7FDC6}"/>
              </a:ext>
            </a:extLst>
          </p:cNvPr>
          <p:cNvSpPr txBox="1"/>
          <p:nvPr/>
        </p:nvSpPr>
        <p:spPr>
          <a:xfrm>
            <a:off x="800100" y="1968500"/>
            <a:ext cx="17018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SATISFIED</a:t>
            </a:r>
          </a:p>
        </p:txBody>
      </p:sp>
      <p:sp>
        <p:nvSpPr>
          <p:cNvPr id="11" name="Rectangle: Rounded Corners 10">
            <a:extLst>
              <a:ext uri="{FF2B5EF4-FFF2-40B4-BE49-F238E27FC236}">
                <a16:creationId xmlns:a16="http://schemas.microsoft.com/office/drawing/2014/main" id="{3631DEA3-BF2E-EDA0-17FB-6D8AAC15C5E9}"/>
              </a:ext>
            </a:extLst>
          </p:cNvPr>
          <p:cNvSpPr/>
          <p:nvPr/>
        </p:nvSpPr>
        <p:spPr>
          <a:xfrm>
            <a:off x="2857500" y="1905000"/>
            <a:ext cx="1905000" cy="304800"/>
          </a:xfrm>
          <a:prstGeom prst="roundRect">
            <a:avLst/>
          </a:prstGeom>
          <a:solidFill>
            <a:srgbClr val="FDEC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9B479AB-82DB-937B-8835-E06B3C71BA87}"/>
              </a:ext>
            </a:extLst>
          </p:cNvPr>
          <p:cNvSpPr txBox="1"/>
          <p:nvPr/>
        </p:nvSpPr>
        <p:spPr>
          <a:xfrm>
            <a:off x="2959100" y="1968500"/>
            <a:ext cx="1701800" cy="153888"/>
          </a:xfrm>
          <a:prstGeom prst="rect">
            <a:avLst/>
          </a:prstGeom>
          <a:noFill/>
        </p:spPr>
        <p:txBody>
          <a:bodyPr vert="horz" wrap="square" lIns="0" tIns="0" rIns="0" bIns="0" rtlCol="0" anchor="t">
            <a:spAutoFit/>
          </a:bodyPr>
          <a:lstStyle/>
          <a:p>
            <a:pPr algn="ctr"/>
            <a:r>
              <a:rPr lang="en-US" sz="1000" b="1">
                <a:solidFill>
                  <a:srgbClr val="DA1E28"/>
                </a:solidFill>
                <a:latin typeface="Aptos" panose="020B0004020202020204" pitchFamily="34" charset="0"/>
              </a:rPr>
              <a:t>NOT SATISFIED</a:t>
            </a:r>
          </a:p>
        </p:txBody>
      </p:sp>
      <p:sp>
        <p:nvSpPr>
          <p:cNvPr id="13" name="Rectangle: Rounded Corners 12">
            <a:extLst>
              <a:ext uri="{FF2B5EF4-FFF2-40B4-BE49-F238E27FC236}">
                <a16:creationId xmlns:a16="http://schemas.microsoft.com/office/drawing/2014/main" id="{4B543E0C-C6EE-890F-6F3B-0A954F3F0629}"/>
              </a:ext>
            </a:extLst>
          </p:cNvPr>
          <p:cNvSpPr/>
          <p:nvPr/>
        </p:nvSpPr>
        <p:spPr>
          <a:xfrm>
            <a:off x="5016500" y="1905000"/>
            <a:ext cx="19050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8C968A8-29C9-3224-B782-25C201E9D3EC}"/>
              </a:ext>
            </a:extLst>
          </p:cNvPr>
          <p:cNvSpPr txBox="1"/>
          <p:nvPr/>
        </p:nvSpPr>
        <p:spPr>
          <a:xfrm>
            <a:off x="5118100" y="1968500"/>
            <a:ext cx="17018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MISSING</a:t>
            </a:r>
          </a:p>
        </p:txBody>
      </p:sp>
      <p:sp>
        <p:nvSpPr>
          <p:cNvPr id="15" name="Rectangle: Rounded Corners 14">
            <a:extLst>
              <a:ext uri="{FF2B5EF4-FFF2-40B4-BE49-F238E27FC236}">
                <a16:creationId xmlns:a16="http://schemas.microsoft.com/office/drawing/2014/main" id="{A49783FD-C0A5-DCC6-15F5-FEDAFF70FC0D}"/>
              </a:ext>
            </a:extLst>
          </p:cNvPr>
          <p:cNvSpPr/>
          <p:nvPr/>
        </p:nvSpPr>
        <p:spPr>
          <a:xfrm>
            <a:off x="7175500" y="1905000"/>
            <a:ext cx="1905000" cy="304800"/>
          </a:xfrm>
          <a:prstGeom prst="roundRect">
            <a:avLst/>
          </a:prstGeom>
          <a:solidFill>
            <a:srgbClr val="EA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F409EB2-2ECF-EAE8-35E8-300799DA08C3}"/>
              </a:ext>
            </a:extLst>
          </p:cNvPr>
          <p:cNvSpPr txBox="1"/>
          <p:nvPr/>
        </p:nvSpPr>
        <p:spPr>
          <a:xfrm>
            <a:off x="7277100" y="1968500"/>
            <a:ext cx="1701800" cy="153888"/>
          </a:xfrm>
          <a:prstGeom prst="rect">
            <a:avLst/>
          </a:prstGeom>
          <a:noFill/>
        </p:spPr>
        <p:txBody>
          <a:bodyPr vert="horz" wrap="square" lIns="0" tIns="0" rIns="0" bIns="0" rtlCol="0" anchor="t">
            <a:spAutoFit/>
          </a:bodyPr>
          <a:lstStyle/>
          <a:p>
            <a:pPr algn="ctr"/>
            <a:r>
              <a:rPr lang="en-US" sz="1000" b="1">
                <a:solidFill>
                  <a:srgbClr val="8A3FFC"/>
                </a:solidFill>
                <a:latin typeface="Aptos" panose="020B0004020202020204" pitchFamily="34" charset="0"/>
              </a:rPr>
              <a:t>AMBIGUOUS</a:t>
            </a:r>
          </a:p>
        </p:txBody>
      </p:sp>
      <p:sp>
        <p:nvSpPr>
          <p:cNvPr id="17" name="Rectangle: Rounded Corners 16">
            <a:extLst>
              <a:ext uri="{FF2B5EF4-FFF2-40B4-BE49-F238E27FC236}">
                <a16:creationId xmlns:a16="http://schemas.microsoft.com/office/drawing/2014/main" id="{4705514A-128D-E0D1-888E-00C3CA53F61E}"/>
              </a:ext>
            </a:extLst>
          </p:cNvPr>
          <p:cNvSpPr/>
          <p:nvPr/>
        </p:nvSpPr>
        <p:spPr>
          <a:xfrm>
            <a:off x="9334500" y="1905000"/>
            <a:ext cx="1905000" cy="304800"/>
          </a:xfrm>
          <a:prstGeom prst="roundRect">
            <a:avLst/>
          </a:prstGeom>
          <a:solidFill>
            <a:srgbClr val="EA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138D2B7-7CA5-3206-677A-73BD24F7D7F8}"/>
              </a:ext>
            </a:extLst>
          </p:cNvPr>
          <p:cNvSpPr txBox="1"/>
          <p:nvPr/>
        </p:nvSpPr>
        <p:spPr>
          <a:xfrm>
            <a:off x="9436100" y="1968500"/>
            <a:ext cx="1701800" cy="153888"/>
          </a:xfrm>
          <a:prstGeom prst="rect">
            <a:avLst/>
          </a:prstGeom>
          <a:noFill/>
        </p:spPr>
        <p:txBody>
          <a:bodyPr vert="horz" wrap="square" lIns="0" tIns="0" rIns="0" bIns="0" rtlCol="0" anchor="t">
            <a:spAutoFit/>
          </a:bodyPr>
          <a:lstStyle/>
          <a:p>
            <a:pPr algn="ctr"/>
            <a:r>
              <a:rPr lang="en-US" sz="1000" b="1">
                <a:solidFill>
                  <a:srgbClr val="0F62FE"/>
                </a:solidFill>
                <a:latin typeface="Aptos" panose="020B0004020202020204" pitchFamily="34" charset="0"/>
              </a:rPr>
              <a:t>HUMAN REVIEW</a:t>
            </a:r>
          </a:p>
        </p:txBody>
      </p:sp>
      <p:sp>
        <p:nvSpPr>
          <p:cNvPr id="19" name="Rectangle: Rounded Corners 18">
            <a:extLst>
              <a:ext uri="{FF2B5EF4-FFF2-40B4-BE49-F238E27FC236}">
                <a16:creationId xmlns:a16="http://schemas.microsoft.com/office/drawing/2014/main" id="{E74AB8D3-7E19-F323-B656-64E7ED072C22}"/>
              </a:ext>
            </a:extLst>
          </p:cNvPr>
          <p:cNvSpPr/>
          <p:nvPr/>
        </p:nvSpPr>
        <p:spPr>
          <a:xfrm>
            <a:off x="698500" y="2667000"/>
            <a:ext cx="10795000" cy="2794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2D8D5C1-F7A0-132F-7A46-4273B1A6D385}"/>
              </a:ext>
            </a:extLst>
          </p:cNvPr>
          <p:cNvSpPr txBox="1"/>
          <p:nvPr/>
        </p:nvSpPr>
        <p:spPr>
          <a:xfrm>
            <a:off x="990600" y="2984500"/>
            <a:ext cx="1651000" cy="169277"/>
          </a:xfrm>
          <a:prstGeom prst="rect">
            <a:avLst/>
          </a:prstGeom>
          <a:noFill/>
        </p:spPr>
        <p:txBody>
          <a:bodyPr vert="horz" wrap="square" lIns="0" tIns="0" rIns="0" bIns="0" rtlCol="0" anchor="t">
            <a:spAutoFit/>
          </a:bodyPr>
          <a:lstStyle/>
          <a:p>
            <a:r>
              <a:rPr lang="en-US" sz="1100" b="1">
                <a:solidFill>
                  <a:srgbClr val="6F7E91"/>
                </a:solidFill>
                <a:latin typeface="Aptos" panose="020B0004020202020204" pitchFamily="34" charset="0"/>
              </a:rPr>
              <a:t>Policy rule</a:t>
            </a:r>
          </a:p>
        </p:txBody>
      </p:sp>
      <p:sp>
        <p:nvSpPr>
          <p:cNvPr id="21" name="TextBox 20">
            <a:extLst>
              <a:ext uri="{FF2B5EF4-FFF2-40B4-BE49-F238E27FC236}">
                <a16:creationId xmlns:a16="http://schemas.microsoft.com/office/drawing/2014/main" id="{AE951B7B-15ED-F247-9020-37AD4DB2A4EC}"/>
              </a:ext>
            </a:extLst>
          </p:cNvPr>
          <p:cNvSpPr txBox="1"/>
          <p:nvPr/>
        </p:nvSpPr>
        <p:spPr>
          <a:xfrm>
            <a:off x="990600" y="3340100"/>
            <a:ext cx="3175000" cy="276999"/>
          </a:xfrm>
          <a:prstGeom prst="rect">
            <a:avLst/>
          </a:prstGeom>
          <a:noFill/>
        </p:spPr>
        <p:txBody>
          <a:bodyPr vert="horz" wrap="square" lIns="0" tIns="0" rIns="0" bIns="0" rtlCol="0" anchor="t">
            <a:spAutoFit/>
          </a:bodyPr>
          <a:lstStyle/>
          <a:p>
            <a:r>
              <a:rPr lang="en-US" b="1">
                <a:solidFill>
                  <a:srgbClr val="071B33"/>
                </a:solidFill>
                <a:latin typeface="Aptos" panose="020B0004020202020204" pitchFamily="34" charset="0"/>
              </a:rPr>
              <a:t>At least 12 weeks of Drug A</a:t>
            </a:r>
          </a:p>
        </p:txBody>
      </p:sp>
      <p:sp>
        <p:nvSpPr>
          <p:cNvPr id="22" name="TextBox 21">
            <a:extLst>
              <a:ext uri="{FF2B5EF4-FFF2-40B4-BE49-F238E27FC236}">
                <a16:creationId xmlns:a16="http://schemas.microsoft.com/office/drawing/2014/main" id="{F0932232-C91F-7CDD-5B60-13F09E930C54}"/>
              </a:ext>
            </a:extLst>
          </p:cNvPr>
          <p:cNvSpPr txBox="1"/>
          <p:nvPr/>
        </p:nvSpPr>
        <p:spPr>
          <a:xfrm>
            <a:off x="4635500" y="2984500"/>
            <a:ext cx="1905000" cy="169277"/>
          </a:xfrm>
          <a:prstGeom prst="rect">
            <a:avLst/>
          </a:prstGeom>
          <a:noFill/>
        </p:spPr>
        <p:txBody>
          <a:bodyPr vert="horz" wrap="square" lIns="0" tIns="0" rIns="0" bIns="0" rtlCol="0" anchor="t">
            <a:spAutoFit/>
          </a:bodyPr>
          <a:lstStyle/>
          <a:p>
            <a:r>
              <a:rPr lang="en-US" sz="1100" b="1">
                <a:solidFill>
                  <a:srgbClr val="6F7E91"/>
                </a:solidFill>
                <a:latin typeface="Aptos" panose="020B0004020202020204" pitchFamily="34" charset="0"/>
              </a:rPr>
              <a:t>Structured criterion</a:t>
            </a:r>
          </a:p>
        </p:txBody>
      </p:sp>
      <p:sp>
        <p:nvSpPr>
          <p:cNvPr id="23" name="TextBox 22">
            <a:extLst>
              <a:ext uri="{FF2B5EF4-FFF2-40B4-BE49-F238E27FC236}">
                <a16:creationId xmlns:a16="http://schemas.microsoft.com/office/drawing/2014/main" id="{1DD34527-C438-7B8F-900E-3250842DB263}"/>
              </a:ext>
            </a:extLst>
          </p:cNvPr>
          <p:cNvSpPr txBox="1"/>
          <p:nvPr/>
        </p:nvSpPr>
        <p:spPr>
          <a:xfrm>
            <a:off x="4635500" y="3340100"/>
            <a:ext cx="2413000" cy="492443"/>
          </a:xfrm>
          <a:prstGeom prst="rect">
            <a:avLst/>
          </a:prstGeom>
          <a:noFill/>
        </p:spPr>
        <p:txBody>
          <a:bodyPr vert="horz" wrap="square" lIns="0" tIns="0" rIns="0" bIns="0" rtlCol="0" anchor="t">
            <a:spAutoFit/>
          </a:bodyPr>
          <a:lstStyle/>
          <a:p>
            <a:r>
              <a:rPr lang="en-US" sz="1600" b="1">
                <a:solidFill>
                  <a:srgbClr val="0F62FE"/>
                </a:solidFill>
                <a:latin typeface="Aptos" panose="020B0004020202020204" pitchFamily="34" charset="0"/>
              </a:rPr>
              <a:t>operator:  &gt;=
expected:  12 weeks</a:t>
            </a:r>
          </a:p>
        </p:txBody>
      </p:sp>
      <p:sp>
        <p:nvSpPr>
          <p:cNvPr id="24" name="TextBox 23">
            <a:extLst>
              <a:ext uri="{FF2B5EF4-FFF2-40B4-BE49-F238E27FC236}">
                <a16:creationId xmlns:a16="http://schemas.microsoft.com/office/drawing/2014/main" id="{F4F5F687-DE8C-6C45-EF81-20572CF8530D}"/>
              </a:ext>
            </a:extLst>
          </p:cNvPr>
          <p:cNvSpPr txBox="1"/>
          <p:nvPr/>
        </p:nvSpPr>
        <p:spPr>
          <a:xfrm>
            <a:off x="7874000" y="2984500"/>
            <a:ext cx="1524000" cy="169277"/>
          </a:xfrm>
          <a:prstGeom prst="rect">
            <a:avLst/>
          </a:prstGeom>
          <a:noFill/>
        </p:spPr>
        <p:txBody>
          <a:bodyPr vert="horz" wrap="square" lIns="0" tIns="0" rIns="0" bIns="0" rtlCol="0" anchor="t">
            <a:spAutoFit/>
          </a:bodyPr>
          <a:lstStyle/>
          <a:p>
            <a:r>
              <a:rPr lang="en-US" sz="1100" b="1">
                <a:solidFill>
                  <a:srgbClr val="6F7E91"/>
                </a:solidFill>
                <a:latin typeface="Aptos" panose="020B0004020202020204" pitchFamily="34" charset="0"/>
              </a:rPr>
              <a:t>Evidence</a:t>
            </a:r>
          </a:p>
        </p:txBody>
      </p:sp>
      <p:sp>
        <p:nvSpPr>
          <p:cNvPr id="25" name="TextBox 24">
            <a:extLst>
              <a:ext uri="{FF2B5EF4-FFF2-40B4-BE49-F238E27FC236}">
                <a16:creationId xmlns:a16="http://schemas.microsoft.com/office/drawing/2014/main" id="{B58A5C27-4AFA-BD23-4A6A-CAF1A80FE6CE}"/>
              </a:ext>
            </a:extLst>
          </p:cNvPr>
          <p:cNvSpPr txBox="1"/>
          <p:nvPr/>
        </p:nvSpPr>
        <p:spPr>
          <a:xfrm>
            <a:off x="7874000" y="3340100"/>
            <a:ext cx="2921000" cy="276999"/>
          </a:xfrm>
          <a:prstGeom prst="rect">
            <a:avLst/>
          </a:prstGeom>
          <a:noFill/>
        </p:spPr>
        <p:txBody>
          <a:bodyPr vert="horz" wrap="square" lIns="0" tIns="0" rIns="0" bIns="0" rtlCol="0" anchor="t">
            <a:spAutoFit/>
          </a:bodyPr>
          <a:lstStyle/>
          <a:p>
            <a:r>
              <a:rPr lang="en-US" b="1">
                <a:solidFill>
                  <a:srgbClr val="071B33"/>
                </a:solidFill>
                <a:latin typeface="Aptos" panose="020B0004020202020204" pitchFamily="34" charset="0"/>
              </a:rPr>
              <a:t>Drug A used for 16 weeks</a:t>
            </a:r>
          </a:p>
        </p:txBody>
      </p:sp>
      <p:cxnSp>
        <p:nvCxnSpPr>
          <p:cNvPr id="26" name="Straight Connector 25">
            <a:extLst>
              <a:ext uri="{FF2B5EF4-FFF2-40B4-BE49-F238E27FC236}">
                <a16:creationId xmlns:a16="http://schemas.microsoft.com/office/drawing/2014/main" id="{4C592144-95C1-D4C8-551F-85B502D013BE}"/>
              </a:ext>
            </a:extLst>
          </p:cNvPr>
          <p:cNvCxnSpPr/>
          <p:nvPr/>
        </p:nvCxnSpPr>
        <p:spPr>
          <a:xfrm>
            <a:off x="3683000" y="3721100"/>
            <a:ext cx="7620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C8DEA56-313B-F635-1709-0DE486485F45}"/>
              </a:ext>
            </a:extLst>
          </p:cNvPr>
          <p:cNvCxnSpPr/>
          <p:nvPr/>
        </p:nvCxnSpPr>
        <p:spPr>
          <a:xfrm>
            <a:off x="7010400" y="3721100"/>
            <a:ext cx="7112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A4BE5661-9FA8-C606-1E3C-3D562F6D27AB}"/>
              </a:ext>
            </a:extLst>
          </p:cNvPr>
          <p:cNvSpPr/>
          <p:nvPr/>
        </p:nvSpPr>
        <p:spPr>
          <a:xfrm>
            <a:off x="3149600" y="4445000"/>
            <a:ext cx="5905500" cy="6604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7FD054C-E41E-7F03-DF5C-F288D8800CDB}"/>
              </a:ext>
            </a:extLst>
          </p:cNvPr>
          <p:cNvSpPr txBox="1"/>
          <p:nvPr/>
        </p:nvSpPr>
        <p:spPr>
          <a:xfrm>
            <a:off x="3403600" y="4648200"/>
            <a:ext cx="5397500" cy="215444"/>
          </a:xfrm>
          <a:prstGeom prst="rect">
            <a:avLst/>
          </a:prstGeom>
          <a:noFill/>
        </p:spPr>
        <p:txBody>
          <a:bodyPr vert="horz" wrap="square" lIns="0" tIns="0" rIns="0" bIns="0" rtlCol="0" anchor="t">
            <a:spAutoFit/>
          </a:bodyPr>
          <a:lstStyle/>
          <a:p>
            <a:pPr algn="ctr"/>
            <a:r>
              <a:rPr lang="en-US" sz="1400" b="1">
                <a:solidFill>
                  <a:srgbClr val="24A148"/>
                </a:solidFill>
                <a:latin typeface="Aptos" panose="020B0004020202020204" pitchFamily="34" charset="0"/>
              </a:rPr>
              <a:t>16 &gt;= 12  →  SATISFIED  •  deterministic  •  confidence 0.93</a:t>
            </a:r>
          </a:p>
        </p:txBody>
      </p:sp>
    </p:spTree>
    <p:extLst>
      <p:ext uri="{BB962C8B-B14F-4D97-AF65-F5344CB8AC3E}">
        <p14:creationId xmlns:p14="http://schemas.microsoft.com/office/powerpoint/2010/main" val="3397430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7C4331-E7BE-A88E-BADB-B302CC898F38}"/>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61C5C55-AFDF-11B3-A656-9AD41EE98D3A}"/>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12  /  END-TO-END DEMO</a:t>
            </a:r>
          </a:p>
        </p:txBody>
      </p:sp>
      <p:sp>
        <p:nvSpPr>
          <p:cNvPr id="4" name="TextBox 3">
            <a:extLst>
              <a:ext uri="{FF2B5EF4-FFF2-40B4-BE49-F238E27FC236}">
                <a16:creationId xmlns:a16="http://schemas.microsoft.com/office/drawing/2014/main" id="{827B7EE6-0CAF-7E06-31FA-1284A379203B}"/>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One synthetic case, six policy criteria</a:t>
            </a:r>
          </a:p>
        </p:txBody>
      </p:sp>
      <p:sp>
        <p:nvSpPr>
          <p:cNvPr id="5" name="TextBox 4">
            <a:extLst>
              <a:ext uri="{FF2B5EF4-FFF2-40B4-BE49-F238E27FC236}">
                <a16:creationId xmlns:a16="http://schemas.microsoft.com/office/drawing/2014/main" id="{4A9C5AA4-18D7-C946-0F0A-D1103988C08F}"/>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PA-DEMO-001 proves the workflow spine and reviewer-ready traceability</a:t>
            </a:r>
          </a:p>
        </p:txBody>
      </p:sp>
      <p:cxnSp>
        <p:nvCxnSpPr>
          <p:cNvPr id="6" name="Straight Connector 5">
            <a:extLst>
              <a:ext uri="{FF2B5EF4-FFF2-40B4-BE49-F238E27FC236}">
                <a16:creationId xmlns:a16="http://schemas.microsoft.com/office/drawing/2014/main" id="{46642B26-4E3D-CC08-AD36-4C95944DF2A2}"/>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73EA9A6-C00E-A1E5-ABD8-DBD99206B0E2}"/>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60CD1F02-AFAC-7580-0331-F6B7F7ECAD3A}"/>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13</a:t>
            </a:r>
          </a:p>
        </p:txBody>
      </p:sp>
      <p:sp>
        <p:nvSpPr>
          <p:cNvPr id="9" name="Rectangle: Rounded Corners 8">
            <a:extLst>
              <a:ext uri="{FF2B5EF4-FFF2-40B4-BE49-F238E27FC236}">
                <a16:creationId xmlns:a16="http://schemas.microsoft.com/office/drawing/2014/main" id="{A557BB77-A8D7-E074-E64E-6DCB44ADAB9A}"/>
              </a:ext>
            </a:extLst>
          </p:cNvPr>
          <p:cNvSpPr/>
          <p:nvPr/>
        </p:nvSpPr>
        <p:spPr>
          <a:xfrm>
            <a:off x="698500" y="1968500"/>
            <a:ext cx="7112000" cy="6604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8359D5-0578-6210-B9A7-532F81FE8C60}"/>
              </a:ext>
            </a:extLst>
          </p:cNvPr>
          <p:cNvSpPr/>
          <p:nvPr/>
        </p:nvSpPr>
        <p:spPr>
          <a:xfrm>
            <a:off x="7810500" y="1968500"/>
            <a:ext cx="1778000" cy="660400"/>
          </a:xfrm>
          <a:prstGeom prst="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86E39B7-4B5B-56A9-D5BC-4AAE514C0B8B}"/>
              </a:ext>
            </a:extLst>
          </p:cNvPr>
          <p:cNvSpPr/>
          <p:nvPr/>
        </p:nvSpPr>
        <p:spPr>
          <a:xfrm>
            <a:off x="9588500" y="1968500"/>
            <a:ext cx="1778000" cy="6604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FC4BBA4-3D09-5952-76D7-FD062CC66404}"/>
              </a:ext>
            </a:extLst>
          </p:cNvPr>
          <p:cNvSpPr txBox="1"/>
          <p:nvPr/>
        </p:nvSpPr>
        <p:spPr>
          <a:xfrm>
            <a:off x="825500" y="2171700"/>
            <a:ext cx="6858000" cy="215444"/>
          </a:xfrm>
          <a:prstGeom prst="rect">
            <a:avLst/>
          </a:prstGeom>
          <a:noFill/>
        </p:spPr>
        <p:txBody>
          <a:bodyPr vert="horz" wrap="square" lIns="0" tIns="0" rIns="0" bIns="0" rtlCol="0" anchor="t">
            <a:spAutoFit/>
          </a:bodyPr>
          <a:lstStyle/>
          <a:p>
            <a:pPr algn="ctr"/>
            <a:r>
              <a:rPr lang="en-US" sz="1400" b="1">
                <a:solidFill>
                  <a:srgbClr val="FFFFFF"/>
                </a:solidFill>
                <a:latin typeface="Aptos" panose="020B0004020202020204" pitchFamily="34" charset="0"/>
              </a:rPr>
              <a:t>4 SATISFIED</a:t>
            </a:r>
          </a:p>
        </p:txBody>
      </p:sp>
      <p:sp>
        <p:nvSpPr>
          <p:cNvPr id="13" name="TextBox 12">
            <a:extLst>
              <a:ext uri="{FF2B5EF4-FFF2-40B4-BE49-F238E27FC236}">
                <a16:creationId xmlns:a16="http://schemas.microsoft.com/office/drawing/2014/main" id="{AC42CA1D-BCB4-FC26-D5AC-59E9311A1AD1}"/>
              </a:ext>
            </a:extLst>
          </p:cNvPr>
          <p:cNvSpPr txBox="1"/>
          <p:nvPr/>
        </p:nvSpPr>
        <p:spPr>
          <a:xfrm>
            <a:off x="7937500" y="2171700"/>
            <a:ext cx="1524000" cy="200055"/>
          </a:xfrm>
          <a:prstGeom prst="rect">
            <a:avLst/>
          </a:prstGeom>
          <a:noFill/>
        </p:spPr>
        <p:txBody>
          <a:bodyPr vert="horz" wrap="square" lIns="0" tIns="0" rIns="0" bIns="0" rtlCol="0" anchor="t">
            <a:spAutoFit/>
          </a:bodyPr>
          <a:lstStyle/>
          <a:p>
            <a:pPr algn="ctr"/>
            <a:r>
              <a:rPr lang="en-US" sz="1300" b="1">
                <a:solidFill>
                  <a:srgbClr val="FFFFFF"/>
                </a:solidFill>
                <a:latin typeface="Aptos" panose="020B0004020202020204" pitchFamily="34" charset="0"/>
              </a:rPr>
              <a:t>1 MISSING</a:t>
            </a:r>
          </a:p>
        </p:txBody>
      </p:sp>
      <p:sp>
        <p:nvSpPr>
          <p:cNvPr id="14" name="TextBox 13">
            <a:extLst>
              <a:ext uri="{FF2B5EF4-FFF2-40B4-BE49-F238E27FC236}">
                <a16:creationId xmlns:a16="http://schemas.microsoft.com/office/drawing/2014/main" id="{F92BBCAE-811C-F3C6-9A93-A32E1F3CAB24}"/>
              </a:ext>
            </a:extLst>
          </p:cNvPr>
          <p:cNvSpPr txBox="1"/>
          <p:nvPr/>
        </p:nvSpPr>
        <p:spPr>
          <a:xfrm>
            <a:off x="9715500" y="2171700"/>
            <a:ext cx="1524000" cy="200055"/>
          </a:xfrm>
          <a:prstGeom prst="rect">
            <a:avLst/>
          </a:prstGeom>
          <a:noFill/>
        </p:spPr>
        <p:txBody>
          <a:bodyPr vert="horz" wrap="square" lIns="0" tIns="0" rIns="0" bIns="0" rtlCol="0" anchor="t">
            <a:spAutoFit/>
          </a:bodyPr>
          <a:lstStyle/>
          <a:p>
            <a:pPr algn="ctr"/>
            <a:r>
              <a:rPr lang="en-US" sz="1300" b="1">
                <a:solidFill>
                  <a:srgbClr val="FFFFFF"/>
                </a:solidFill>
                <a:latin typeface="Aptos" panose="020B0004020202020204" pitchFamily="34" charset="0"/>
              </a:rPr>
              <a:t>1 AMBIGUOUS</a:t>
            </a:r>
          </a:p>
        </p:txBody>
      </p:sp>
      <p:graphicFrame>
        <p:nvGraphicFramePr>
          <p:cNvPr id="15" name="Table 14">
            <a:extLst>
              <a:ext uri="{FF2B5EF4-FFF2-40B4-BE49-F238E27FC236}">
                <a16:creationId xmlns:a16="http://schemas.microsoft.com/office/drawing/2014/main" id="{1E1F3D1D-0003-1242-55D2-1F103BDA46B7}"/>
              </a:ext>
            </a:extLst>
          </p:cNvPr>
          <p:cNvGraphicFramePr>
            <a:graphicFrameLocks noGrp="1"/>
          </p:cNvGraphicFramePr>
          <p:nvPr>
            <p:extLst>
              <p:ext uri="{D42A27DB-BD31-4B8C-83A1-F6EECF244321}">
                <p14:modId xmlns:p14="http://schemas.microsoft.com/office/powerpoint/2010/main" val="152178526"/>
              </p:ext>
            </p:extLst>
          </p:nvPr>
        </p:nvGraphicFramePr>
        <p:xfrm>
          <a:off x="698500" y="2984500"/>
          <a:ext cx="10668000" cy="26670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431132912"/>
                    </a:ext>
                  </a:extLst>
                </a:gridCol>
                <a:gridCol w="2667000">
                  <a:extLst>
                    <a:ext uri="{9D8B030D-6E8A-4147-A177-3AD203B41FA5}">
                      <a16:colId xmlns:a16="http://schemas.microsoft.com/office/drawing/2014/main" val="1457820624"/>
                    </a:ext>
                  </a:extLst>
                </a:gridCol>
                <a:gridCol w="2667000">
                  <a:extLst>
                    <a:ext uri="{9D8B030D-6E8A-4147-A177-3AD203B41FA5}">
                      <a16:colId xmlns:a16="http://schemas.microsoft.com/office/drawing/2014/main" val="3601784413"/>
                    </a:ext>
                  </a:extLst>
                </a:gridCol>
                <a:gridCol w="2667000">
                  <a:extLst>
                    <a:ext uri="{9D8B030D-6E8A-4147-A177-3AD203B41FA5}">
                      <a16:colId xmlns:a16="http://schemas.microsoft.com/office/drawing/2014/main" val="3734010562"/>
                    </a:ext>
                  </a:extLst>
                </a:gridCol>
              </a:tblGrid>
              <a:tr h="381000">
                <a:tc>
                  <a:txBody>
                    <a:bodyPr/>
                    <a:lstStyle/>
                    <a:p>
                      <a:r>
                        <a:rPr lang="en-US" sz="1100" b="1">
                          <a:solidFill>
                            <a:srgbClr val="FFFFFF"/>
                          </a:solidFill>
                          <a:latin typeface="Aptos" panose="020B0004020202020204" pitchFamily="34" charset="0"/>
                        </a:rPr>
                        <a:t>ID</a:t>
                      </a:r>
                    </a:p>
                  </a:txBody>
                  <a:tcPr>
                    <a:solidFill>
                      <a:srgbClr val="071B33"/>
                    </a:solidFill>
                  </a:tcPr>
                </a:tc>
                <a:tc>
                  <a:txBody>
                    <a:bodyPr/>
                    <a:lstStyle/>
                    <a:p>
                      <a:r>
                        <a:rPr lang="en-US" sz="1100" b="1">
                          <a:solidFill>
                            <a:srgbClr val="FFFFFF"/>
                          </a:solidFill>
                          <a:latin typeface="Aptos" panose="020B0004020202020204" pitchFamily="34" charset="0"/>
                        </a:rPr>
                        <a:t>Policy requirement</a:t>
                      </a:r>
                    </a:p>
                  </a:txBody>
                  <a:tcPr>
                    <a:solidFill>
                      <a:srgbClr val="071B33"/>
                    </a:solidFill>
                  </a:tcPr>
                </a:tc>
                <a:tc>
                  <a:txBody>
                    <a:bodyPr/>
                    <a:lstStyle/>
                    <a:p>
                      <a:r>
                        <a:rPr lang="en-US" sz="1100" b="1">
                          <a:solidFill>
                            <a:srgbClr val="FFFFFF"/>
                          </a:solidFill>
                          <a:latin typeface="Aptos" panose="020B0004020202020204" pitchFamily="34" charset="0"/>
                        </a:rPr>
                        <a:t>Result</a:t>
                      </a:r>
                    </a:p>
                  </a:txBody>
                  <a:tcPr>
                    <a:solidFill>
                      <a:srgbClr val="071B33"/>
                    </a:solidFill>
                  </a:tcPr>
                </a:tc>
                <a:tc>
                  <a:txBody>
                    <a:bodyPr/>
                    <a:lstStyle/>
                    <a:p>
                      <a:r>
                        <a:rPr lang="en-US" sz="1100" b="1">
                          <a:solidFill>
                            <a:srgbClr val="FFFFFF"/>
                          </a:solidFill>
                          <a:latin typeface="Aptos" panose="020B0004020202020204" pitchFamily="34" charset="0"/>
                        </a:rPr>
                        <a:t>Patient evidence</a:t>
                      </a:r>
                    </a:p>
                  </a:txBody>
                  <a:tcPr>
                    <a:solidFill>
                      <a:srgbClr val="071B33"/>
                    </a:solidFill>
                  </a:tcPr>
                </a:tc>
                <a:extLst>
                  <a:ext uri="{0D108BD9-81ED-4DB2-BD59-A6C34878D82A}">
                    <a16:rowId xmlns:a16="http://schemas.microsoft.com/office/drawing/2014/main" val="2850289196"/>
                  </a:ext>
                </a:extLst>
              </a:tr>
              <a:tr h="381000">
                <a:tc>
                  <a:txBody>
                    <a:bodyPr/>
                    <a:lstStyle/>
                    <a:p>
                      <a:r>
                        <a:rPr lang="en-US" sz="1050">
                          <a:solidFill>
                            <a:srgbClr val="172B4D"/>
                          </a:solidFill>
                          <a:latin typeface="Aptos" panose="020B0004020202020204" pitchFamily="34" charset="0"/>
                        </a:rPr>
                        <a:t>C1</a:t>
                      </a:r>
                    </a:p>
                  </a:txBody>
                  <a:tcPr>
                    <a:solidFill>
                      <a:srgbClr val="FFFFFF"/>
                    </a:solidFill>
                  </a:tcPr>
                </a:tc>
                <a:tc>
                  <a:txBody>
                    <a:bodyPr/>
                    <a:lstStyle/>
                    <a:p>
                      <a:r>
                        <a:rPr lang="en-US" sz="1050">
                          <a:solidFill>
                            <a:srgbClr val="172B4D"/>
                          </a:solidFill>
                          <a:latin typeface="Aptos" panose="020B0004020202020204" pitchFamily="34" charset="0"/>
                        </a:rPr>
                        <a:t>Diagnosis documented</a:t>
                      </a:r>
                    </a:p>
                  </a:txBody>
                  <a:tcPr>
                    <a:solidFill>
                      <a:srgbClr val="FFFFFF"/>
                    </a:solidFill>
                  </a:tcPr>
                </a:tc>
                <a:tc>
                  <a:txBody>
                    <a:bodyPr/>
                    <a:lstStyle/>
                    <a:p>
                      <a:r>
                        <a:rPr lang="en-US" sz="1050" b="1">
                          <a:solidFill>
                            <a:srgbClr val="24A148"/>
                          </a:solidFill>
                          <a:latin typeface="Aptos" panose="020B0004020202020204" pitchFamily="34" charset="0"/>
                        </a:rPr>
                        <a:t>SATISFIED</a:t>
                      </a:r>
                    </a:p>
                  </a:txBody>
                  <a:tcPr>
                    <a:solidFill>
                      <a:srgbClr val="FFFFFF"/>
                    </a:solidFill>
                  </a:tcPr>
                </a:tc>
                <a:tc>
                  <a:txBody>
                    <a:bodyPr/>
                    <a:lstStyle/>
                    <a:p>
                      <a:r>
                        <a:rPr lang="pt-BR" sz="1050">
                          <a:solidFill>
                            <a:srgbClr val="172B4D"/>
                          </a:solidFill>
                          <a:latin typeface="Aptos" panose="020B0004020202020204" pitchFamily="34" charset="0"/>
                        </a:rPr>
                        <a:t>clinical_note.pdf p.1</a:t>
                      </a:r>
                      <a:endParaRPr lang="en-US" sz="1050">
                        <a:solidFill>
                          <a:srgbClr val="172B4D"/>
                        </a:solidFill>
                        <a:latin typeface="Aptos" panose="020B0004020202020204" pitchFamily="34" charset="0"/>
                      </a:endParaRPr>
                    </a:p>
                  </a:txBody>
                  <a:tcPr>
                    <a:solidFill>
                      <a:srgbClr val="FFFFFF"/>
                    </a:solidFill>
                  </a:tcPr>
                </a:tc>
                <a:extLst>
                  <a:ext uri="{0D108BD9-81ED-4DB2-BD59-A6C34878D82A}">
                    <a16:rowId xmlns:a16="http://schemas.microsoft.com/office/drawing/2014/main" val="4275435317"/>
                  </a:ext>
                </a:extLst>
              </a:tr>
              <a:tr h="381000">
                <a:tc>
                  <a:txBody>
                    <a:bodyPr/>
                    <a:lstStyle/>
                    <a:p>
                      <a:r>
                        <a:rPr lang="en-US" sz="1050">
                          <a:solidFill>
                            <a:srgbClr val="172B4D"/>
                          </a:solidFill>
                          <a:latin typeface="Aptos" panose="020B0004020202020204" pitchFamily="34" charset="0"/>
                        </a:rPr>
                        <a:t>C2</a:t>
                      </a:r>
                    </a:p>
                  </a:txBody>
                  <a:tcPr>
                    <a:solidFill>
                      <a:srgbClr val="F7F9FC"/>
                    </a:solidFill>
                  </a:tcPr>
                </a:tc>
                <a:tc>
                  <a:txBody>
                    <a:bodyPr/>
                    <a:lstStyle/>
                    <a:p>
                      <a:r>
                        <a:rPr lang="en-US" sz="1050">
                          <a:solidFill>
                            <a:srgbClr val="172B4D"/>
                          </a:solidFill>
                          <a:latin typeface="Aptos" panose="020B0004020202020204" pitchFamily="34" charset="0"/>
                        </a:rPr>
                        <a:t>≥ 12 weeks prior therapy</a:t>
                      </a:r>
                    </a:p>
                  </a:txBody>
                  <a:tcPr>
                    <a:solidFill>
                      <a:srgbClr val="F7F9FC"/>
                    </a:solidFill>
                  </a:tcPr>
                </a:tc>
                <a:tc>
                  <a:txBody>
                    <a:bodyPr/>
                    <a:lstStyle/>
                    <a:p>
                      <a:r>
                        <a:rPr lang="en-US" sz="1050" b="1">
                          <a:solidFill>
                            <a:srgbClr val="24A148"/>
                          </a:solidFill>
                          <a:latin typeface="Aptos" panose="020B0004020202020204" pitchFamily="34" charset="0"/>
                        </a:rPr>
                        <a:t>SATISFIED</a:t>
                      </a:r>
                    </a:p>
                  </a:txBody>
                  <a:tcPr>
                    <a:solidFill>
                      <a:srgbClr val="F7F9FC"/>
                    </a:solidFill>
                  </a:tcPr>
                </a:tc>
                <a:tc>
                  <a:txBody>
                    <a:bodyPr/>
                    <a:lstStyle/>
                    <a:p>
                      <a:r>
                        <a:rPr lang="en-US" sz="1050">
                          <a:solidFill>
                            <a:srgbClr val="172B4D"/>
                          </a:solidFill>
                          <a:latin typeface="Aptos" panose="020B0004020202020204" pitchFamily="34" charset="0"/>
                        </a:rPr>
                        <a:t>medication_history.pdf p.2</a:t>
                      </a:r>
                    </a:p>
                  </a:txBody>
                  <a:tcPr>
                    <a:solidFill>
                      <a:srgbClr val="F7F9FC"/>
                    </a:solidFill>
                  </a:tcPr>
                </a:tc>
                <a:extLst>
                  <a:ext uri="{0D108BD9-81ED-4DB2-BD59-A6C34878D82A}">
                    <a16:rowId xmlns:a16="http://schemas.microsoft.com/office/drawing/2014/main" val="1909112683"/>
                  </a:ext>
                </a:extLst>
              </a:tr>
              <a:tr h="381000">
                <a:tc>
                  <a:txBody>
                    <a:bodyPr/>
                    <a:lstStyle/>
                    <a:p>
                      <a:r>
                        <a:rPr lang="en-US" sz="1050">
                          <a:solidFill>
                            <a:srgbClr val="172B4D"/>
                          </a:solidFill>
                          <a:latin typeface="Aptos" panose="020B0004020202020204" pitchFamily="34" charset="0"/>
                        </a:rPr>
                        <a:t>C3</a:t>
                      </a:r>
                    </a:p>
                  </a:txBody>
                  <a:tcPr>
                    <a:solidFill>
                      <a:srgbClr val="FFFFFF"/>
                    </a:solidFill>
                  </a:tcPr>
                </a:tc>
                <a:tc>
                  <a:txBody>
                    <a:bodyPr/>
                    <a:lstStyle/>
                    <a:p>
                      <a:r>
                        <a:rPr lang="en-US" sz="1050">
                          <a:solidFill>
                            <a:srgbClr val="172B4D"/>
                          </a:solidFill>
                          <a:latin typeface="Aptos" panose="020B0004020202020204" pitchFamily="34" charset="0"/>
                        </a:rPr>
                        <a:t>Inadequate response</a:t>
                      </a:r>
                    </a:p>
                  </a:txBody>
                  <a:tcPr>
                    <a:solidFill>
                      <a:srgbClr val="FFFFFF"/>
                    </a:solidFill>
                  </a:tcPr>
                </a:tc>
                <a:tc>
                  <a:txBody>
                    <a:bodyPr/>
                    <a:lstStyle/>
                    <a:p>
                      <a:r>
                        <a:rPr lang="en-US" sz="1050" b="1">
                          <a:solidFill>
                            <a:srgbClr val="24A148"/>
                          </a:solidFill>
                          <a:latin typeface="Aptos" panose="020B0004020202020204" pitchFamily="34" charset="0"/>
                        </a:rPr>
                        <a:t>SATISFIED</a:t>
                      </a:r>
                    </a:p>
                  </a:txBody>
                  <a:tcPr>
                    <a:solidFill>
                      <a:srgbClr val="FFFFFF"/>
                    </a:solidFill>
                  </a:tcPr>
                </a:tc>
                <a:tc>
                  <a:txBody>
                    <a:bodyPr/>
                    <a:lstStyle/>
                    <a:p>
                      <a:r>
                        <a:rPr lang="en-US" sz="1050">
                          <a:solidFill>
                            <a:srgbClr val="172B4D"/>
                          </a:solidFill>
                          <a:latin typeface="Aptos" panose="020B0004020202020204" pitchFamily="34" charset="0"/>
                        </a:rPr>
                        <a:t>medication_history.pdf p.2</a:t>
                      </a:r>
                    </a:p>
                  </a:txBody>
                  <a:tcPr>
                    <a:solidFill>
                      <a:srgbClr val="FFFFFF"/>
                    </a:solidFill>
                  </a:tcPr>
                </a:tc>
                <a:extLst>
                  <a:ext uri="{0D108BD9-81ED-4DB2-BD59-A6C34878D82A}">
                    <a16:rowId xmlns:a16="http://schemas.microsoft.com/office/drawing/2014/main" val="2163207232"/>
                  </a:ext>
                </a:extLst>
              </a:tr>
              <a:tr h="381000">
                <a:tc>
                  <a:txBody>
                    <a:bodyPr/>
                    <a:lstStyle/>
                    <a:p>
                      <a:r>
                        <a:rPr lang="en-US" sz="1050">
                          <a:solidFill>
                            <a:srgbClr val="172B4D"/>
                          </a:solidFill>
                          <a:latin typeface="Aptos" panose="020B0004020202020204" pitchFamily="34" charset="0"/>
                        </a:rPr>
                        <a:t>C4</a:t>
                      </a:r>
                    </a:p>
                  </a:txBody>
                  <a:tcPr>
                    <a:solidFill>
                      <a:srgbClr val="F7F9FC"/>
                    </a:solidFill>
                  </a:tcPr>
                </a:tc>
                <a:tc>
                  <a:txBody>
                    <a:bodyPr/>
                    <a:lstStyle/>
                    <a:p>
                      <a:r>
                        <a:rPr lang="en-US" sz="1050">
                          <a:solidFill>
                            <a:srgbClr val="172B4D"/>
                          </a:solidFill>
                          <a:latin typeface="Aptos" panose="020B0004020202020204" pitchFamily="34" charset="0"/>
                        </a:rPr>
                        <a:t>A1c below 8.0</a:t>
                      </a:r>
                    </a:p>
                  </a:txBody>
                  <a:tcPr>
                    <a:solidFill>
                      <a:srgbClr val="F7F9FC"/>
                    </a:solidFill>
                  </a:tcPr>
                </a:tc>
                <a:tc>
                  <a:txBody>
                    <a:bodyPr/>
                    <a:lstStyle/>
                    <a:p>
                      <a:r>
                        <a:rPr lang="en-US" sz="1050" b="1">
                          <a:solidFill>
                            <a:srgbClr val="24A148"/>
                          </a:solidFill>
                          <a:latin typeface="Aptos" panose="020B0004020202020204" pitchFamily="34" charset="0"/>
                        </a:rPr>
                        <a:t>SATISFIED</a:t>
                      </a:r>
                    </a:p>
                  </a:txBody>
                  <a:tcPr>
                    <a:solidFill>
                      <a:srgbClr val="F7F9FC"/>
                    </a:solidFill>
                  </a:tcPr>
                </a:tc>
                <a:tc>
                  <a:txBody>
                    <a:bodyPr/>
                    <a:lstStyle/>
                    <a:p>
                      <a:r>
                        <a:rPr lang="en-US" sz="1050">
                          <a:solidFill>
                            <a:srgbClr val="172B4D"/>
                          </a:solidFill>
                          <a:latin typeface="Aptos" panose="020B0004020202020204" pitchFamily="34" charset="0"/>
                        </a:rPr>
                        <a:t>lab_report.pdf p.1</a:t>
                      </a:r>
                    </a:p>
                  </a:txBody>
                  <a:tcPr>
                    <a:solidFill>
                      <a:srgbClr val="F7F9FC"/>
                    </a:solidFill>
                  </a:tcPr>
                </a:tc>
                <a:extLst>
                  <a:ext uri="{0D108BD9-81ED-4DB2-BD59-A6C34878D82A}">
                    <a16:rowId xmlns:a16="http://schemas.microsoft.com/office/drawing/2014/main" val="4029424566"/>
                  </a:ext>
                </a:extLst>
              </a:tr>
              <a:tr h="381000">
                <a:tc>
                  <a:txBody>
                    <a:bodyPr/>
                    <a:lstStyle/>
                    <a:p>
                      <a:r>
                        <a:rPr lang="en-US" sz="1050">
                          <a:solidFill>
                            <a:srgbClr val="172B4D"/>
                          </a:solidFill>
                          <a:latin typeface="Aptos" panose="020B0004020202020204" pitchFamily="34" charset="0"/>
                        </a:rPr>
                        <a:t>C5</a:t>
                      </a:r>
                    </a:p>
                  </a:txBody>
                  <a:tcPr>
                    <a:solidFill>
                      <a:srgbClr val="FFFFFF"/>
                    </a:solidFill>
                  </a:tcPr>
                </a:tc>
                <a:tc>
                  <a:txBody>
                    <a:bodyPr/>
                    <a:lstStyle/>
                    <a:p>
                      <a:r>
                        <a:rPr lang="en-US" sz="1050">
                          <a:solidFill>
                            <a:srgbClr val="172B4D"/>
                          </a:solidFill>
                          <a:latin typeface="Aptos" panose="020B0004020202020204" pitchFamily="34" charset="0"/>
                        </a:rPr>
                        <a:t>Screening document</a:t>
                      </a:r>
                    </a:p>
                  </a:txBody>
                  <a:tcPr>
                    <a:solidFill>
                      <a:srgbClr val="FFFFFF"/>
                    </a:solidFill>
                  </a:tcPr>
                </a:tc>
                <a:tc>
                  <a:txBody>
                    <a:bodyPr/>
                    <a:lstStyle/>
                    <a:p>
                      <a:r>
                        <a:rPr lang="en-US" sz="1050" b="1">
                          <a:solidFill>
                            <a:srgbClr val="FF832B"/>
                          </a:solidFill>
                          <a:latin typeface="Aptos" panose="020B0004020202020204" pitchFamily="34" charset="0"/>
                        </a:rPr>
                        <a:t>MISSING</a:t>
                      </a:r>
                    </a:p>
                  </a:txBody>
                  <a:tcPr>
                    <a:solidFill>
                      <a:srgbClr val="FFFFFF"/>
                    </a:solidFill>
                  </a:tcPr>
                </a:tc>
                <a:tc>
                  <a:txBody>
                    <a:bodyPr/>
                    <a:lstStyle/>
                    <a:p>
                      <a:r>
                        <a:rPr lang="en-US" sz="1050">
                          <a:solidFill>
                            <a:srgbClr val="172B4D"/>
                          </a:solidFill>
                          <a:latin typeface="Aptos" panose="020B0004020202020204" pitchFamily="34" charset="0"/>
                        </a:rPr>
                        <a:t>No evidence found</a:t>
                      </a:r>
                    </a:p>
                  </a:txBody>
                  <a:tcPr>
                    <a:solidFill>
                      <a:srgbClr val="FFFFFF"/>
                    </a:solidFill>
                  </a:tcPr>
                </a:tc>
                <a:extLst>
                  <a:ext uri="{0D108BD9-81ED-4DB2-BD59-A6C34878D82A}">
                    <a16:rowId xmlns:a16="http://schemas.microsoft.com/office/drawing/2014/main" val="82643385"/>
                  </a:ext>
                </a:extLst>
              </a:tr>
              <a:tr h="381000">
                <a:tc>
                  <a:txBody>
                    <a:bodyPr/>
                    <a:lstStyle/>
                    <a:p>
                      <a:r>
                        <a:rPr lang="en-US" sz="1050">
                          <a:solidFill>
                            <a:srgbClr val="172B4D"/>
                          </a:solidFill>
                          <a:latin typeface="Aptos" panose="020B0004020202020204" pitchFamily="34" charset="0"/>
                        </a:rPr>
                        <a:t>C6</a:t>
                      </a:r>
                    </a:p>
                  </a:txBody>
                  <a:tcPr>
                    <a:solidFill>
                      <a:srgbClr val="F7F9FC"/>
                    </a:solidFill>
                  </a:tcPr>
                </a:tc>
                <a:tc>
                  <a:txBody>
                    <a:bodyPr/>
                    <a:lstStyle/>
                    <a:p>
                      <a:r>
                        <a:rPr lang="en-US" sz="1050">
                          <a:solidFill>
                            <a:srgbClr val="172B4D"/>
                          </a:solidFill>
                          <a:latin typeface="Aptos" panose="020B0004020202020204" pitchFamily="34" charset="0"/>
                        </a:rPr>
                        <a:t>Recent course duration</a:t>
                      </a:r>
                    </a:p>
                  </a:txBody>
                  <a:tcPr>
                    <a:solidFill>
                      <a:srgbClr val="F7F9FC"/>
                    </a:solidFill>
                  </a:tcPr>
                </a:tc>
                <a:tc>
                  <a:txBody>
                    <a:bodyPr/>
                    <a:lstStyle/>
                    <a:p>
                      <a:r>
                        <a:rPr lang="en-US" sz="1050" b="1">
                          <a:solidFill>
                            <a:srgbClr val="8A3FFC"/>
                          </a:solidFill>
                          <a:latin typeface="Aptos" panose="020B0004020202020204" pitchFamily="34" charset="0"/>
                        </a:rPr>
                        <a:t>AMBIGUOUS</a:t>
                      </a:r>
                    </a:p>
                  </a:txBody>
                  <a:tcPr>
                    <a:solidFill>
                      <a:srgbClr val="F7F9FC"/>
                    </a:solidFill>
                  </a:tcPr>
                </a:tc>
                <a:tc>
                  <a:txBody>
                    <a:bodyPr/>
                    <a:lstStyle/>
                    <a:p>
                      <a:r>
                        <a:rPr lang="en-US" sz="1050">
                          <a:solidFill>
                            <a:srgbClr val="172B4D"/>
                          </a:solidFill>
                          <a:latin typeface="Aptos" panose="020B0004020202020204" pitchFamily="34" charset="0"/>
                        </a:rPr>
                        <a:t>“several months”</a:t>
                      </a:r>
                    </a:p>
                  </a:txBody>
                  <a:tcPr>
                    <a:solidFill>
                      <a:srgbClr val="F7F9FC"/>
                    </a:solidFill>
                  </a:tcPr>
                </a:tc>
                <a:extLst>
                  <a:ext uri="{0D108BD9-81ED-4DB2-BD59-A6C34878D82A}">
                    <a16:rowId xmlns:a16="http://schemas.microsoft.com/office/drawing/2014/main" val="3976241411"/>
                  </a:ext>
                </a:extLst>
              </a:tr>
            </a:tbl>
          </a:graphicData>
        </a:graphic>
      </p:graphicFrame>
      <p:sp>
        <p:nvSpPr>
          <p:cNvPr id="16" name="Rectangle: Rounded Corners 15">
            <a:extLst>
              <a:ext uri="{FF2B5EF4-FFF2-40B4-BE49-F238E27FC236}">
                <a16:creationId xmlns:a16="http://schemas.microsoft.com/office/drawing/2014/main" id="{44A18CE7-266C-FE3E-E9D4-B39FF13CB1B6}"/>
              </a:ext>
            </a:extLst>
          </p:cNvPr>
          <p:cNvSpPr/>
          <p:nvPr/>
        </p:nvSpPr>
        <p:spPr>
          <a:xfrm>
            <a:off x="4419600" y="5867400"/>
            <a:ext cx="32385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44F265F-BFDD-C6B0-2D2A-B76826702523}"/>
              </a:ext>
            </a:extLst>
          </p:cNvPr>
          <p:cNvSpPr txBox="1"/>
          <p:nvPr/>
        </p:nvSpPr>
        <p:spPr>
          <a:xfrm>
            <a:off x="4521200" y="5930900"/>
            <a:ext cx="30353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GROUNDEDNESS GATE: PASS</a:t>
            </a:r>
          </a:p>
        </p:txBody>
      </p:sp>
    </p:spTree>
    <p:extLst>
      <p:ext uri="{BB962C8B-B14F-4D97-AF65-F5344CB8AC3E}">
        <p14:creationId xmlns:p14="http://schemas.microsoft.com/office/powerpoint/2010/main" val="1988504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8B7899-07AD-C7B7-E369-4861E8AB57C1}"/>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3616328-ABF0-BE5B-FD91-09FE978A44CE}"/>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13  /  TRUSTWORTHY AI</a:t>
            </a:r>
          </a:p>
        </p:txBody>
      </p:sp>
      <p:sp>
        <p:nvSpPr>
          <p:cNvPr id="4" name="TextBox 3">
            <a:extLst>
              <a:ext uri="{FF2B5EF4-FFF2-40B4-BE49-F238E27FC236}">
                <a16:creationId xmlns:a16="http://schemas.microsoft.com/office/drawing/2014/main" id="{3C29A3B1-C0F0-B09E-14BD-4C6F410BA84B}"/>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Groundedness gate before reviewer display</a:t>
            </a:r>
          </a:p>
        </p:txBody>
      </p:sp>
      <p:sp>
        <p:nvSpPr>
          <p:cNvPr id="5" name="TextBox 4">
            <a:extLst>
              <a:ext uri="{FF2B5EF4-FFF2-40B4-BE49-F238E27FC236}">
                <a16:creationId xmlns:a16="http://schemas.microsoft.com/office/drawing/2014/main" id="{CBE3E90E-91DE-6544-F918-161452129BBD}"/>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No supported claim may exist without patient evidence and a policy source</a:t>
            </a:r>
          </a:p>
        </p:txBody>
      </p:sp>
      <p:cxnSp>
        <p:nvCxnSpPr>
          <p:cNvPr id="6" name="Straight Connector 5">
            <a:extLst>
              <a:ext uri="{FF2B5EF4-FFF2-40B4-BE49-F238E27FC236}">
                <a16:creationId xmlns:a16="http://schemas.microsoft.com/office/drawing/2014/main" id="{ECE97468-D42D-BD2E-F4B9-2DF2D4E81093}"/>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5F72024-7669-7FA8-238A-8F2E3854350F}"/>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CEDC916A-D80E-A710-7242-3EC5E00317F9}"/>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14</a:t>
            </a:r>
          </a:p>
        </p:txBody>
      </p:sp>
      <p:sp>
        <p:nvSpPr>
          <p:cNvPr id="9" name="Rectangle: Rounded Corners 8">
            <a:extLst>
              <a:ext uri="{FF2B5EF4-FFF2-40B4-BE49-F238E27FC236}">
                <a16:creationId xmlns:a16="http://schemas.microsoft.com/office/drawing/2014/main" id="{601665E8-4805-E007-2653-1199BB9AEEEA}"/>
              </a:ext>
            </a:extLst>
          </p:cNvPr>
          <p:cNvSpPr/>
          <p:nvPr/>
        </p:nvSpPr>
        <p:spPr>
          <a:xfrm>
            <a:off x="825500" y="2413000"/>
            <a:ext cx="2159000" cy="7874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8D69A75-E9EE-E526-4879-416B514A591A}"/>
              </a:ext>
            </a:extLst>
          </p:cNvPr>
          <p:cNvSpPr txBox="1"/>
          <p:nvPr/>
        </p:nvSpPr>
        <p:spPr>
          <a:xfrm>
            <a:off x="952500" y="2556920"/>
            <a:ext cx="1905000" cy="192360"/>
          </a:xfrm>
          <a:prstGeom prst="rect">
            <a:avLst/>
          </a:prstGeom>
          <a:noFill/>
        </p:spPr>
        <p:txBody>
          <a:bodyPr vert="horz" wrap="square" lIns="0" tIns="0" rIns="0" bIns="0" rtlCol="0" anchor="ctr">
            <a:spAutoFit/>
          </a:bodyPr>
          <a:lstStyle/>
          <a:p>
            <a:pPr algn="ctr"/>
            <a:r>
              <a:rPr lang="en-US" sz="1250" b="1">
                <a:solidFill>
                  <a:srgbClr val="172B4D"/>
                </a:solidFill>
                <a:latin typeface="Aptos" panose="020B0004020202020204" pitchFamily="34" charset="0"/>
              </a:rPr>
              <a:t>Criterion evaluation</a:t>
            </a:r>
          </a:p>
        </p:txBody>
      </p:sp>
      <p:cxnSp>
        <p:nvCxnSpPr>
          <p:cNvPr id="11" name="Straight Connector 10">
            <a:extLst>
              <a:ext uri="{FF2B5EF4-FFF2-40B4-BE49-F238E27FC236}">
                <a16:creationId xmlns:a16="http://schemas.microsoft.com/office/drawing/2014/main" id="{E331CE28-9832-2651-A577-1360B19A9691}"/>
              </a:ext>
            </a:extLst>
          </p:cNvPr>
          <p:cNvCxnSpPr/>
          <p:nvPr/>
        </p:nvCxnSpPr>
        <p:spPr>
          <a:xfrm>
            <a:off x="2984500" y="2806700"/>
            <a:ext cx="825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4CCE7AF6-78A0-B8BF-75C1-D99F0D2DA2C8}"/>
              </a:ext>
            </a:extLst>
          </p:cNvPr>
          <p:cNvSpPr/>
          <p:nvPr/>
        </p:nvSpPr>
        <p:spPr>
          <a:xfrm>
            <a:off x="3810000" y="2286000"/>
            <a:ext cx="2159000" cy="1041400"/>
          </a:xfrm>
          <a:prstGeom prst="roundRect">
            <a:avLst/>
          </a:prstGeom>
          <a:solidFill>
            <a:srgbClr val="FFF8D6"/>
          </a:solidFill>
          <a:ln w="12700">
            <a:solidFill>
              <a:srgbClr val="FF83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316C3F3-8C06-68A5-0475-4B056C24EFAF}"/>
              </a:ext>
            </a:extLst>
          </p:cNvPr>
          <p:cNvSpPr txBox="1"/>
          <p:nvPr/>
        </p:nvSpPr>
        <p:spPr>
          <a:xfrm>
            <a:off x="3937000" y="2429920"/>
            <a:ext cx="1905000" cy="192360"/>
          </a:xfrm>
          <a:prstGeom prst="rect">
            <a:avLst/>
          </a:prstGeom>
          <a:noFill/>
        </p:spPr>
        <p:txBody>
          <a:bodyPr vert="horz" wrap="square" lIns="0" tIns="0" rIns="0" bIns="0" rtlCol="0" anchor="ctr">
            <a:spAutoFit/>
          </a:bodyPr>
          <a:lstStyle/>
          <a:p>
            <a:pPr algn="ctr"/>
            <a:r>
              <a:rPr lang="en-US" sz="1250" b="1">
                <a:solidFill>
                  <a:srgbClr val="FF832B"/>
                </a:solidFill>
                <a:latin typeface="Aptos" panose="020B0004020202020204" pitchFamily="34" charset="0"/>
              </a:rPr>
              <a:t>Policy source present?</a:t>
            </a:r>
          </a:p>
        </p:txBody>
      </p:sp>
      <p:cxnSp>
        <p:nvCxnSpPr>
          <p:cNvPr id="14" name="Straight Connector 13">
            <a:extLst>
              <a:ext uri="{FF2B5EF4-FFF2-40B4-BE49-F238E27FC236}">
                <a16:creationId xmlns:a16="http://schemas.microsoft.com/office/drawing/2014/main" id="{2B25BF34-147E-81EA-C071-3EC03FC89A47}"/>
              </a:ext>
            </a:extLst>
          </p:cNvPr>
          <p:cNvCxnSpPr/>
          <p:nvPr/>
        </p:nvCxnSpPr>
        <p:spPr>
          <a:xfrm>
            <a:off x="5969000" y="2806700"/>
            <a:ext cx="825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40D17270-9DDF-2E00-F9B7-1884C4C48442}"/>
              </a:ext>
            </a:extLst>
          </p:cNvPr>
          <p:cNvSpPr/>
          <p:nvPr/>
        </p:nvSpPr>
        <p:spPr>
          <a:xfrm>
            <a:off x="6794500" y="2286000"/>
            <a:ext cx="2413000" cy="1041400"/>
          </a:xfrm>
          <a:prstGeom prst="roundRect">
            <a:avLst/>
          </a:prstGeom>
          <a:solidFill>
            <a:srgbClr val="FFF8D6"/>
          </a:solidFill>
          <a:ln w="12700">
            <a:solidFill>
              <a:srgbClr val="FF83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3920262-54DB-7539-76D7-EBFD846CFFC1}"/>
              </a:ext>
            </a:extLst>
          </p:cNvPr>
          <p:cNvSpPr txBox="1"/>
          <p:nvPr/>
        </p:nvSpPr>
        <p:spPr>
          <a:xfrm>
            <a:off x="6921500" y="2333739"/>
            <a:ext cx="2159000" cy="384721"/>
          </a:xfrm>
          <a:prstGeom prst="rect">
            <a:avLst/>
          </a:prstGeom>
          <a:noFill/>
        </p:spPr>
        <p:txBody>
          <a:bodyPr vert="horz" wrap="square" lIns="0" tIns="0" rIns="0" bIns="0" rtlCol="0" anchor="ctr">
            <a:spAutoFit/>
          </a:bodyPr>
          <a:lstStyle/>
          <a:p>
            <a:pPr algn="ctr"/>
            <a:r>
              <a:rPr lang="en-US" sz="1250" b="1">
                <a:solidFill>
                  <a:srgbClr val="FF832B"/>
                </a:solidFill>
                <a:latin typeface="Aptos" panose="020B0004020202020204" pitchFamily="34" charset="0"/>
              </a:rPr>
              <a:t>Patient source present
when support is claimed?</a:t>
            </a:r>
          </a:p>
        </p:txBody>
      </p:sp>
      <p:cxnSp>
        <p:nvCxnSpPr>
          <p:cNvPr id="17" name="Straight Connector 16">
            <a:extLst>
              <a:ext uri="{FF2B5EF4-FFF2-40B4-BE49-F238E27FC236}">
                <a16:creationId xmlns:a16="http://schemas.microsoft.com/office/drawing/2014/main" id="{6915DB0E-9E33-81B9-E149-048012E9DE2A}"/>
              </a:ext>
            </a:extLst>
          </p:cNvPr>
          <p:cNvCxnSpPr/>
          <p:nvPr/>
        </p:nvCxnSpPr>
        <p:spPr>
          <a:xfrm>
            <a:off x="9207500" y="2806700"/>
            <a:ext cx="825500" cy="0"/>
          </a:xfrm>
          <a:prstGeom prst="line">
            <a:avLst/>
          </a:prstGeom>
          <a:ln w="25400">
            <a:solidFill>
              <a:srgbClr val="4589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7F36857A-7444-FB05-C49A-55414787E530}"/>
              </a:ext>
            </a:extLst>
          </p:cNvPr>
          <p:cNvSpPr/>
          <p:nvPr/>
        </p:nvSpPr>
        <p:spPr>
          <a:xfrm>
            <a:off x="10033000" y="2413000"/>
            <a:ext cx="1524000" cy="787400"/>
          </a:xfrm>
          <a:prstGeom prst="roundRect">
            <a:avLst/>
          </a:prstGeom>
          <a:solidFill>
            <a:srgbClr val="E8F5EC"/>
          </a:solidFill>
          <a:ln w="12700">
            <a:solidFill>
              <a:srgbClr val="24A1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2D3A5BC-9476-31A7-9491-5A8E291AF62F}"/>
              </a:ext>
            </a:extLst>
          </p:cNvPr>
          <p:cNvSpPr txBox="1"/>
          <p:nvPr/>
        </p:nvSpPr>
        <p:spPr>
          <a:xfrm>
            <a:off x="10160000" y="2556919"/>
            <a:ext cx="1270000" cy="192360"/>
          </a:xfrm>
          <a:prstGeom prst="rect">
            <a:avLst/>
          </a:prstGeom>
          <a:noFill/>
        </p:spPr>
        <p:txBody>
          <a:bodyPr vert="horz" wrap="square" lIns="0" tIns="0" rIns="0" bIns="0" rtlCol="0" anchor="ctr">
            <a:spAutoFit/>
          </a:bodyPr>
          <a:lstStyle/>
          <a:p>
            <a:pPr algn="ctr"/>
            <a:r>
              <a:rPr lang="en-US" sz="1250" b="1">
                <a:solidFill>
                  <a:srgbClr val="24A148"/>
                </a:solidFill>
                <a:latin typeface="Aptos" panose="020B0004020202020204" pitchFamily="34" charset="0"/>
              </a:rPr>
              <a:t>PASS / FAIL</a:t>
            </a:r>
          </a:p>
        </p:txBody>
      </p:sp>
      <p:sp>
        <p:nvSpPr>
          <p:cNvPr id="20" name="Rectangle: Rounded Corners 19">
            <a:extLst>
              <a:ext uri="{FF2B5EF4-FFF2-40B4-BE49-F238E27FC236}">
                <a16:creationId xmlns:a16="http://schemas.microsoft.com/office/drawing/2014/main" id="{DB8DA0D2-B4C0-311C-DBF9-1484C7413BEF}"/>
              </a:ext>
            </a:extLst>
          </p:cNvPr>
          <p:cNvSpPr/>
          <p:nvPr/>
        </p:nvSpPr>
        <p:spPr>
          <a:xfrm>
            <a:off x="825500" y="4000500"/>
            <a:ext cx="31750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88D4BD4-CB71-0015-C6EE-9C2F749C34A2}"/>
              </a:ext>
            </a:extLst>
          </p:cNvPr>
          <p:cNvSpPr/>
          <p:nvPr/>
        </p:nvSpPr>
        <p:spPr>
          <a:xfrm>
            <a:off x="825500" y="4000500"/>
            <a:ext cx="76200" cy="15875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CF4722A-4AB4-61C9-1185-810DC9DC4412}"/>
              </a:ext>
            </a:extLst>
          </p:cNvPr>
          <p:cNvSpPr txBox="1"/>
          <p:nvPr/>
        </p:nvSpPr>
        <p:spPr>
          <a:xfrm>
            <a:off x="1079500" y="4229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Current gate</a:t>
            </a:r>
          </a:p>
        </p:txBody>
      </p:sp>
      <p:sp>
        <p:nvSpPr>
          <p:cNvPr id="23" name="TextBox 22">
            <a:extLst>
              <a:ext uri="{FF2B5EF4-FFF2-40B4-BE49-F238E27FC236}">
                <a16:creationId xmlns:a16="http://schemas.microsoft.com/office/drawing/2014/main" id="{2944D925-8A66-C74D-9982-B03F0F9B4136}"/>
              </a:ext>
            </a:extLst>
          </p:cNvPr>
          <p:cNvSpPr txBox="1"/>
          <p:nvPr/>
        </p:nvSpPr>
        <p:spPr>
          <a:xfrm>
            <a:off x="1079500" y="46990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Structural groundedness: validates evidence IDs, patient provenance, and policy provenance for each result.</a:t>
            </a:r>
          </a:p>
        </p:txBody>
      </p:sp>
      <p:sp>
        <p:nvSpPr>
          <p:cNvPr id="24" name="Rectangle: Rounded Corners 23">
            <a:extLst>
              <a:ext uri="{FF2B5EF4-FFF2-40B4-BE49-F238E27FC236}">
                <a16:creationId xmlns:a16="http://schemas.microsoft.com/office/drawing/2014/main" id="{49BFFDB8-10F1-A3A9-6DA5-9C543B50700D}"/>
              </a:ext>
            </a:extLst>
          </p:cNvPr>
          <p:cNvSpPr/>
          <p:nvPr/>
        </p:nvSpPr>
        <p:spPr>
          <a:xfrm>
            <a:off x="4508500" y="4000500"/>
            <a:ext cx="31750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5FC23B6B-E589-0403-ED3A-85E57C1745F7}"/>
              </a:ext>
            </a:extLst>
          </p:cNvPr>
          <p:cNvSpPr/>
          <p:nvPr/>
        </p:nvSpPr>
        <p:spPr>
          <a:xfrm>
            <a:off x="4508500" y="4000500"/>
            <a:ext cx="76200" cy="15875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739609D-093F-1C2C-975C-4BC83F8A9E8D}"/>
              </a:ext>
            </a:extLst>
          </p:cNvPr>
          <p:cNvSpPr txBox="1"/>
          <p:nvPr/>
        </p:nvSpPr>
        <p:spPr>
          <a:xfrm>
            <a:off x="4762500" y="4229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Future gate</a:t>
            </a:r>
          </a:p>
        </p:txBody>
      </p:sp>
      <p:sp>
        <p:nvSpPr>
          <p:cNvPr id="27" name="TextBox 26">
            <a:extLst>
              <a:ext uri="{FF2B5EF4-FFF2-40B4-BE49-F238E27FC236}">
                <a16:creationId xmlns:a16="http://schemas.microsoft.com/office/drawing/2014/main" id="{238F513A-7988-8057-090F-5B1389F85669}"/>
              </a:ext>
            </a:extLst>
          </p:cNvPr>
          <p:cNvSpPr txBox="1"/>
          <p:nvPr/>
        </p:nvSpPr>
        <p:spPr>
          <a:xfrm>
            <a:off x="4762500" y="4699000"/>
            <a:ext cx="2730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Semantic claim verification for generated text, citation correctness, conflicting evidence, and unsupported-claim rate.</a:t>
            </a:r>
          </a:p>
        </p:txBody>
      </p:sp>
      <p:sp>
        <p:nvSpPr>
          <p:cNvPr id="28" name="Rectangle: Rounded Corners 27">
            <a:extLst>
              <a:ext uri="{FF2B5EF4-FFF2-40B4-BE49-F238E27FC236}">
                <a16:creationId xmlns:a16="http://schemas.microsoft.com/office/drawing/2014/main" id="{03FBBA12-5D87-1136-53D1-E3B349A8BEC3}"/>
              </a:ext>
            </a:extLst>
          </p:cNvPr>
          <p:cNvSpPr/>
          <p:nvPr/>
        </p:nvSpPr>
        <p:spPr>
          <a:xfrm>
            <a:off x="8191500" y="4000500"/>
            <a:ext cx="3175000" cy="15875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CB381F3C-203B-7DCA-730E-AA03DF6705B0}"/>
              </a:ext>
            </a:extLst>
          </p:cNvPr>
          <p:cNvSpPr/>
          <p:nvPr/>
        </p:nvSpPr>
        <p:spPr>
          <a:xfrm>
            <a:off x="8191500" y="4000500"/>
            <a:ext cx="76200" cy="15875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0C563E3-C907-5B8A-501F-D92D5121AEF0}"/>
              </a:ext>
            </a:extLst>
          </p:cNvPr>
          <p:cNvSpPr txBox="1"/>
          <p:nvPr/>
        </p:nvSpPr>
        <p:spPr>
          <a:xfrm>
            <a:off x="8445500" y="4229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Human control</a:t>
            </a:r>
          </a:p>
        </p:txBody>
      </p:sp>
      <p:sp>
        <p:nvSpPr>
          <p:cNvPr id="31" name="TextBox 30">
            <a:extLst>
              <a:ext uri="{FF2B5EF4-FFF2-40B4-BE49-F238E27FC236}">
                <a16:creationId xmlns:a16="http://schemas.microsoft.com/office/drawing/2014/main" id="{AF2245D0-080E-63BD-2ED1-B6087C12B84F}"/>
              </a:ext>
            </a:extLst>
          </p:cNvPr>
          <p:cNvSpPr txBox="1"/>
          <p:nvPr/>
        </p:nvSpPr>
        <p:spPr>
          <a:xfrm>
            <a:off x="8445500" y="46990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Missing or ambiguous data becomes a visible review task. No autonomous submission is allowed.</a:t>
            </a:r>
          </a:p>
        </p:txBody>
      </p:sp>
    </p:spTree>
    <p:extLst>
      <p:ext uri="{BB962C8B-B14F-4D97-AF65-F5344CB8AC3E}">
        <p14:creationId xmlns:p14="http://schemas.microsoft.com/office/powerpoint/2010/main" val="282641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AE8045-DABF-E51D-536B-D25C06179882}"/>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D27EF2F-C070-3F74-8EF9-F3C47120F311}"/>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14  /  ENGINEERING DISCIPLINE</a:t>
            </a:r>
          </a:p>
        </p:txBody>
      </p:sp>
      <p:sp>
        <p:nvSpPr>
          <p:cNvPr id="4" name="TextBox 3">
            <a:extLst>
              <a:ext uri="{FF2B5EF4-FFF2-40B4-BE49-F238E27FC236}">
                <a16:creationId xmlns:a16="http://schemas.microsoft.com/office/drawing/2014/main" id="{9EA11BA3-15B2-5A1E-35F1-8570B2100074}"/>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Reproducible, testable, and honest by design</a:t>
            </a:r>
          </a:p>
        </p:txBody>
      </p:sp>
      <p:sp>
        <p:nvSpPr>
          <p:cNvPr id="5" name="TextBox 4">
            <a:extLst>
              <a:ext uri="{FF2B5EF4-FFF2-40B4-BE49-F238E27FC236}">
                <a16:creationId xmlns:a16="http://schemas.microsoft.com/office/drawing/2014/main" id="{D4476752-D586-CC00-ED38-8133E66841DC}"/>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The repository is organized as an installable Python 3.12 package</a:t>
            </a:r>
          </a:p>
        </p:txBody>
      </p:sp>
      <p:cxnSp>
        <p:nvCxnSpPr>
          <p:cNvPr id="6" name="Straight Connector 5">
            <a:extLst>
              <a:ext uri="{FF2B5EF4-FFF2-40B4-BE49-F238E27FC236}">
                <a16:creationId xmlns:a16="http://schemas.microsoft.com/office/drawing/2014/main" id="{87406DC9-2633-F569-3618-96E21FCD0067}"/>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9276B42-6ED8-4931-5FAF-F2A45C320A18}"/>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7EDE4599-63CD-353E-F281-96C06CECA438}"/>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15</a:t>
            </a:r>
          </a:p>
        </p:txBody>
      </p:sp>
      <p:sp>
        <p:nvSpPr>
          <p:cNvPr id="9" name="Rectangle: Rounded Corners 8">
            <a:extLst>
              <a:ext uri="{FF2B5EF4-FFF2-40B4-BE49-F238E27FC236}">
                <a16:creationId xmlns:a16="http://schemas.microsoft.com/office/drawing/2014/main" id="{99A9C70D-9CE1-FD9F-9F8F-176885E491CC}"/>
              </a:ext>
            </a:extLst>
          </p:cNvPr>
          <p:cNvSpPr/>
          <p:nvPr/>
        </p:nvSpPr>
        <p:spPr>
          <a:xfrm>
            <a:off x="698500" y="1968500"/>
            <a:ext cx="3175000" cy="1778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34058912-5325-38E8-D95F-3D24A6CB1E7F}"/>
              </a:ext>
            </a:extLst>
          </p:cNvPr>
          <p:cNvSpPr/>
          <p:nvPr/>
        </p:nvSpPr>
        <p:spPr>
          <a:xfrm>
            <a:off x="698500" y="1968500"/>
            <a:ext cx="76200" cy="17780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D384D2-E24C-2BF7-94EC-5A2B56CF3B7A}"/>
              </a:ext>
            </a:extLst>
          </p:cNvPr>
          <p:cNvSpPr txBox="1"/>
          <p:nvPr/>
        </p:nvSpPr>
        <p:spPr>
          <a:xfrm>
            <a:off x="952500" y="2171700"/>
            <a:ext cx="2730500" cy="400110"/>
          </a:xfrm>
          <a:prstGeom prst="rect">
            <a:avLst/>
          </a:prstGeom>
          <a:noFill/>
        </p:spPr>
        <p:txBody>
          <a:bodyPr vert="horz" wrap="square" lIns="0" tIns="0" rIns="0" bIns="0" rtlCol="0" anchor="t">
            <a:spAutoFit/>
          </a:bodyPr>
          <a:lstStyle/>
          <a:p>
            <a:r>
              <a:rPr lang="en-US" sz="2600" b="1">
                <a:solidFill>
                  <a:srgbClr val="24A148"/>
                </a:solidFill>
                <a:latin typeface="Aptos" panose="020B0004020202020204" pitchFamily="34" charset="0"/>
              </a:rPr>
              <a:t>21 PASS</a:t>
            </a:r>
          </a:p>
        </p:txBody>
      </p:sp>
      <p:sp>
        <p:nvSpPr>
          <p:cNvPr id="12" name="TextBox 11">
            <a:extLst>
              <a:ext uri="{FF2B5EF4-FFF2-40B4-BE49-F238E27FC236}">
                <a16:creationId xmlns:a16="http://schemas.microsoft.com/office/drawing/2014/main" id="{A8128E3C-18FF-44A4-4F07-BB7EB9287698}"/>
              </a:ext>
            </a:extLst>
          </p:cNvPr>
          <p:cNvSpPr txBox="1"/>
          <p:nvPr/>
        </p:nvSpPr>
        <p:spPr>
          <a:xfrm>
            <a:off x="952500" y="2705100"/>
            <a:ext cx="2730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Automated tests</a:t>
            </a:r>
          </a:p>
        </p:txBody>
      </p:sp>
      <p:sp>
        <p:nvSpPr>
          <p:cNvPr id="13" name="TextBox 12">
            <a:extLst>
              <a:ext uri="{FF2B5EF4-FFF2-40B4-BE49-F238E27FC236}">
                <a16:creationId xmlns:a16="http://schemas.microsoft.com/office/drawing/2014/main" id="{055C8E17-9E1B-24CB-4CCA-760DB65784C7}"/>
              </a:ext>
            </a:extLst>
          </p:cNvPr>
          <p:cNvSpPr txBox="1"/>
          <p:nvPr/>
        </p:nvSpPr>
        <p:spPr>
          <a:xfrm>
            <a:off x="952500" y="3086100"/>
            <a:ext cx="2730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Pipeline states, policy mismatches, unit conflicts, classifier persistence, split isolation, rendering, and ingestion.</a:t>
            </a:r>
          </a:p>
        </p:txBody>
      </p:sp>
      <p:sp>
        <p:nvSpPr>
          <p:cNvPr id="14" name="Rectangle: Rounded Corners 13">
            <a:extLst>
              <a:ext uri="{FF2B5EF4-FFF2-40B4-BE49-F238E27FC236}">
                <a16:creationId xmlns:a16="http://schemas.microsoft.com/office/drawing/2014/main" id="{7164EE7F-C771-2FDC-0205-AFF179351983}"/>
              </a:ext>
            </a:extLst>
          </p:cNvPr>
          <p:cNvSpPr/>
          <p:nvPr/>
        </p:nvSpPr>
        <p:spPr>
          <a:xfrm>
            <a:off x="4508500" y="1968500"/>
            <a:ext cx="3175000" cy="1778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C5C694E-E30D-CC16-184F-AB71C3CAAFFC}"/>
              </a:ext>
            </a:extLst>
          </p:cNvPr>
          <p:cNvSpPr/>
          <p:nvPr/>
        </p:nvSpPr>
        <p:spPr>
          <a:xfrm>
            <a:off x="4508500" y="1968500"/>
            <a:ext cx="76200" cy="1778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6702D01-A053-02FA-931C-18FE2C691EC9}"/>
              </a:ext>
            </a:extLst>
          </p:cNvPr>
          <p:cNvSpPr txBox="1"/>
          <p:nvPr/>
        </p:nvSpPr>
        <p:spPr>
          <a:xfrm>
            <a:off x="4762500" y="2171700"/>
            <a:ext cx="2730500" cy="400110"/>
          </a:xfrm>
          <a:prstGeom prst="rect">
            <a:avLst/>
          </a:prstGeom>
          <a:noFill/>
        </p:spPr>
        <p:txBody>
          <a:bodyPr vert="horz" wrap="square" lIns="0" tIns="0" rIns="0" bIns="0" rtlCol="0" anchor="t">
            <a:spAutoFit/>
          </a:bodyPr>
          <a:lstStyle/>
          <a:p>
            <a:r>
              <a:rPr lang="en-US" sz="2600" b="1">
                <a:solidFill>
                  <a:srgbClr val="0F62FE"/>
                </a:solidFill>
                <a:latin typeface="Aptos" panose="020B0004020202020204" pitchFamily="34" charset="0"/>
              </a:rPr>
              <a:t>seed 42</a:t>
            </a:r>
          </a:p>
        </p:txBody>
      </p:sp>
      <p:sp>
        <p:nvSpPr>
          <p:cNvPr id="17" name="TextBox 16">
            <a:extLst>
              <a:ext uri="{FF2B5EF4-FFF2-40B4-BE49-F238E27FC236}">
                <a16:creationId xmlns:a16="http://schemas.microsoft.com/office/drawing/2014/main" id="{C0673D2A-D9DA-4279-CBBE-2F01B944C97B}"/>
              </a:ext>
            </a:extLst>
          </p:cNvPr>
          <p:cNvSpPr txBox="1"/>
          <p:nvPr/>
        </p:nvSpPr>
        <p:spPr>
          <a:xfrm>
            <a:off x="4762500" y="2705100"/>
            <a:ext cx="2730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Reproducibility</a:t>
            </a:r>
          </a:p>
        </p:txBody>
      </p:sp>
      <p:sp>
        <p:nvSpPr>
          <p:cNvPr id="18" name="TextBox 17">
            <a:extLst>
              <a:ext uri="{FF2B5EF4-FFF2-40B4-BE49-F238E27FC236}">
                <a16:creationId xmlns:a16="http://schemas.microsoft.com/office/drawing/2014/main" id="{AA91D990-E0E0-C865-E14A-90155C20128D}"/>
              </a:ext>
            </a:extLst>
          </p:cNvPr>
          <p:cNvSpPr txBox="1"/>
          <p:nvPr/>
        </p:nvSpPr>
        <p:spPr>
          <a:xfrm>
            <a:off x="4762500" y="3086100"/>
            <a:ext cx="2730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Locked environment, deterministic seed, generated manifests, CLI entry points, and versionable report artifacts.</a:t>
            </a:r>
          </a:p>
        </p:txBody>
      </p:sp>
      <p:sp>
        <p:nvSpPr>
          <p:cNvPr id="19" name="Rectangle: Rounded Corners 18">
            <a:extLst>
              <a:ext uri="{FF2B5EF4-FFF2-40B4-BE49-F238E27FC236}">
                <a16:creationId xmlns:a16="http://schemas.microsoft.com/office/drawing/2014/main" id="{6B27C3BC-BEF2-F2B1-FA0B-1997558FE830}"/>
              </a:ext>
            </a:extLst>
          </p:cNvPr>
          <p:cNvSpPr/>
          <p:nvPr/>
        </p:nvSpPr>
        <p:spPr>
          <a:xfrm>
            <a:off x="8318500" y="1968500"/>
            <a:ext cx="3175000" cy="1778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E3E818B-1879-CD76-9291-7F2DA3F90F37}"/>
              </a:ext>
            </a:extLst>
          </p:cNvPr>
          <p:cNvSpPr/>
          <p:nvPr/>
        </p:nvSpPr>
        <p:spPr>
          <a:xfrm>
            <a:off x="8318500" y="1968500"/>
            <a:ext cx="76200" cy="17780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2A4340D-4701-6B73-74FD-3B32D319A647}"/>
              </a:ext>
            </a:extLst>
          </p:cNvPr>
          <p:cNvSpPr txBox="1"/>
          <p:nvPr/>
        </p:nvSpPr>
        <p:spPr>
          <a:xfrm>
            <a:off x="8572500" y="2171700"/>
            <a:ext cx="2730500" cy="400110"/>
          </a:xfrm>
          <a:prstGeom prst="rect">
            <a:avLst/>
          </a:prstGeom>
          <a:noFill/>
        </p:spPr>
        <p:txBody>
          <a:bodyPr vert="horz" wrap="square" lIns="0" tIns="0" rIns="0" bIns="0" rtlCol="0" anchor="t">
            <a:spAutoFit/>
          </a:bodyPr>
          <a:lstStyle/>
          <a:p>
            <a:r>
              <a:rPr lang="en-US" sz="2600" b="1">
                <a:solidFill>
                  <a:srgbClr val="8A3FFC"/>
                </a:solidFill>
                <a:latin typeface="Aptos" panose="020B0004020202020204" pitchFamily="34" charset="0"/>
              </a:rPr>
              <a:t>3 reports</a:t>
            </a:r>
          </a:p>
        </p:txBody>
      </p:sp>
      <p:sp>
        <p:nvSpPr>
          <p:cNvPr id="22" name="TextBox 21">
            <a:extLst>
              <a:ext uri="{FF2B5EF4-FFF2-40B4-BE49-F238E27FC236}">
                <a16:creationId xmlns:a16="http://schemas.microsoft.com/office/drawing/2014/main" id="{F8921305-055F-1FD8-5AFB-E798617FD93E}"/>
              </a:ext>
            </a:extLst>
          </p:cNvPr>
          <p:cNvSpPr txBox="1"/>
          <p:nvPr/>
        </p:nvSpPr>
        <p:spPr>
          <a:xfrm>
            <a:off x="8572500" y="2705100"/>
            <a:ext cx="2730500" cy="200055"/>
          </a:xfrm>
          <a:prstGeom prst="rect">
            <a:avLst/>
          </a:prstGeom>
          <a:noFill/>
        </p:spPr>
        <p:txBody>
          <a:bodyPr vert="horz" wrap="square" lIns="0" tIns="0" rIns="0" bIns="0" rtlCol="0" anchor="t">
            <a:spAutoFit/>
          </a:bodyPr>
          <a:lstStyle/>
          <a:p>
            <a:r>
              <a:rPr lang="en-US" sz="1300" b="1">
                <a:solidFill>
                  <a:srgbClr val="172B4D"/>
                </a:solidFill>
                <a:latin typeface="Aptos" panose="020B0004020202020204" pitchFamily="34" charset="0"/>
              </a:rPr>
              <a:t>Evaluation artifacts</a:t>
            </a:r>
          </a:p>
        </p:txBody>
      </p:sp>
      <p:sp>
        <p:nvSpPr>
          <p:cNvPr id="23" name="TextBox 22">
            <a:extLst>
              <a:ext uri="{FF2B5EF4-FFF2-40B4-BE49-F238E27FC236}">
                <a16:creationId xmlns:a16="http://schemas.microsoft.com/office/drawing/2014/main" id="{FFA6151C-39FC-2B2E-74C6-CFA81139CB35}"/>
              </a:ext>
            </a:extLst>
          </p:cNvPr>
          <p:cNvSpPr txBox="1"/>
          <p:nvPr/>
        </p:nvSpPr>
        <p:spPr>
          <a:xfrm>
            <a:off x="8572500" y="3086100"/>
            <a:ext cx="2730500" cy="553998"/>
          </a:xfrm>
          <a:prstGeom prst="rect">
            <a:avLst/>
          </a:prstGeom>
          <a:noFill/>
        </p:spPr>
        <p:txBody>
          <a:bodyPr vert="horz" wrap="square" lIns="0" tIns="0" rIns="0" bIns="0" rtlCol="0" anchor="t">
            <a:spAutoFit/>
          </a:bodyPr>
          <a:lstStyle/>
          <a:p>
            <a:r>
              <a:rPr lang="en-US" sz="1200">
                <a:solidFill>
                  <a:srgbClr val="6F7E91"/>
                </a:solidFill>
                <a:latin typeface="Aptos" panose="020B0004020202020204" pitchFamily="34" charset="0"/>
              </a:rPr>
              <a:t>Classifier report, ingestion report, structured end-to-end case JSON, and persisted trusted model bundle.</a:t>
            </a:r>
          </a:p>
        </p:txBody>
      </p:sp>
      <p:sp>
        <p:nvSpPr>
          <p:cNvPr id="24" name="Oval 23">
            <a:extLst>
              <a:ext uri="{FF2B5EF4-FFF2-40B4-BE49-F238E27FC236}">
                <a16:creationId xmlns:a16="http://schemas.microsoft.com/office/drawing/2014/main" id="{0178D858-452D-B59D-020B-910F3DE02825}"/>
              </a:ext>
            </a:extLst>
          </p:cNvPr>
          <p:cNvSpPr/>
          <p:nvPr/>
        </p:nvSpPr>
        <p:spPr>
          <a:xfrm>
            <a:off x="889000" y="4394200"/>
            <a:ext cx="114300" cy="114300"/>
          </a:xfrm>
          <a:prstGeom prst="ellipse">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D2B4D9D-866F-80CD-92B9-76D714E159F5}"/>
              </a:ext>
            </a:extLst>
          </p:cNvPr>
          <p:cNvSpPr txBox="1"/>
          <p:nvPr/>
        </p:nvSpPr>
        <p:spPr>
          <a:xfrm>
            <a:off x="1143000" y="4318000"/>
            <a:ext cx="9969500" cy="238527"/>
          </a:xfrm>
          <a:prstGeom prst="rect">
            <a:avLst/>
          </a:prstGeom>
          <a:noFill/>
        </p:spPr>
        <p:txBody>
          <a:bodyPr vert="horz" wrap="square" lIns="0" tIns="0" rIns="0" bIns="0" rtlCol="0" anchor="t">
            <a:spAutoFit/>
          </a:bodyPr>
          <a:lstStyle/>
          <a:p>
            <a:r>
              <a:rPr lang="en-US" sz="1550">
                <a:solidFill>
                  <a:srgbClr val="172B4D"/>
                </a:solidFill>
                <a:latin typeface="Aptos" panose="020B0004020202020204" pitchFamily="34" charset="0"/>
              </a:rPr>
              <a:t>Vectorizer fit on training split only; challenge set excluded from model selection</a:t>
            </a:r>
          </a:p>
        </p:txBody>
      </p:sp>
      <p:sp>
        <p:nvSpPr>
          <p:cNvPr id="26" name="Oval 25">
            <a:extLst>
              <a:ext uri="{FF2B5EF4-FFF2-40B4-BE49-F238E27FC236}">
                <a16:creationId xmlns:a16="http://schemas.microsoft.com/office/drawing/2014/main" id="{11457AB7-6FFA-2BBB-93E6-5A0295AC916D}"/>
              </a:ext>
            </a:extLst>
          </p:cNvPr>
          <p:cNvSpPr/>
          <p:nvPr/>
        </p:nvSpPr>
        <p:spPr>
          <a:xfrm>
            <a:off x="889000" y="5003800"/>
            <a:ext cx="114300" cy="114300"/>
          </a:xfrm>
          <a:prstGeom prst="ellipse">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C0EF5EF-FBF1-C9CF-CDD7-7EF158E1CA1F}"/>
              </a:ext>
            </a:extLst>
          </p:cNvPr>
          <p:cNvSpPr txBox="1"/>
          <p:nvPr/>
        </p:nvSpPr>
        <p:spPr>
          <a:xfrm>
            <a:off x="1143000" y="4927600"/>
            <a:ext cx="9969500" cy="238527"/>
          </a:xfrm>
          <a:prstGeom prst="rect">
            <a:avLst/>
          </a:prstGeom>
          <a:noFill/>
        </p:spPr>
        <p:txBody>
          <a:bodyPr vert="horz" wrap="square" lIns="0" tIns="0" rIns="0" bIns="0" rtlCol="0" anchor="t">
            <a:spAutoFit/>
          </a:bodyPr>
          <a:lstStyle/>
          <a:p>
            <a:r>
              <a:rPr lang="en-US" sz="1550">
                <a:solidFill>
                  <a:srgbClr val="172B4D"/>
                </a:solidFill>
                <a:latin typeface="Aptos" panose="020B0004020202020204" pitchFamily="34" charset="0"/>
              </a:rPr>
              <a:t>Errors and calibration are reported alongside headline performance</a:t>
            </a:r>
          </a:p>
        </p:txBody>
      </p:sp>
      <p:sp>
        <p:nvSpPr>
          <p:cNvPr id="28" name="Oval 27">
            <a:extLst>
              <a:ext uri="{FF2B5EF4-FFF2-40B4-BE49-F238E27FC236}">
                <a16:creationId xmlns:a16="http://schemas.microsoft.com/office/drawing/2014/main" id="{D7C8B782-C8BD-EF0B-E2D3-6B57C567967B}"/>
              </a:ext>
            </a:extLst>
          </p:cNvPr>
          <p:cNvSpPr/>
          <p:nvPr/>
        </p:nvSpPr>
        <p:spPr>
          <a:xfrm>
            <a:off x="889000" y="5613400"/>
            <a:ext cx="114300" cy="114300"/>
          </a:xfrm>
          <a:prstGeom prst="ellipse">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F8F797F-DDF8-2603-3CF6-52434441D769}"/>
              </a:ext>
            </a:extLst>
          </p:cNvPr>
          <p:cNvSpPr txBox="1"/>
          <p:nvPr/>
        </p:nvSpPr>
        <p:spPr>
          <a:xfrm>
            <a:off x="1143000" y="5537200"/>
            <a:ext cx="9969500" cy="238527"/>
          </a:xfrm>
          <a:prstGeom prst="rect">
            <a:avLst/>
          </a:prstGeom>
          <a:noFill/>
        </p:spPr>
        <p:txBody>
          <a:bodyPr vert="horz" wrap="square" lIns="0" tIns="0" rIns="0" bIns="0" rtlCol="0" anchor="t">
            <a:spAutoFit/>
          </a:bodyPr>
          <a:lstStyle/>
          <a:p>
            <a:r>
              <a:rPr lang="en-US" sz="1550">
                <a:solidFill>
                  <a:srgbClr val="172B4D"/>
                </a:solidFill>
                <a:latin typeface="Aptos" panose="020B0004020202020204" pitchFamily="34" charset="0"/>
              </a:rPr>
              <a:t>Synthetic-only scope and unmeasured OCR accuracy are stated explicitly</a:t>
            </a:r>
          </a:p>
        </p:txBody>
      </p:sp>
    </p:spTree>
    <p:extLst>
      <p:ext uri="{BB962C8B-B14F-4D97-AF65-F5344CB8AC3E}">
        <p14:creationId xmlns:p14="http://schemas.microsoft.com/office/powerpoint/2010/main" val="3715635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873264-A1D1-B85C-0FF4-CFC14B70ED97}"/>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0B941CC-4B96-F392-B089-678B57B6AAF2}"/>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15  /  COURSE ALIGNMENT</a:t>
            </a:r>
          </a:p>
        </p:txBody>
      </p:sp>
      <p:sp>
        <p:nvSpPr>
          <p:cNvPr id="4" name="TextBox 3">
            <a:extLst>
              <a:ext uri="{FF2B5EF4-FFF2-40B4-BE49-F238E27FC236}">
                <a16:creationId xmlns:a16="http://schemas.microsoft.com/office/drawing/2014/main" id="{E74D7122-388D-880B-768D-64D089DBDDD5}"/>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How RxAuth AI maps to IBM AI Engineering learning goals</a:t>
            </a:r>
          </a:p>
        </p:txBody>
      </p:sp>
      <p:sp>
        <p:nvSpPr>
          <p:cNvPr id="5" name="TextBox 4">
            <a:extLst>
              <a:ext uri="{FF2B5EF4-FFF2-40B4-BE49-F238E27FC236}">
                <a16:creationId xmlns:a16="http://schemas.microsoft.com/office/drawing/2014/main" id="{4E9CE3D4-A933-2C89-EBD4-38A300AF4FF8}"/>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Each course block unlocks a concrete project capability and measurable deliverable</a:t>
            </a:r>
          </a:p>
        </p:txBody>
      </p:sp>
      <p:cxnSp>
        <p:nvCxnSpPr>
          <p:cNvPr id="6" name="Straight Connector 5">
            <a:extLst>
              <a:ext uri="{FF2B5EF4-FFF2-40B4-BE49-F238E27FC236}">
                <a16:creationId xmlns:a16="http://schemas.microsoft.com/office/drawing/2014/main" id="{837B71BD-5AC4-C958-43CC-E71C7D042EE1}"/>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656EC70-A0C1-7D9B-0224-E908FE149D47}"/>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10AAD45A-03E8-6BFF-B139-6649502FAD40}"/>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16</a:t>
            </a:r>
          </a:p>
        </p:txBody>
      </p:sp>
      <p:graphicFrame>
        <p:nvGraphicFramePr>
          <p:cNvPr id="9" name="Table 8">
            <a:extLst>
              <a:ext uri="{FF2B5EF4-FFF2-40B4-BE49-F238E27FC236}">
                <a16:creationId xmlns:a16="http://schemas.microsoft.com/office/drawing/2014/main" id="{944A09F3-7817-D0E9-0FA0-B3C4B9E563BC}"/>
              </a:ext>
            </a:extLst>
          </p:cNvPr>
          <p:cNvGraphicFramePr>
            <a:graphicFrameLocks noGrp="1"/>
          </p:cNvGraphicFramePr>
          <p:nvPr>
            <p:extLst>
              <p:ext uri="{D42A27DB-BD31-4B8C-83A1-F6EECF244321}">
                <p14:modId xmlns:p14="http://schemas.microsoft.com/office/powerpoint/2010/main" val="688592999"/>
              </p:ext>
            </p:extLst>
          </p:nvPr>
        </p:nvGraphicFramePr>
        <p:xfrm>
          <a:off x="635000" y="1841500"/>
          <a:ext cx="10922000" cy="4064000"/>
        </p:xfrm>
        <a:graphic>
          <a:graphicData uri="http://schemas.openxmlformats.org/drawingml/2006/table">
            <a:tbl>
              <a:tblPr firstRow="1" bandRow="1">
                <a:tableStyleId>{5C22544A-7EE6-4342-B048-85BDC9FD1C3A}</a:tableStyleId>
              </a:tblPr>
              <a:tblGrid>
                <a:gridCol w="3640667">
                  <a:extLst>
                    <a:ext uri="{9D8B030D-6E8A-4147-A177-3AD203B41FA5}">
                      <a16:colId xmlns:a16="http://schemas.microsoft.com/office/drawing/2014/main" val="1920100659"/>
                    </a:ext>
                  </a:extLst>
                </a:gridCol>
                <a:gridCol w="3640667">
                  <a:extLst>
                    <a:ext uri="{9D8B030D-6E8A-4147-A177-3AD203B41FA5}">
                      <a16:colId xmlns:a16="http://schemas.microsoft.com/office/drawing/2014/main" val="1142684119"/>
                    </a:ext>
                  </a:extLst>
                </a:gridCol>
                <a:gridCol w="3640667">
                  <a:extLst>
                    <a:ext uri="{9D8B030D-6E8A-4147-A177-3AD203B41FA5}">
                      <a16:colId xmlns:a16="http://schemas.microsoft.com/office/drawing/2014/main" val="4089253870"/>
                    </a:ext>
                  </a:extLst>
                </a:gridCol>
              </a:tblGrid>
              <a:tr h="508000">
                <a:tc>
                  <a:txBody>
                    <a:bodyPr/>
                    <a:lstStyle/>
                    <a:p>
                      <a:r>
                        <a:rPr lang="en-US" sz="1100" b="1">
                          <a:solidFill>
                            <a:srgbClr val="FFFFFF"/>
                          </a:solidFill>
                          <a:latin typeface="Aptos" panose="020B0004020202020204" pitchFamily="34" charset="0"/>
                        </a:rPr>
                        <a:t>IBM learning block</a:t>
                      </a:r>
                    </a:p>
                  </a:txBody>
                  <a:tcPr>
                    <a:solidFill>
                      <a:srgbClr val="071B33"/>
                    </a:solidFill>
                  </a:tcPr>
                </a:tc>
                <a:tc>
                  <a:txBody>
                    <a:bodyPr/>
                    <a:lstStyle/>
                    <a:p>
                      <a:r>
                        <a:rPr lang="en-US" sz="1100" b="1">
                          <a:solidFill>
                            <a:srgbClr val="FFFFFF"/>
                          </a:solidFill>
                          <a:latin typeface="Aptos" panose="020B0004020202020204" pitchFamily="34" charset="0"/>
                        </a:rPr>
                        <a:t>RxAuth AI deliverable</a:t>
                      </a:r>
                    </a:p>
                  </a:txBody>
                  <a:tcPr>
                    <a:solidFill>
                      <a:srgbClr val="071B33"/>
                    </a:solidFill>
                  </a:tcPr>
                </a:tc>
                <a:tc>
                  <a:txBody>
                    <a:bodyPr/>
                    <a:lstStyle/>
                    <a:p>
                      <a:r>
                        <a:rPr lang="en-US" sz="1100" b="1">
                          <a:solidFill>
                            <a:srgbClr val="FFFFFF"/>
                          </a:solidFill>
                          <a:latin typeface="Aptos" panose="020B0004020202020204" pitchFamily="34" charset="0"/>
                        </a:rPr>
                        <a:t>Status</a:t>
                      </a:r>
                    </a:p>
                  </a:txBody>
                  <a:tcPr>
                    <a:solidFill>
                      <a:srgbClr val="071B33"/>
                    </a:solidFill>
                  </a:tcPr>
                </a:tc>
                <a:extLst>
                  <a:ext uri="{0D108BD9-81ED-4DB2-BD59-A6C34878D82A}">
                    <a16:rowId xmlns:a16="http://schemas.microsoft.com/office/drawing/2014/main" val="1908993954"/>
                  </a:ext>
                </a:extLst>
              </a:tr>
              <a:tr h="508000">
                <a:tc>
                  <a:txBody>
                    <a:bodyPr/>
                    <a:lstStyle/>
                    <a:p>
                      <a:r>
                        <a:rPr lang="en-US" sz="1050">
                          <a:solidFill>
                            <a:srgbClr val="172B4D"/>
                          </a:solidFill>
                          <a:latin typeface="Aptos" panose="020B0004020202020204" pitchFamily="34" charset="0"/>
                        </a:rPr>
                        <a:t>Python / data</a:t>
                      </a:r>
                    </a:p>
                  </a:txBody>
                  <a:tcPr>
                    <a:solidFill>
                      <a:srgbClr val="FFFFFF"/>
                    </a:solidFill>
                  </a:tcPr>
                </a:tc>
                <a:tc>
                  <a:txBody>
                    <a:bodyPr/>
                    <a:lstStyle/>
                    <a:p>
                      <a:r>
                        <a:rPr lang="en-US" sz="1050">
                          <a:solidFill>
                            <a:srgbClr val="172B4D"/>
                          </a:solidFill>
                          <a:latin typeface="Aptos" panose="020B0004020202020204" pitchFamily="34" charset="0"/>
                        </a:rPr>
                        <a:t>Typed ingestion, preprocessing, manifests</a:t>
                      </a:r>
                    </a:p>
                  </a:txBody>
                  <a:tcPr>
                    <a:solidFill>
                      <a:srgbClr val="FFFFFF"/>
                    </a:solidFill>
                  </a:tcPr>
                </a:tc>
                <a:tc>
                  <a:txBody>
                    <a:bodyPr/>
                    <a:lstStyle/>
                    <a:p>
                      <a:r>
                        <a:rPr lang="en-US" sz="1050" b="1">
                          <a:solidFill>
                            <a:srgbClr val="24A148"/>
                          </a:solidFill>
                          <a:latin typeface="Aptos" panose="020B0004020202020204" pitchFamily="34" charset="0"/>
                        </a:rPr>
                        <a:t>Implemented</a:t>
                      </a:r>
                    </a:p>
                  </a:txBody>
                  <a:tcPr>
                    <a:solidFill>
                      <a:srgbClr val="FFFFFF"/>
                    </a:solidFill>
                  </a:tcPr>
                </a:tc>
                <a:extLst>
                  <a:ext uri="{0D108BD9-81ED-4DB2-BD59-A6C34878D82A}">
                    <a16:rowId xmlns:a16="http://schemas.microsoft.com/office/drawing/2014/main" val="4243822381"/>
                  </a:ext>
                </a:extLst>
              </a:tr>
              <a:tr h="508000">
                <a:tc>
                  <a:txBody>
                    <a:bodyPr/>
                    <a:lstStyle/>
                    <a:p>
                      <a:r>
                        <a:rPr lang="en-US" sz="1050">
                          <a:solidFill>
                            <a:srgbClr val="172B4D"/>
                          </a:solidFill>
                          <a:latin typeface="Aptos" panose="020B0004020202020204" pitchFamily="34" charset="0"/>
                        </a:rPr>
                        <a:t>Machine Learning</a:t>
                      </a:r>
                    </a:p>
                  </a:txBody>
                  <a:tcPr>
                    <a:solidFill>
                      <a:srgbClr val="F7F9FC"/>
                    </a:solidFill>
                  </a:tcPr>
                </a:tc>
                <a:tc>
                  <a:txBody>
                    <a:bodyPr/>
                    <a:lstStyle/>
                    <a:p>
                      <a:r>
                        <a:rPr lang="en-US" sz="1050">
                          <a:solidFill>
                            <a:srgbClr val="172B4D"/>
                          </a:solidFill>
                          <a:latin typeface="Aptos" panose="020B0004020202020204" pitchFamily="34" charset="0"/>
                        </a:rPr>
                        <a:t>TF-IDF + logistic regression benchmark</a:t>
                      </a:r>
                    </a:p>
                  </a:txBody>
                  <a:tcPr>
                    <a:solidFill>
                      <a:srgbClr val="F7F9FC"/>
                    </a:solidFill>
                  </a:tcPr>
                </a:tc>
                <a:tc>
                  <a:txBody>
                    <a:bodyPr/>
                    <a:lstStyle/>
                    <a:p>
                      <a:r>
                        <a:rPr lang="en-US" sz="1050" b="1">
                          <a:solidFill>
                            <a:srgbClr val="24A148"/>
                          </a:solidFill>
                          <a:latin typeface="Aptos" panose="020B0004020202020204" pitchFamily="34" charset="0"/>
                        </a:rPr>
                        <a:t>Implemented</a:t>
                      </a:r>
                    </a:p>
                  </a:txBody>
                  <a:tcPr>
                    <a:solidFill>
                      <a:srgbClr val="F7F9FC"/>
                    </a:solidFill>
                  </a:tcPr>
                </a:tc>
                <a:extLst>
                  <a:ext uri="{0D108BD9-81ED-4DB2-BD59-A6C34878D82A}">
                    <a16:rowId xmlns:a16="http://schemas.microsoft.com/office/drawing/2014/main" val="1740381550"/>
                  </a:ext>
                </a:extLst>
              </a:tr>
              <a:tr h="508000">
                <a:tc>
                  <a:txBody>
                    <a:bodyPr/>
                    <a:lstStyle/>
                    <a:p>
                      <a:r>
                        <a:rPr lang="en-US" sz="1050">
                          <a:solidFill>
                            <a:srgbClr val="172B4D"/>
                          </a:solidFill>
                          <a:latin typeface="Aptos" panose="020B0004020202020204" pitchFamily="34" charset="0"/>
                        </a:rPr>
                        <a:t>Deep Learning</a:t>
                      </a:r>
                    </a:p>
                  </a:txBody>
                  <a:tcPr>
                    <a:solidFill>
                      <a:srgbClr val="FFFFFF"/>
                    </a:solidFill>
                  </a:tcPr>
                </a:tc>
                <a:tc>
                  <a:txBody>
                    <a:bodyPr/>
                    <a:lstStyle/>
                    <a:p>
                      <a:r>
                        <a:rPr lang="fr-FR" sz="1050">
                          <a:solidFill>
                            <a:srgbClr val="172B4D"/>
                          </a:solidFill>
                          <a:latin typeface="Aptos" panose="020B0004020202020204" pitchFamily="34" charset="0"/>
                        </a:rPr>
                        <a:t>Transformer classifier vs. same benchmark</a:t>
                      </a:r>
                      <a:endParaRPr lang="en-US" sz="1050">
                        <a:solidFill>
                          <a:srgbClr val="172B4D"/>
                        </a:solidFill>
                        <a:latin typeface="Aptos" panose="020B0004020202020204" pitchFamily="34" charset="0"/>
                      </a:endParaRPr>
                    </a:p>
                  </a:txBody>
                  <a:tcPr>
                    <a:solidFill>
                      <a:srgbClr val="FFFFFF"/>
                    </a:solidFill>
                  </a:tcPr>
                </a:tc>
                <a:tc>
                  <a:txBody>
                    <a:bodyPr/>
                    <a:lstStyle/>
                    <a:p>
                      <a:r>
                        <a:rPr lang="en-US" sz="1050" b="1">
                          <a:solidFill>
                            <a:srgbClr val="FF832B"/>
                          </a:solidFill>
                          <a:latin typeface="Aptos" panose="020B0004020202020204" pitchFamily="34" charset="0"/>
                        </a:rPr>
                        <a:t>Next</a:t>
                      </a:r>
                    </a:p>
                  </a:txBody>
                  <a:tcPr>
                    <a:solidFill>
                      <a:srgbClr val="FFFFFF"/>
                    </a:solidFill>
                  </a:tcPr>
                </a:tc>
                <a:extLst>
                  <a:ext uri="{0D108BD9-81ED-4DB2-BD59-A6C34878D82A}">
                    <a16:rowId xmlns:a16="http://schemas.microsoft.com/office/drawing/2014/main" val="3506531481"/>
                  </a:ext>
                </a:extLst>
              </a:tr>
              <a:tr h="508000">
                <a:tc>
                  <a:txBody>
                    <a:bodyPr/>
                    <a:lstStyle/>
                    <a:p>
                      <a:r>
                        <a:rPr lang="en-US" sz="1050">
                          <a:solidFill>
                            <a:srgbClr val="172B4D"/>
                          </a:solidFill>
                          <a:latin typeface="Aptos" panose="020B0004020202020204" pitchFamily="34" charset="0"/>
                        </a:rPr>
                        <a:t>Computer Vision / NLP</a:t>
                      </a:r>
                    </a:p>
                  </a:txBody>
                  <a:tcPr>
                    <a:solidFill>
                      <a:srgbClr val="F7F9FC"/>
                    </a:solidFill>
                  </a:tcPr>
                </a:tc>
                <a:tc>
                  <a:txBody>
                    <a:bodyPr/>
                    <a:lstStyle/>
                    <a:p>
                      <a:r>
                        <a:rPr lang="en-US" sz="1050">
                          <a:solidFill>
                            <a:srgbClr val="172B4D"/>
                          </a:solidFill>
                          <a:latin typeface="Aptos" panose="020B0004020202020204" pitchFamily="34" charset="0"/>
                        </a:rPr>
                        <a:t>OCR and evidence extraction with confidence</a:t>
                      </a:r>
                    </a:p>
                  </a:txBody>
                  <a:tcPr>
                    <a:solidFill>
                      <a:srgbClr val="F7F9FC"/>
                    </a:solidFill>
                  </a:tcPr>
                </a:tc>
                <a:tc>
                  <a:txBody>
                    <a:bodyPr/>
                    <a:lstStyle/>
                    <a:p>
                      <a:r>
                        <a:rPr lang="en-US" sz="1050" b="1">
                          <a:solidFill>
                            <a:srgbClr val="FF832B"/>
                          </a:solidFill>
                          <a:latin typeface="Aptos" panose="020B0004020202020204" pitchFamily="34" charset="0"/>
                        </a:rPr>
                        <a:t>Partial / next</a:t>
                      </a:r>
                    </a:p>
                  </a:txBody>
                  <a:tcPr>
                    <a:solidFill>
                      <a:srgbClr val="F7F9FC"/>
                    </a:solidFill>
                  </a:tcPr>
                </a:tc>
                <a:extLst>
                  <a:ext uri="{0D108BD9-81ED-4DB2-BD59-A6C34878D82A}">
                    <a16:rowId xmlns:a16="http://schemas.microsoft.com/office/drawing/2014/main" val="1347229886"/>
                  </a:ext>
                </a:extLst>
              </a:tr>
              <a:tr h="508000">
                <a:tc>
                  <a:txBody>
                    <a:bodyPr/>
                    <a:lstStyle/>
                    <a:p>
                      <a:r>
                        <a:rPr lang="en-US" sz="1050">
                          <a:solidFill>
                            <a:srgbClr val="172B4D"/>
                          </a:solidFill>
                          <a:latin typeface="Aptos" panose="020B0004020202020204" pitchFamily="34" charset="0"/>
                        </a:rPr>
                        <a:t>LLM applications + RAG</a:t>
                      </a:r>
                    </a:p>
                  </a:txBody>
                  <a:tcPr>
                    <a:solidFill>
                      <a:srgbClr val="FFFFFF"/>
                    </a:solidFill>
                  </a:tcPr>
                </a:tc>
                <a:tc>
                  <a:txBody>
                    <a:bodyPr/>
                    <a:lstStyle/>
                    <a:p>
                      <a:r>
                        <a:rPr lang="en-US" sz="1050">
                          <a:solidFill>
                            <a:srgbClr val="172B4D"/>
                          </a:solidFill>
                          <a:latin typeface="Aptos" panose="020B0004020202020204" pitchFamily="34" charset="0"/>
                        </a:rPr>
                        <a:t>Public payer-policy retrieval and criteria extraction</a:t>
                      </a:r>
                    </a:p>
                  </a:txBody>
                  <a:tcPr>
                    <a:solidFill>
                      <a:srgbClr val="FFFFFF"/>
                    </a:solidFill>
                  </a:tcPr>
                </a:tc>
                <a:tc>
                  <a:txBody>
                    <a:bodyPr/>
                    <a:lstStyle/>
                    <a:p>
                      <a:r>
                        <a:rPr lang="en-US" sz="1050" b="1">
                          <a:solidFill>
                            <a:srgbClr val="FF832B"/>
                          </a:solidFill>
                          <a:latin typeface="Aptos" panose="020B0004020202020204" pitchFamily="34" charset="0"/>
                        </a:rPr>
                        <a:t>Roadmap</a:t>
                      </a:r>
                    </a:p>
                  </a:txBody>
                  <a:tcPr>
                    <a:solidFill>
                      <a:srgbClr val="FFFFFF"/>
                    </a:solidFill>
                  </a:tcPr>
                </a:tc>
                <a:extLst>
                  <a:ext uri="{0D108BD9-81ED-4DB2-BD59-A6C34878D82A}">
                    <a16:rowId xmlns:a16="http://schemas.microsoft.com/office/drawing/2014/main" val="2377693122"/>
                  </a:ext>
                </a:extLst>
              </a:tr>
              <a:tr h="508000">
                <a:tc>
                  <a:txBody>
                    <a:bodyPr/>
                    <a:lstStyle/>
                    <a:p>
                      <a:r>
                        <a:rPr lang="en-US" sz="1050">
                          <a:solidFill>
                            <a:srgbClr val="172B4D"/>
                          </a:solidFill>
                          <a:latin typeface="Aptos" panose="020B0004020202020204" pitchFamily="34" charset="0"/>
                        </a:rPr>
                        <a:t>AI agents</a:t>
                      </a:r>
                    </a:p>
                  </a:txBody>
                  <a:tcPr>
                    <a:solidFill>
                      <a:srgbClr val="F7F9FC"/>
                    </a:solidFill>
                  </a:tcPr>
                </a:tc>
                <a:tc>
                  <a:txBody>
                    <a:bodyPr/>
                    <a:lstStyle/>
                    <a:p>
                      <a:r>
                        <a:rPr lang="en-US" sz="1050">
                          <a:solidFill>
                            <a:srgbClr val="172B4D"/>
                          </a:solidFill>
                          <a:latin typeface="Aptos" panose="020B0004020202020204" pitchFamily="34" charset="0"/>
                        </a:rPr>
                        <a:t>Controlled state graph and review checkpoints</a:t>
                      </a:r>
                    </a:p>
                  </a:txBody>
                  <a:tcPr>
                    <a:solidFill>
                      <a:srgbClr val="F7F9FC"/>
                    </a:solidFill>
                  </a:tcPr>
                </a:tc>
                <a:tc>
                  <a:txBody>
                    <a:bodyPr/>
                    <a:lstStyle/>
                    <a:p>
                      <a:r>
                        <a:rPr lang="en-US" sz="1050" b="1">
                          <a:solidFill>
                            <a:srgbClr val="FF832B"/>
                          </a:solidFill>
                          <a:latin typeface="Aptos" panose="020B0004020202020204" pitchFamily="34" charset="0"/>
                        </a:rPr>
                        <a:t>Roadmap</a:t>
                      </a:r>
                    </a:p>
                  </a:txBody>
                  <a:tcPr>
                    <a:solidFill>
                      <a:srgbClr val="F7F9FC"/>
                    </a:solidFill>
                  </a:tcPr>
                </a:tc>
                <a:extLst>
                  <a:ext uri="{0D108BD9-81ED-4DB2-BD59-A6C34878D82A}">
                    <a16:rowId xmlns:a16="http://schemas.microsoft.com/office/drawing/2014/main" val="3975098922"/>
                  </a:ext>
                </a:extLst>
              </a:tr>
              <a:tr h="508000">
                <a:tc>
                  <a:txBody>
                    <a:bodyPr/>
                    <a:lstStyle/>
                    <a:p>
                      <a:r>
                        <a:rPr lang="en-US" sz="1050">
                          <a:solidFill>
                            <a:srgbClr val="172B4D"/>
                          </a:solidFill>
                          <a:latin typeface="Aptos" panose="020B0004020202020204" pitchFamily="34" charset="0"/>
                        </a:rPr>
                        <a:t>Model evaluation</a:t>
                      </a:r>
                    </a:p>
                  </a:txBody>
                  <a:tcPr>
                    <a:solidFill>
                      <a:srgbClr val="FFFFFF"/>
                    </a:solidFill>
                  </a:tcPr>
                </a:tc>
                <a:tc>
                  <a:txBody>
                    <a:bodyPr/>
                    <a:lstStyle/>
                    <a:p>
                      <a:r>
                        <a:rPr lang="en-US" sz="1050">
                          <a:solidFill>
                            <a:srgbClr val="172B4D"/>
                          </a:solidFill>
                          <a:latin typeface="Aptos" panose="020B0004020202020204" pitchFamily="34" charset="0"/>
                        </a:rPr>
                        <a:t>F1, calibration, routing, latency, groundedness</a:t>
                      </a:r>
                    </a:p>
                  </a:txBody>
                  <a:tcPr>
                    <a:solidFill>
                      <a:srgbClr val="FFFFFF"/>
                    </a:solidFill>
                  </a:tcPr>
                </a:tc>
                <a:tc>
                  <a:txBody>
                    <a:bodyPr/>
                    <a:lstStyle/>
                    <a:p>
                      <a:r>
                        <a:rPr lang="en-US" sz="1050" b="1">
                          <a:solidFill>
                            <a:srgbClr val="FF832B"/>
                          </a:solidFill>
                          <a:latin typeface="Aptos" panose="020B0004020202020204" pitchFamily="34" charset="0"/>
                        </a:rPr>
                        <a:t>Implemented / expands</a:t>
                      </a:r>
                    </a:p>
                  </a:txBody>
                  <a:tcPr>
                    <a:solidFill>
                      <a:srgbClr val="FFFFFF"/>
                    </a:solidFill>
                  </a:tcPr>
                </a:tc>
                <a:extLst>
                  <a:ext uri="{0D108BD9-81ED-4DB2-BD59-A6C34878D82A}">
                    <a16:rowId xmlns:a16="http://schemas.microsoft.com/office/drawing/2014/main" val="652017162"/>
                  </a:ext>
                </a:extLst>
              </a:tr>
            </a:tbl>
          </a:graphicData>
        </a:graphic>
      </p:graphicFrame>
    </p:spTree>
    <p:extLst>
      <p:ext uri="{BB962C8B-B14F-4D97-AF65-F5344CB8AC3E}">
        <p14:creationId xmlns:p14="http://schemas.microsoft.com/office/powerpoint/2010/main" val="522178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0CAA0C-5D3F-E23B-8EDC-AA9A46257A22}"/>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D8E5B3-90A0-B2BA-0965-F95370EF9C07}"/>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16  /  ROADMAP</a:t>
            </a:r>
          </a:p>
        </p:txBody>
      </p:sp>
      <p:sp>
        <p:nvSpPr>
          <p:cNvPr id="4" name="TextBox 3">
            <a:extLst>
              <a:ext uri="{FF2B5EF4-FFF2-40B4-BE49-F238E27FC236}">
                <a16:creationId xmlns:a16="http://schemas.microsoft.com/office/drawing/2014/main" id="{6BFA484E-3363-2AEE-EC55-5A1C0C15A1BB}"/>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From Phase 1.5 to a portfolio-ready V1</a:t>
            </a:r>
          </a:p>
        </p:txBody>
      </p:sp>
      <p:sp>
        <p:nvSpPr>
          <p:cNvPr id="5" name="TextBox 4">
            <a:extLst>
              <a:ext uri="{FF2B5EF4-FFF2-40B4-BE49-F238E27FC236}">
                <a16:creationId xmlns:a16="http://schemas.microsoft.com/office/drawing/2014/main" id="{49A73782-9131-BABB-71B4-6B1CF2316D83}"/>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Advance only when each layer has a defensible evaluation boundary</a:t>
            </a:r>
          </a:p>
        </p:txBody>
      </p:sp>
      <p:cxnSp>
        <p:nvCxnSpPr>
          <p:cNvPr id="6" name="Straight Connector 5">
            <a:extLst>
              <a:ext uri="{FF2B5EF4-FFF2-40B4-BE49-F238E27FC236}">
                <a16:creationId xmlns:a16="http://schemas.microsoft.com/office/drawing/2014/main" id="{583EFCD4-6876-4397-1C20-5408BB935411}"/>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2F2844F-CC1A-C271-947E-50DB2713B38D}"/>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6C40B5CC-62AA-5D03-A292-0D7F6F4753C9}"/>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17</a:t>
            </a:r>
          </a:p>
        </p:txBody>
      </p:sp>
      <p:cxnSp>
        <p:nvCxnSpPr>
          <p:cNvPr id="9" name="Straight Connector 8">
            <a:extLst>
              <a:ext uri="{FF2B5EF4-FFF2-40B4-BE49-F238E27FC236}">
                <a16:creationId xmlns:a16="http://schemas.microsoft.com/office/drawing/2014/main" id="{63C034E7-476E-2818-74CB-96CC2F49E034}"/>
              </a:ext>
            </a:extLst>
          </p:cNvPr>
          <p:cNvCxnSpPr/>
          <p:nvPr/>
        </p:nvCxnSpPr>
        <p:spPr>
          <a:xfrm>
            <a:off x="1143000" y="3302000"/>
            <a:ext cx="9969500" cy="0"/>
          </a:xfrm>
          <a:prstGeom prst="line">
            <a:avLst/>
          </a:prstGeom>
          <a:ln w="63500">
            <a:solidFill>
              <a:srgbClr val="E8EEF5"/>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15B56176-CE43-A052-2DE3-FD62E2650CBE}"/>
              </a:ext>
            </a:extLst>
          </p:cNvPr>
          <p:cNvSpPr/>
          <p:nvPr/>
        </p:nvSpPr>
        <p:spPr>
          <a:xfrm>
            <a:off x="1143000" y="3009900"/>
            <a:ext cx="584200" cy="5842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69AF2FF-1016-7F56-7BBF-DF449FE82F5B}"/>
              </a:ext>
            </a:extLst>
          </p:cNvPr>
          <p:cNvSpPr txBox="1"/>
          <p:nvPr/>
        </p:nvSpPr>
        <p:spPr>
          <a:xfrm>
            <a:off x="10922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M0</a:t>
            </a:r>
          </a:p>
        </p:txBody>
      </p:sp>
      <p:sp>
        <p:nvSpPr>
          <p:cNvPr id="12" name="TextBox 11">
            <a:extLst>
              <a:ext uri="{FF2B5EF4-FFF2-40B4-BE49-F238E27FC236}">
                <a16:creationId xmlns:a16="http://schemas.microsoft.com/office/drawing/2014/main" id="{3B195A42-AC85-8DD0-A43D-D28B5CE3CCE5}"/>
              </a:ext>
            </a:extLst>
          </p:cNvPr>
          <p:cNvSpPr txBox="1"/>
          <p:nvPr/>
        </p:nvSpPr>
        <p:spPr>
          <a:xfrm>
            <a:off x="5588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Workflow spine</a:t>
            </a:r>
          </a:p>
        </p:txBody>
      </p:sp>
      <p:sp>
        <p:nvSpPr>
          <p:cNvPr id="13" name="Rectangle: Rounded Corners 12">
            <a:extLst>
              <a:ext uri="{FF2B5EF4-FFF2-40B4-BE49-F238E27FC236}">
                <a16:creationId xmlns:a16="http://schemas.microsoft.com/office/drawing/2014/main" id="{66B5C4CF-6AC7-CF62-C18C-3FDF10D69909}"/>
              </a:ext>
            </a:extLst>
          </p:cNvPr>
          <p:cNvSpPr/>
          <p:nvPr/>
        </p:nvSpPr>
        <p:spPr>
          <a:xfrm>
            <a:off x="889000" y="4635500"/>
            <a:ext cx="10922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6BF7458-38C0-A379-00AA-FF3DDB5C5D66}"/>
              </a:ext>
            </a:extLst>
          </p:cNvPr>
          <p:cNvSpPr txBox="1"/>
          <p:nvPr/>
        </p:nvSpPr>
        <p:spPr>
          <a:xfrm>
            <a:off x="990600" y="4699000"/>
            <a:ext cx="8890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Done</a:t>
            </a:r>
          </a:p>
        </p:txBody>
      </p:sp>
      <p:sp>
        <p:nvSpPr>
          <p:cNvPr id="15" name="Oval 14">
            <a:extLst>
              <a:ext uri="{FF2B5EF4-FFF2-40B4-BE49-F238E27FC236}">
                <a16:creationId xmlns:a16="http://schemas.microsoft.com/office/drawing/2014/main" id="{C18D839D-8167-053D-F10E-DEC9771E194A}"/>
              </a:ext>
            </a:extLst>
          </p:cNvPr>
          <p:cNvSpPr/>
          <p:nvPr/>
        </p:nvSpPr>
        <p:spPr>
          <a:xfrm>
            <a:off x="3111500" y="3009900"/>
            <a:ext cx="584200" cy="584200"/>
          </a:xfrm>
          <a:prstGeom prst="ellipse">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705024D-13F1-632E-A564-4C59159D8DE6}"/>
              </a:ext>
            </a:extLst>
          </p:cNvPr>
          <p:cNvSpPr txBox="1"/>
          <p:nvPr/>
        </p:nvSpPr>
        <p:spPr>
          <a:xfrm>
            <a:off x="30607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P1</a:t>
            </a:r>
          </a:p>
        </p:txBody>
      </p:sp>
      <p:sp>
        <p:nvSpPr>
          <p:cNvPr id="17" name="TextBox 16">
            <a:extLst>
              <a:ext uri="{FF2B5EF4-FFF2-40B4-BE49-F238E27FC236}">
                <a16:creationId xmlns:a16="http://schemas.microsoft.com/office/drawing/2014/main" id="{7E16D49B-7FA8-7557-EFEC-C7A2918F1C68}"/>
              </a:ext>
            </a:extLst>
          </p:cNvPr>
          <p:cNvSpPr txBox="1"/>
          <p:nvPr/>
        </p:nvSpPr>
        <p:spPr>
          <a:xfrm>
            <a:off x="25273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ML baseline</a:t>
            </a:r>
          </a:p>
        </p:txBody>
      </p:sp>
      <p:sp>
        <p:nvSpPr>
          <p:cNvPr id="18" name="Rectangle: Rounded Corners 17">
            <a:extLst>
              <a:ext uri="{FF2B5EF4-FFF2-40B4-BE49-F238E27FC236}">
                <a16:creationId xmlns:a16="http://schemas.microsoft.com/office/drawing/2014/main" id="{EA9DB64C-2C93-A32D-752D-56D101D7B22F}"/>
              </a:ext>
            </a:extLst>
          </p:cNvPr>
          <p:cNvSpPr/>
          <p:nvPr/>
        </p:nvSpPr>
        <p:spPr>
          <a:xfrm>
            <a:off x="2857500" y="4635500"/>
            <a:ext cx="10922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D480491-6ACD-AA1F-E07C-730F9A8ACC84}"/>
              </a:ext>
            </a:extLst>
          </p:cNvPr>
          <p:cNvSpPr txBox="1"/>
          <p:nvPr/>
        </p:nvSpPr>
        <p:spPr>
          <a:xfrm>
            <a:off x="2959100" y="4699000"/>
            <a:ext cx="8890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Done</a:t>
            </a:r>
          </a:p>
        </p:txBody>
      </p:sp>
      <p:sp>
        <p:nvSpPr>
          <p:cNvPr id="20" name="Oval 19">
            <a:extLst>
              <a:ext uri="{FF2B5EF4-FFF2-40B4-BE49-F238E27FC236}">
                <a16:creationId xmlns:a16="http://schemas.microsoft.com/office/drawing/2014/main" id="{85E00668-8BF3-4362-DE83-F0B82CB06ECE}"/>
              </a:ext>
            </a:extLst>
          </p:cNvPr>
          <p:cNvSpPr/>
          <p:nvPr/>
        </p:nvSpPr>
        <p:spPr>
          <a:xfrm>
            <a:off x="5080000" y="3009900"/>
            <a:ext cx="584200" cy="584200"/>
          </a:xfrm>
          <a:prstGeom prst="ellipse">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C16E1CF-9927-12FE-84F8-739C8A08EB04}"/>
              </a:ext>
            </a:extLst>
          </p:cNvPr>
          <p:cNvSpPr txBox="1"/>
          <p:nvPr/>
        </p:nvSpPr>
        <p:spPr>
          <a:xfrm>
            <a:off x="50292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P1.5</a:t>
            </a:r>
          </a:p>
        </p:txBody>
      </p:sp>
      <p:sp>
        <p:nvSpPr>
          <p:cNvPr id="22" name="TextBox 21">
            <a:extLst>
              <a:ext uri="{FF2B5EF4-FFF2-40B4-BE49-F238E27FC236}">
                <a16:creationId xmlns:a16="http://schemas.microsoft.com/office/drawing/2014/main" id="{73C4771F-D32B-7FB9-AFE9-0A68091B38EA}"/>
              </a:ext>
            </a:extLst>
          </p:cNvPr>
          <p:cNvSpPr txBox="1"/>
          <p:nvPr/>
        </p:nvSpPr>
        <p:spPr>
          <a:xfrm>
            <a:off x="44958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Ingestion + hardening</a:t>
            </a:r>
          </a:p>
        </p:txBody>
      </p:sp>
      <p:sp>
        <p:nvSpPr>
          <p:cNvPr id="23" name="Rectangle: Rounded Corners 22">
            <a:extLst>
              <a:ext uri="{FF2B5EF4-FFF2-40B4-BE49-F238E27FC236}">
                <a16:creationId xmlns:a16="http://schemas.microsoft.com/office/drawing/2014/main" id="{2CF4FFC3-57B4-ABC3-2972-787A315B1B62}"/>
              </a:ext>
            </a:extLst>
          </p:cNvPr>
          <p:cNvSpPr/>
          <p:nvPr/>
        </p:nvSpPr>
        <p:spPr>
          <a:xfrm>
            <a:off x="4826000" y="4635500"/>
            <a:ext cx="1092200" cy="304800"/>
          </a:xfrm>
          <a:prstGeom prst="roundRect">
            <a:avLst/>
          </a:prstGeom>
          <a:solidFill>
            <a:srgbClr val="EA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41A3C70-3EBA-23B8-D92B-56605587B643}"/>
              </a:ext>
            </a:extLst>
          </p:cNvPr>
          <p:cNvSpPr txBox="1"/>
          <p:nvPr/>
        </p:nvSpPr>
        <p:spPr>
          <a:xfrm>
            <a:off x="4927600" y="4699000"/>
            <a:ext cx="889000" cy="153888"/>
          </a:xfrm>
          <a:prstGeom prst="rect">
            <a:avLst/>
          </a:prstGeom>
          <a:noFill/>
        </p:spPr>
        <p:txBody>
          <a:bodyPr vert="horz" wrap="square" lIns="0" tIns="0" rIns="0" bIns="0" rtlCol="0" anchor="t">
            <a:spAutoFit/>
          </a:bodyPr>
          <a:lstStyle/>
          <a:p>
            <a:pPr algn="ctr"/>
            <a:r>
              <a:rPr lang="en-US" sz="1000" b="1">
                <a:solidFill>
                  <a:srgbClr val="0F62FE"/>
                </a:solidFill>
                <a:latin typeface="Aptos" panose="020B0004020202020204" pitchFamily="34" charset="0"/>
              </a:rPr>
              <a:t>Current</a:t>
            </a:r>
          </a:p>
        </p:txBody>
      </p:sp>
      <p:sp>
        <p:nvSpPr>
          <p:cNvPr id="25" name="Oval 24">
            <a:extLst>
              <a:ext uri="{FF2B5EF4-FFF2-40B4-BE49-F238E27FC236}">
                <a16:creationId xmlns:a16="http://schemas.microsoft.com/office/drawing/2014/main" id="{D58499E4-EB52-292C-4862-DD2939FBB081}"/>
              </a:ext>
            </a:extLst>
          </p:cNvPr>
          <p:cNvSpPr/>
          <p:nvPr/>
        </p:nvSpPr>
        <p:spPr>
          <a:xfrm>
            <a:off x="7048500" y="3009900"/>
            <a:ext cx="584200" cy="584200"/>
          </a:xfrm>
          <a:prstGeom prst="ellipse">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0E219DB-8F76-DBED-5262-4D6AE51831E7}"/>
              </a:ext>
            </a:extLst>
          </p:cNvPr>
          <p:cNvSpPr txBox="1"/>
          <p:nvPr/>
        </p:nvSpPr>
        <p:spPr>
          <a:xfrm>
            <a:off x="69977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P2</a:t>
            </a:r>
          </a:p>
        </p:txBody>
      </p:sp>
      <p:sp>
        <p:nvSpPr>
          <p:cNvPr id="27" name="TextBox 26">
            <a:extLst>
              <a:ext uri="{FF2B5EF4-FFF2-40B4-BE49-F238E27FC236}">
                <a16:creationId xmlns:a16="http://schemas.microsoft.com/office/drawing/2014/main" id="{42808D7F-25FB-D954-C1D1-AA7A03A17A57}"/>
              </a:ext>
            </a:extLst>
          </p:cNvPr>
          <p:cNvSpPr txBox="1"/>
          <p:nvPr/>
        </p:nvSpPr>
        <p:spPr>
          <a:xfrm>
            <a:off x="64643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Transformer comparison</a:t>
            </a:r>
          </a:p>
        </p:txBody>
      </p:sp>
      <p:sp>
        <p:nvSpPr>
          <p:cNvPr id="28" name="Rectangle: Rounded Corners 27">
            <a:extLst>
              <a:ext uri="{FF2B5EF4-FFF2-40B4-BE49-F238E27FC236}">
                <a16:creationId xmlns:a16="http://schemas.microsoft.com/office/drawing/2014/main" id="{77DEF0FC-6547-1CC5-0AB0-369EC8DE609B}"/>
              </a:ext>
            </a:extLst>
          </p:cNvPr>
          <p:cNvSpPr/>
          <p:nvPr/>
        </p:nvSpPr>
        <p:spPr>
          <a:xfrm>
            <a:off x="6794500" y="4635500"/>
            <a:ext cx="10922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4E509F7-0648-EB6C-3359-B9AF1ADD7998}"/>
              </a:ext>
            </a:extLst>
          </p:cNvPr>
          <p:cNvSpPr txBox="1"/>
          <p:nvPr/>
        </p:nvSpPr>
        <p:spPr>
          <a:xfrm>
            <a:off x="6896100" y="4699000"/>
            <a:ext cx="8890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Next</a:t>
            </a:r>
          </a:p>
        </p:txBody>
      </p:sp>
      <p:sp>
        <p:nvSpPr>
          <p:cNvPr id="30" name="Oval 29">
            <a:extLst>
              <a:ext uri="{FF2B5EF4-FFF2-40B4-BE49-F238E27FC236}">
                <a16:creationId xmlns:a16="http://schemas.microsoft.com/office/drawing/2014/main" id="{49BDCF5A-6ABA-E738-CC71-03D940CE39F1}"/>
              </a:ext>
            </a:extLst>
          </p:cNvPr>
          <p:cNvSpPr/>
          <p:nvPr/>
        </p:nvSpPr>
        <p:spPr>
          <a:xfrm>
            <a:off x="9017000" y="3009900"/>
            <a:ext cx="584200" cy="584200"/>
          </a:xfrm>
          <a:prstGeom prst="ellipse">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F5A95DF-FA54-B906-C8E9-6315FFBD962E}"/>
              </a:ext>
            </a:extLst>
          </p:cNvPr>
          <p:cNvSpPr txBox="1"/>
          <p:nvPr/>
        </p:nvSpPr>
        <p:spPr>
          <a:xfrm>
            <a:off x="89662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P3</a:t>
            </a:r>
          </a:p>
        </p:txBody>
      </p:sp>
      <p:sp>
        <p:nvSpPr>
          <p:cNvPr id="32" name="TextBox 31">
            <a:extLst>
              <a:ext uri="{FF2B5EF4-FFF2-40B4-BE49-F238E27FC236}">
                <a16:creationId xmlns:a16="http://schemas.microsoft.com/office/drawing/2014/main" id="{3CB970BB-865F-B026-294E-3632FBAA0B9B}"/>
              </a:ext>
            </a:extLst>
          </p:cNvPr>
          <p:cNvSpPr txBox="1"/>
          <p:nvPr/>
        </p:nvSpPr>
        <p:spPr>
          <a:xfrm>
            <a:off x="84328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Extraction + policy RAG</a:t>
            </a:r>
          </a:p>
        </p:txBody>
      </p:sp>
      <p:sp>
        <p:nvSpPr>
          <p:cNvPr id="33" name="Rectangle: Rounded Corners 32">
            <a:extLst>
              <a:ext uri="{FF2B5EF4-FFF2-40B4-BE49-F238E27FC236}">
                <a16:creationId xmlns:a16="http://schemas.microsoft.com/office/drawing/2014/main" id="{127FE186-ED04-B9BC-1B60-C50C61D71CA1}"/>
              </a:ext>
            </a:extLst>
          </p:cNvPr>
          <p:cNvSpPr/>
          <p:nvPr/>
        </p:nvSpPr>
        <p:spPr>
          <a:xfrm>
            <a:off x="8763000" y="4635500"/>
            <a:ext cx="10922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1E55ECB-0630-7C63-AE67-89E9D2161B3C}"/>
              </a:ext>
            </a:extLst>
          </p:cNvPr>
          <p:cNvSpPr txBox="1"/>
          <p:nvPr/>
        </p:nvSpPr>
        <p:spPr>
          <a:xfrm>
            <a:off x="8864600" y="4699000"/>
            <a:ext cx="8890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Roadmap</a:t>
            </a:r>
          </a:p>
        </p:txBody>
      </p:sp>
      <p:sp>
        <p:nvSpPr>
          <p:cNvPr id="35" name="Oval 34">
            <a:extLst>
              <a:ext uri="{FF2B5EF4-FFF2-40B4-BE49-F238E27FC236}">
                <a16:creationId xmlns:a16="http://schemas.microsoft.com/office/drawing/2014/main" id="{7CCF03A4-E90D-A87A-9774-A1C04BC0D57A}"/>
              </a:ext>
            </a:extLst>
          </p:cNvPr>
          <p:cNvSpPr/>
          <p:nvPr/>
        </p:nvSpPr>
        <p:spPr>
          <a:xfrm>
            <a:off x="10985500" y="3009900"/>
            <a:ext cx="584200" cy="584200"/>
          </a:xfrm>
          <a:prstGeom prst="ellipse">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6C73752-2D47-BF1B-6260-476919EF23C7}"/>
              </a:ext>
            </a:extLst>
          </p:cNvPr>
          <p:cNvSpPr txBox="1"/>
          <p:nvPr/>
        </p:nvSpPr>
        <p:spPr>
          <a:xfrm>
            <a:off x="10934700" y="3175000"/>
            <a:ext cx="685800" cy="138499"/>
          </a:xfrm>
          <a:prstGeom prst="rect">
            <a:avLst/>
          </a:prstGeom>
          <a:noFill/>
        </p:spPr>
        <p:txBody>
          <a:bodyPr vert="horz" wrap="square" lIns="0" tIns="0" rIns="0" bIns="0" rtlCol="0" anchor="t">
            <a:spAutoFit/>
          </a:bodyPr>
          <a:lstStyle/>
          <a:p>
            <a:pPr algn="ctr"/>
            <a:r>
              <a:rPr lang="en-US" sz="900" b="1">
                <a:solidFill>
                  <a:srgbClr val="FFFFFF"/>
                </a:solidFill>
                <a:latin typeface="Aptos" panose="020B0004020202020204" pitchFamily="34" charset="0"/>
              </a:rPr>
              <a:t>V1</a:t>
            </a:r>
          </a:p>
        </p:txBody>
      </p:sp>
      <p:sp>
        <p:nvSpPr>
          <p:cNvPr id="37" name="TextBox 36">
            <a:extLst>
              <a:ext uri="{FF2B5EF4-FFF2-40B4-BE49-F238E27FC236}">
                <a16:creationId xmlns:a16="http://schemas.microsoft.com/office/drawing/2014/main" id="{BCA91D1F-413C-5A86-2835-9986CB366898}"/>
              </a:ext>
            </a:extLst>
          </p:cNvPr>
          <p:cNvSpPr txBox="1"/>
          <p:nvPr/>
        </p:nvSpPr>
        <p:spPr>
          <a:xfrm>
            <a:off x="10401300" y="3810000"/>
            <a:ext cx="1778000" cy="184666"/>
          </a:xfrm>
          <a:prstGeom prst="rect">
            <a:avLst/>
          </a:prstGeom>
          <a:noFill/>
        </p:spPr>
        <p:txBody>
          <a:bodyPr vert="horz" wrap="square" lIns="0" tIns="0" rIns="0" bIns="0" rtlCol="0" anchor="t">
            <a:spAutoFit/>
          </a:bodyPr>
          <a:lstStyle/>
          <a:p>
            <a:pPr algn="ctr"/>
            <a:r>
              <a:rPr lang="en-US" sz="1200" b="1">
                <a:solidFill>
                  <a:srgbClr val="172B4D"/>
                </a:solidFill>
                <a:latin typeface="Aptos" panose="020B0004020202020204" pitchFamily="34" charset="0"/>
              </a:rPr>
              <a:t>Controlled agent + UI</a:t>
            </a:r>
          </a:p>
        </p:txBody>
      </p:sp>
      <p:sp>
        <p:nvSpPr>
          <p:cNvPr id="38" name="Rectangle: Rounded Corners 37">
            <a:extLst>
              <a:ext uri="{FF2B5EF4-FFF2-40B4-BE49-F238E27FC236}">
                <a16:creationId xmlns:a16="http://schemas.microsoft.com/office/drawing/2014/main" id="{8067AB7C-8E19-2AE8-6C65-3CE709904DCB}"/>
              </a:ext>
            </a:extLst>
          </p:cNvPr>
          <p:cNvSpPr/>
          <p:nvPr/>
        </p:nvSpPr>
        <p:spPr>
          <a:xfrm>
            <a:off x="10731500" y="4635500"/>
            <a:ext cx="10922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8C79043-01F2-1317-1EE8-0E2169D725E9}"/>
              </a:ext>
            </a:extLst>
          </p:cNvPr>
          <p:cNvSpPr txBox="1"/>
          <p:nvPr/>
        </p:nvSpPr>
        <p:spPr>
          <a:xfrm>
            <a:off x="10833100" y="4699000"/>
            <a:ext cx="8890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Roadmap</a:t>
            </a:r>
          </a:p>
        </p:txBody>
      </p:sp>
      <p:sp>
        <p:nvSpPr>
          <p:cNvPr id="40" name="TextBox 39">
            <a:extLst>
              <a:ext uri="{FF2B5EF4-FFF2-40B4-BE49-F238E27FC236}">
                <a16:creationId xmlns:a16="http://schemas.microsoft.com/office/drawing/2014/main" id="{32928709-5B0C-6D92-3E18-7B55AF258419}"/>
              </a:ext>
            </a:extLst>
          </p:cNvPr>
          <p:cNvSpPr txBox="1"/>
          <p:nvPr/>
        </p:nvSpPr>
        <p:spPr>
          <a:xfrm>
            <a:off x="1016000" y="5461000"/>
            <a:ext cx="10287000" cy="461665"/>
          </a:xfrm>
          <a:prstGeom prst="rect">
            <a:avLst/>
          </a:prstGeom>
          <a:noFill/>
        </p:spPr>
        <p:txBody>
          <a:bodyPr vert="horz" wrap="square" lIns="0" tIns="0" rIns="0" bIns="0" rtlCol="0" anchor="t">
            <a:spAutoFit/>
          </a:bodyPr>
          <a:lstStyle/>
          <a:p>
            <a:pPr algn="ctr"/>
            <a:r>
              <a:rPr lang="en-US" sz="1500" b="1">
                <a:solidFill>
                  <a:srgbClr val="071B33"/>
                </a:solidFill>
                <a:latin typeface="Aptos" panose="020B0004020202020204" pitchFamily="34" charset="0"/>
              </a:rPr>
              <a:t>Model selection rule: same splits, same metrics, same reporting contract—then compare quality, calibration, latency, size, and deployment cost.</a:t>
            </a:r>
          </a:p>
        </p:txBody>
      </p:sp>
    </p:spTree>
    <p:extLst>
      <p:ext uri="{BB962C8B-B14F-4D97-AF65-F5344CB8AC3E}">
        <p14:creationId xmlns:p14="http://schemas.microsoft.com/office/powerpoint/2010/main" val="2857861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3BF059-6446-452E-C3D8-AD94F32D06F5}"/>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FEB768-5292-BA55-33B5-8B89623FE1A0}"/>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17  /  CONCLUSION</a:t>
            </a:r>
          </a:p>
        </p:txBody>
      </p:sp>
      <p:sp>
        <p:nvSpPr>
          <p:cNvPr id="4" name="TextBox 3">
            <a:extLst>
              <a:ext uri="{FF2B5EF4-FFF2-40B4-BE49-F238E27FC236}">
                <a16:creationId xmlns:a16="http://schemas.microsoft.com/office/drawing/2014/main" id="{A35FEDAB-5F6D-8A29-D2A4-FE26AA5B4E4E}"/>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What this project demonstrates</a:t>
            </a:r>
          </a:p>
        </p:txBody>
      </p:sp>
      <p:sp>
        <p:nvSpPr>
          <p:cNvPr id="5" name="TextBox 4">
            <a:extLst>
              <a:ext uri="{FF2B5EF4-FFF2-40B4-BE49-F238E27FC236}">
                <a16:creationId xmlns:a16="http://schemas.microsoft.com/office/drawing/2014/main" id="{57C99991-138E-BC64-A6FB-820378325C7E}"/>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 course project can be technically rigorous, domain-aware, and honest about its limits</a:t>
            </a:r>
          </a:p>
        </p:txBody>
      </p:sp>
      <p:cxnSp>
        <p:nvCxnSpPr>
          <p:cNvPr id="6" name="Straight Connector 5">
            <a:extLst>
              <a:ext uri="{FF2B5EF4-FFF2-40B4-BE49-F238E27FC236}">
                <a16:creationId xmlns:a16="http://schemas.microsoft.com/office/drawing/2014/main" id="{FCEC1A90-3911-5A4D-C654-46C296C8F7A9}"/>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95B416F-5227-40A9-DEBB-598F09329DE6}"/>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FCF639BA-F5A8-3988-82EC-0DD916CCB0CF}"/>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18</a:t>
            </a:r>
          </a:p>
        </p:txBody>
      </p:sp>
      <p:sp>
        <p:nvSpPr>
          <p:cNvPr id="9" name="Rectangle: Rounded Corners 8">
            <a:extLst>
              <a:ext uri="{FF2B5EF4-FFF2-40B4-BE49-F238E27FC236}">
                <a16:creationId xmlns:a16="http://schemas.microsoft.com/office/drawing/2014/main" id="{58905BF0-B84E-A666-4EB7-4C17E9909447}"/>
              </a:ext>
            </a:extLst>
          </p:cNvPr>
          <p:cNvSpPr/>
          <p:nvPr/>
        </p:nvSpPr>
        <p:spPr>
          <a:xfrm>
            <a:off x="698500" y="1968500"/>
            <a:ext cx="3175000" cy="2667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6D05E33-A6F1-3A85-6A44-C52B77016FF7}"/>
              </a:ext>
            </a:extLst>
          </p:cNvPr>
          <p:cNvSpPr/>
          <p:nvPr/>
        </p:nvSpPr>
        <p:spPr>
          <a:xfrm>
            <a:off x="698500" y="1968500"/>
            <a:ext cx="76200" cy="2667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A27700C-2C27-7D58-8B4F-6B369456A805}"/>
              </a:ext>
            </a:extLst>
          </p:cNvPr>
          <p:cNvSpPr txBox="1"/>
          <p:nvPr/>
        </p:nvSpPr>
        <p:spPr>
          <a:xfrm>
            <a:off x="952500" y="2197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1  End-to-end thinking</a:t>
            </a:r>
          </a:p>
        </p:txBody>
      </p:sp>
      <p:sp>
        <p:nvSpPr>
          <p:cNvPr id="12" name="TextBox 11">
            <a:extLst>
              <a:ext uri="{FF2B5EF4-FFF2-40B4-BE49-F238E27FC236}">
                <a16:creationId xmlns:a16="http://schemas.microsoft.com/office/drawing/2014/main" id="{6348512D-4C2E-11D5-B6C7-65224F7C92C1}"/>
              </a:ext>
            </a:extLst>
          </p:cNvPr>
          <p:cNvSpPr txBox="1"/>
          <p:nvPr/>
        </p:nvSpPr>
        <p:spPr>
          <a:xfrm>
            <a:off x="952500" y="2667000"/>
            <a:ext cx="2730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Data contracts, preprocessing, training, evaluation, inference, decision logic, trust gates, and human review form one coherent system.</a:t>
            </a:r>
          </a:p>
        </p:txBody>
      </p:sp>
      <p:sp>
        <p:nvSpPr>
          <p:cNvPr id="13" name="Rectangle: Rounded Corners 12">
            <a:extLst>
              <a:ext uri="{FF2B5EF4-FFF2-40B4-BE49-F238E27FC236}">
                <a16:creationId xmlns:a16="http://schemas.microsoft.com/office/drawing/2014/main" id="{462957E3-15A5-A499-89D9-0EE6ADE30DC9}"/>
              </a:ext>
            </a:extLst>
          </p:cNvPr>
          <p:cNvSpPr/>
          <p:nvPr/>
        </p:nvSpPr>
        <p:spPr>
          <a:xfrm>
            <a:off x="4508500" y="1968500"/>
            <a:ext cx="3175000" cy="2667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18D54806-CAF0-8598-AA58-0263DEB2166A}"/>
              </a:ext>
            </a:extLst>
          </p:cNvPr>
          <p:cNvSpPr/>
          <p:nvPr/>
        </p:nvSpPr>
        <p:spPr>
          <a:xfrm>
            <a:off x="4508500" y="1968500"/>
            <a:ext cx="76200" cy="26670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263DB39-B527-0FD1-6C57-D46E3056A9BD}"/>
              </a:ext>
            </a:extLst>
          </p:cNvPr>
          <p:cNvSpPr txBox="1"/>
          <p:nvPr/>
        </p:nvSpPr>
        <p:spPr>
          <a:xfrm>
            <a:off x="4762500" y="2197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2  Evaluation maturity</a:t>
            </a:r>
          </a:p>
        </p:txBody>
      </p:sp>
      <p:sp>
        <p:nvSpPr>
          <p:cNvPr id="16" name="TextBox 15">
            <a:extLst>
              <a:ext uri="{FF2B5EF4-FFF2-40B4-BE49-F238E27FC236}">
                <a16:creationId xmlns:a16="http://schemas.microsoft.com/office/drawing/2014/main" id="{8C6E13E1-40BC-9C53-D23B-39FDE53D04CD}"/>
              </a:ext>
            </a:extLst>
          </p:cNvPr>
          <p:cNvSpPr txBox="1"/>
          <p:nvPr/>
        </p:nvSpPr>
        <p:spPr>
          <a:xfrm>
            <a:off x="4762500" y="2667000"/>
            <a:ext cx="2730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Grouped splits, challenge data, calibration, review routing, latency, failure cases, and explicit non-claims show scientific discipline.</a:t>
            </a:r>
          </a:p>
        </p:txBody>
      </p:sp>
      <p:sp>
        <p:nvSpPr>
          <p:cNvPr id="17" name="Rectangle: Rounded Corners 16">
            <a:extLst>
              <a:ext uri="{FF2B5EF4-FFF2-40B4-BE49-F238E27FC236}">
                <a16:creationId xmlns:a16="http://schemas.microsoft.com/office/drawing/2014/main" id="{6FEF2C68-983B-92D3-B38A-4063E83D6920}"/>
              </a:ext>
            </a:extLst>
          </p:cNvPr>
          <p:cNvSpPr/>
          <p:nvPr/>
        </p:nvSpPr>
        <p:spPr>
          <a:xfrm>
            <a:off x="8318500" y="1968500"/>
            <a:ext cx="3175000" cy="2667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2689093-74CB-C1CB-1D09-5CDCD889DC72}"/>
              </a:ext>
            </a:extLst>
          </p:cNvPr>
          <p:cNvSpPr/>
          <p:nvPr/>
        </p:nvSpPr>
        <p:spPr>
          <a:xfrm>
            <a:off x="8318500" y="1968500"/>
            <a:ext cx="76200" cy="26670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3E14BF0-EED3-B8BE-9795-F2255AB21AE3}"/>
              </a:ext>
            </a:extLst>
          </p:cNvPr>
          <p:cNvSpPr txBox="1"/>
          <p:nvPr/>
        </p:nvSpPr>
        <p:spPr>
          <a:xfrm>
            <a:off x="8572500" y="2197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3  Responsible design</a:t>
            </a:r>
          </a:p>
        </p:txBody>
      </p:sp>
      <p:sp>
        <p:nvSpPr>
          <p:cNvPr id="20" name="TextBox 19">
            <a:extLst>
              <a:ext uri="{FF2B5EF4-FFF2-40B4-BE49-F238E27FC236}">
                <a16:creationId xmlns:a16="http://schemas.microsoft.com/office/drawing/2014/main" id="{5E5095D7-83BE-F214-F6F7-2EE758879C3E}"/>
              </a:ext>
            </a:extLst>
          </p:cNvPr>
          <p:cNvSpPr txBox="1"/>
          <p:nvPr/>
        </p:nvSpPr>
        <p:spPr>
          <a:xfrm>
            <a:off x="8572500" y="2667000"/>
            <a:ext cx="2730500" cy="76944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Synthetic data, administrative scope, source provenance, deterministic rules, and no autonomous submission reduce avoidable risk.</a:t>
            </a:r>
          </a:p>
        </p:txBody>
      </p:sp>
      <p:sp>
        <p:nvSpPr>
          <p:cNvPr id="21" name="Rectangle: Rounded Corners 20">
            <a:extLst>
              <a:ext uri="{FF2B5EF4-FFF2-40B4-BE49-F238E27FC236}">
                <a16:creationId xmlns:a16="http://schemas.microsoft.com/office/drawing/2014/main" id="{9358082F-2133-69CB-3F72-56E941BF7265}"/>
              </a:ext>
            </a:extLst>
          </p:cNvPr>
          <p:cNvSpPr/>
          <p:nvPr/>
        </p:nvSpPr>
        <p:spPr>
          <a:xfrm>
            <a:off x="1968500" y="5143500"/>
            <a:ext cx="8255000" cy="736600"/>
          </a:xfrm>
          <a:prstGeom prst="roundRect">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FC00E56-7B46-9ADF-97D8-F294BFC54CE6}"/>
              </a:ext>
            </a:extLst>
          </p:cNvPr>
          <p:cNvSpPr txBox="1"/>
          <p:nvPr/>
        </p:nvSpPr>
        <p:spPr>
          <a:xfrm>
            <a:off x="2286000" y="5359400"/>
            <a:ext cx="7620000" cy="261610"/>
          </a:xfrm>
          <a:prstGeom prst="rect">
            <a:avLst/>
          </a:prstGeom>
          <a:noFill/>
        </p:spPr>
        <p:txBody>
          <a:bodyPr vert="horz" wrap="square" lIns="0" tIns="0" rIns="0" bIns="0" rtlCol="0" anchor="t">
            <a:spAutoFit/>
          </a:bodyPr>
          <a:lstStyle/>
          <a:p>
            <a:pPr algn="ctr"/>
            <a:r>
              <a:rPr lang="en-US" sz="1700" b="1">
                <a:solidFill>
                  <a:srgbClr val="FFFFFF"/>
                </a:solidFill>
                <a:latin typeface="Aptos" panose="020B0004020202020204" pitchFamily="34" charset="0"/>
              </a:rPr>
              <a:t>Build an AI system that can prove where every important answer came from.</a:t>
            </a:r>
          </a:p>
        </p:txBody>
      </p:sp>
      <p:sp>
        <p:nvSpPr>
          <p:cNvPr id="23" name="TextBox 22">
            <a:extLst>
              <a:ext uri="{FF2B5EF4-FFF2-40B4-BE49-F238E27FC236}">
                <a16:creationId xmlns:a16="http://schemas.microsoft.com/office/drawing/2014/main" id="{CBC82DEB-7A6E-A9B6-3211-F3880CCFA3D6}"/>
              </a:ext>
            </a:extLst>
          </p:cNvPr>
          <p:cNvSpPr txBox="1"/>
          <p:nvPr/>
        </p:nvSpPr>
        <p:spPr>
          <a:xfrm>
            <a:off x="9969500" y="762000"/>
            <a:ext cx="1524000" cy="246221"/>
          </a:xfrm>
          <a:prstGeom prst="rect">
            <a:avLst/>
          </a:prstGeom>
          <a:noFill/>
        </p:spPr>
        <p:txBody>
          <a:bodyPr vert="horz" wrap="square" lIns="0" tIns="0" rIns="0" bIns="0" rtlCol="0" anchor="t">
            <a:spAutoFit/>
          </a:bodyPr>
          <a:lstStyle/>
          <a:p>
            <a:pPr algn="r"/>
            <a:r>
              <a:rPr lang="en-US" sz="1600" b="1">
                <a:solidFill>
                  <a:srgbClr val="0F62FE"/>
                </a:solidFill>
                <a:latin typeface="Aptos" panose="020B0004020202020204" pitchFamily="34" charset="0"/>
              </a:rPr>
              <a:t>Questions?</a:t>
            </a:r>
          </a:p>
        </p:txBody>
      </p:sp>
    </p:spTree>
    <p:extLst>
      <p:ext uri="{BB962C8B-B14F-4D97-AF65-F5344CB8AC3E}">
        <p14:creationId xmlns:p14="http://schemas.microsoft.com/office/powerpoint/2010/main" val="1846612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06C287-C11A-531A-A235-C6D1EFA05D26}"/>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46DDE4-E5D9-BD3A-42ED-F87DAAE8F55D}"/>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APPENDIX A</a:t>
            </a:r>
          </a:p>
        </p:txBody>
      </p:sp>
      <p:sp>
        <p:nvSpPr>
          <p:cNvPr id="4" name="TextBox 3">
            <a:extLst>
              <a:ext uri="{FF2B5EF4-FFF2-40B4-BE49-F238E27FC236}">
                <a16:creationId xmlns:a16="http://schemas.microsoft.com/office/drawing/2014/main" id="{00E43C18-496E-E7D7-81D0-D891C150CE6E}"/>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Reproduce the demo and benchmarks</a:t>
            </a:r>
          </a:p>
        </p:txBody>
      </p:sp>
      <p:sp>
        <p:nvSpPr>
          <p:cNvPr id="5" name="TextBox 4">
            <a:extLst>
              <a:ext uri="{FF2B5EF4-FFF2-40B4-BE49-F238E27FC236}">
                <a16:creationId xmlns:a16="http://schemas.microsoft.com/office/drawing/2014/main" id="{3671DDA8-C2F5-3896-69EA-78331D10B60D}"/>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All commands run from the repository root</a:t>
            </a:r>
          </a:p>
        </p:txBody>
      </p:sp>
      <p:cxnSp>
        <p:nvCxnSpPr>
          <p:cNvPr id="6" name="Straight Connector 5">
            <a:extLst>
              <a:ext uri="{FF2B5EF4-FFF2-40B4-BE49-F238E27FC236}">
                <a16:creationId xmlns:a16="http://schemas.microsoft.com/office/drawing/2014/main" id="{602BADB7-E3C1-BEFD-E1D2-89A9342D8F86}"/>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DCAC484-9E4D-C764-DBC2-3D6CF3F1EB03}"/>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A5FA1D55-E8C7-08D1-71E6-59DFAF238AC7}"/>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19</a:t>
            </a:r>
          </a:p>
        </p:txBody>
      </p:sp>
      <p:sp>
        <p:nvSpPr>
          <p:cNvPr id="9" name="Rectangle: Rounded Corners 8">
            <a:extLst>
              <a:ext uri="{FF2B5EF4-FFF2-40B4-BE49-F238E27FC236}">
                <a16:creationId xmlns:a16="http://schemas.microsoft.com/office/drawing/2014/main" id="{2E745387-38F6-3AFF-FA08-B83D900CD0BF}"/>
              </a:ext>
            </a:extLst>
          </p:cNvPr>
          <p:cNvSpPr/>
          <p:nvPr/>
        </p:nvSpPr>
        <p:spPr>
          <a:xfrm>
            <a:off x="698500" y="1905000"/>
            <a:ext cx="10795000" cy="3111500"/>
          </a:xfrm>
          <a:prstGeom prst="roundRect">
            <a:avLst/>
          </a:prstGeom>
          <a:solidFill>
            <a:srgbClr val="071B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FA7BF5C-2A6F-EC6D-7154-86B7DFD762E7}"/>
              </a:ext>
            </a:extLst>
          </p:cNvPr>
          <p:cNvSpPr txBox="1"/>
          <p:nvPr/>
        </p:nvSpPr>
        <p:spPr>
          <a:xfrm>
            <a:off x="1079500" y="2247900"/>
            <a:ext cx="9969500" cy="1661993"/>
          </a:xfrm>
          <a:prstGeom prst="rect">
            <a:avLst/>
          </a:prstGeom>
          <a:noFill/>
        </p:spPr>
        <p:txBody>
          <a:bodyPr vert="horz" wrap="square" lIns="0" tIns="0" rIns="0" bIns="0" rtlCol="0" anchor="t">
            <a:spAutoFit/>
          </a:bodyPr>
          <a:lstStyle/>
          <a:p>
            <a:r>
              <a:rPr lang="en-US">
                <a:solidFill>
                  <a:srgbClr val="FFFFFF"/>
                </a:solidFill>
                <a:latin typeface="Cascadia Mono" panose="020B0609020000020004" pitchFamily="49" charset="0"/>
              </a:rPr>
              <a:t>uv sync --group dev</a:t>
            </a:r>
          </a:p>
          <a:p>
            <a:r>
              <a:rPr lang="en-US">
                <a:solidFill>
                  <a:srgbClr val="FFFFFF"/>
                </a:solidFill>
                <a:latin typeface="Cascadia Mono" panose="020B0609020000020004" pitchFamily="49" charset="0"/>
              </a:rPr>
              <a:t>uv run rxauth-build-dataset</a:t>
            </a:r>
          </a:p>
          <a:p>
            <a:r>
              <a:rPr lang="en-US">
                <a:solidFill>
                  <a:srgbClr val="FFFFFF"/>
                </a:solidFill>
                <a:latin typeface="Cascadia Mono" panose="020B0609020000020004" pitchFamily="49" charset="0"/>
              </a:rPr>
              <a:t>uv run rxauth-benchmark-ingestion</a:t>
            </a:r>
          </a:p>
          <a:p>
            <a:r>
              <a:rPr lang="en-US">
                <a:solidFill>
                  <a:srgbClr val="FFFFFF"/>
                </a:solidFill>
                <a:latin typeface="Cascadia Mono" panose="020B0609020000020004" pitchFamily="49" charset="0"/>
              </a:rPr>
              <a:t>uv run rxauth-train-classifier</a:t>
            </a:r>
          </a:p>
          <a:p>
            <a:r>
              <a:rPr lang="en-US">
                <a:solidFill>
                  <a:srgbClr val="FFFFFF"/>
                </a:solidFill>
                <a:latin typeface="Cascadia Mono" panose="020B0609020000020004" pitchFamily="49" charset="0"/>
              </a:rPr>
              <a:t>uv run rxauth-milestone0</a:t>
            </a:r>
          </a:p>
          <a:p>
            <a:r>
              <a:rPr lang="en-US">
                <a:solidFill>
                  <a:srgbClr val="FFFFFF"/>
                </a:solidFill>
                <a:latin typeface="Cascadia Mono" panose="020B0609020000020004" pitchFamily="49" charset="0"/>
              </a:rPr>
              <a:t>uv run pytest</a:t>
            </a:r>
          </a:p>
        </p:txBody>
      </p:sp>
      <p:sp>
        <p:nvSpPr>
          <p:cNvPr id="11" name="Rectangle: Rounded Corners 10">
            <a:extLst>
              <a:ext uri="{FF2B5EF4-FFF2-40B4-BE49-F238E27FC236}">
                <a16:creationId xmlns:a16="http://schemas.microsoft.com/office/drawing/2014/main" id="{5C97A730-44AA-0711-D72F-D7A5151CED31}"/>
              </a:ext>
            </a:extLst>
          </p:cNvPr>
          <p:cNvSpPr/>
          <p:nvPr/>
        </p:nvSpPr>
        <p:spPr>
          <a:xfrm>
            <a:off x="698500" y="5397500"/>
            <a:ext cx="2413000" cy="304800"/>
          </a:xfrm>
          <a:prstGeom prst="roundRect">
            <a:avLst/>
          </a:prstGeom>
          <a:solidFill>
            <a:srgbClr val="E8F5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77BFC95-04D5-DE3A-6A5A-8566436F1EC2}"/>
              </a:ext>
            </a:extLst>
          </p:cNvPr>
          <p:cNvSpPr txBox="1"/>
          <p:nvPr/>
        </p:nvSpPr>
        <p:spPr>
          <a:xfrm>
            <a:off x="800100" y="5461000"/>
            <a:ext cx="2209800" cy="153888"/>
          </a:xfrm>
          <a:prstGeom prst="rect">
            <a:avLst/>
          </a:prstGeom>
          <a:noFill/>
        </p:spPr>
        <p:txBody>
          <a:bodyPr vert="horz" wrap="square" lIns="0" tIns="0" rIns="0" bIns="0" rtlCol="0" anchor="t">
            <a:spAutoFit/>
          </a:bodyPr>
          <a:lstStyle/>
          <a:p>
            <a:pPr algn="ctr"/>
            <a:r>
              <a:rPr lang="en-US" sz="1000" b="1">
                <a:solidFill>
                  <a:srgbClr val="24A148"/>
                </a:solidFill>
                <a:latin typeface="Aptos" panose="020B0004020202020204" pitchFamily="34" charset="0"/>
              </a:rPr>
              <a:t>Expected: 21 tests pass</a:t>
            </a:r>
          </a:p>
        </p:txBody>
      </p:sp>
      <p:sp>
        <p:nvSpPr>
          <p:cNvPr id="13" name="Rectangle: Rounded Corners 12">
            <a:extLst>
              <a:ext uri="{FF2B5EF4-FFF2-40B4-BE49-F238E27FC236}">
                <a16:creationId xmlns:a16="http://schemas.microsoft.com/office/drawing/2014/main" id="{5A30A1E9-7174-A5AD-B5B5-973CCCFACD28}"/>
              </a:ext>
            </a:extLst>
          </p:cNvPr>
          <p:cNvSpPr/>
          <p:nvPr/>
        </p:nvSpPr>
        <p:spPr>
          <a:xfrm>
            <a:off x="3429000" y="5397500"/>
            <a:ext cx="3365500" cy="304800"/>
          </a:xfrm>
          <a:prstGeom prst="roundRect">
            <a:avLst/>
          </a:prstGeom>
          <a:solidFill>
            <a:srgbClr val="EA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A41A387-8458-F2C7-CFB4-293C449FF8A8}"/>
              </a:ext>
            </a:extLst>
          </p:cNvPr>
          <p:cNvSpPr txBox="1"/>
          <p:nvPr/>
        </p:nvSpPr>
        <p:spPr>
          <a:xfrm>
            <a:off x="3530600" y="5461000"/>
            <a:ext cx="3162300" cy="153888"/>
          </a:xfrm>
          <a:prstGeom prst="rect">
            <a:avLst/>
          </a:prstGeom>
          <a:noFill/>
        </p:spPr>
        <p:txBody>
          <a:bodyPr vert="horz" wrap="square" lIns="0" tIns="0" rIns="0" bIns="0" rtlCol="0" anchor="t">
            <a:spAutoFit/>
          </a:bodyPr>
          <a:lstStyle/>
          <a:p>
            <a:pPr algn="ctr"/>
            <a:r>
              <a:rPr lang="en-US" sz="1000" b="1">
                <a:solidFill>
                  <a:srgbClr val="0F62FE"/>
                </a:solidFill>
                <a:latin typeface="Aptos" panose="020B0004020202020204" pitchFamily="34" charset="0"/>
              </a:rPr>
              <a:t>Outputs: reports/*.md + case JSON</a:t>
            </a:r>
          </a:p>
        </p:txBody>
      </p:sp>
      <p:sp>
        <p:nvSpPr>
          <p:cNvPr id="15" name="Rectangle: Rounded Corners 14">
            <a:extLst>
              <a:ext uri="{FF2B5EF4-FFF2-40B4-BE49-F238E27FC236}">
                <a16:creationId xmlns:a16="http://schemas.microsoft.com/office/drawing/2014/main" id="{82A572D7-1965-1B6C-9A00-09D5EBCD0171}"/>
              </a:ext>
            </a:extLst>
          </p:cNvPr>
          <p:cNvSpPr/>
          <p:nvPr/>
        </p:nvSpPr>
        <p:spPr>
          <a:xfrm>
            <a:off x="7112000" y="5397500"/>
            <a:ext cx="1651000" cy="304800"/>
          </a:xfrm>
          <a:prstGeom prst="roundRect">
            <a:avLst/>
          </a:prstGeom>
          <a:solidFill>
            <a:srgbClr val="FFF8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346A376-AADD-D7EA-B634-5E45A95396A7}"/>
              </a:ext>
            </a:extLst>
          </p:cNvPr>
          <p:cNvSpPr txBox="1"/>
          <p:nvPr/>
        </p:nvSpPr>
        <p:spPr>
          <a:xfrm>
            <a:off x="7213600" y="5461000"/>
            <a:ext cx="1447800" cy="153888"/>
          </a:xfrm>
          <a:prstGeom prst="rect">
            <a:avLst/>
          </a:prstGeom>
          <a:noFill/>
        </p:spPr>
        <p:txBody>
          <a:bodyPr vert="horz" wrap="square" lIns="0" tIns="0" rIns="0" bIns="0" rtlCol="0" anchor="t">
            <a:spAutoFit/>
          </a:bodyPr>
          <a:lstStyle/>
          <a:p>
            <a:pPr algn="ctr"/>
            <a:r>
              <a:rPr lang="en-US" sz="1000" b="1">
                <a:solidFill>
                  <a:srgbClr val="FF832B"/>
                </a:solidFill>
                <a:latin typeface="Aptos" panose="020B0004020202020204" pitchFamily="34" charset="0"/>
              </a:rPr>
              <a:t>No real PHI</a:t>
            </a:r>
          </a:p>
        </p:txBody>
      </p:sp>
    </p:spTree>
    <p:extLst>
      <p:ext uri="{BB962C8B-B14F-4D97-AF65-F5344CB8AC3E}">
        <p14:creationId xmlns:p14="http://schemas.microsoft.com/office/powerpoint/2010/main" val="3852318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848E66-6987-A52A-7150-85C8CC34144E}"/>
              </a:ext>
            </a:extLst>
          </p:cNvPr>
          <p:cNvSpPr/>
          <p:nvPr/>
        </p:nvSpPr>
        <p:spPr>
          <a:xfrm>
            <a:off x="0" y="0"/>
            <a:ext cx="152400" cy="6858000"/>
          </a:xfrm>
          <a:prstGeom prst="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35DE172-062C-C2CC-A5FC-40BE39838ED6}"/>
              </a:ext>
            </a:extLst>
          </p:cNvPr>
          <p:cNvSpPr txBox="1"/>
          <p:nvPr/>
        </p:nvSpPr>
        <p:spPr>
          <a:xfrm>
            <a:off x="533400" y="279400"/>
            <a:ext cx="4191000" cy="153888"/>
          </a:xfrm>
          <a:prstGeom prst="rect">
            <a:avLst/>
          </a:prstGeom>
          <a:noFill/>
        </p:spPr>
        <p:txBody>
          <a:bodyPr vert="horz" wrap="square" lIns="0" tIns="0" rIns="0" bIns="0" rtlCol="0" anchor="t">
            <a:spAutoFit/>
          </a:bodyPr>
          <a:lstStyle/>
          <a:p>
            <a:r>
              <a:rPr lang="en-US" sz="1000" b="1">
                <a:solidFill>
                  <a:srgbClr val="0F62FE"/>
                </a:solidFill>
                <a:latin typeface="Aptos" panose="020B0004020202020204" pitchFamily="34" charset="0"/>
              </a:rPr>
              <a:t>APPENDIX B</a:t>
            </a:r>
          </a:p>
        </p:txBody>
      </p:sp>
      <p:sp>
        <p:nvSpPr>
          <p:cNvPr id="4" name="TextBox 3">
            <a:extLst>
              <a:ext uri="{FF2B5EF4-FFF2-40B4-BE49-F238E27FC236}">
                <a16:creationId xmlns:a16="http://schemas.microsoft.com/office/drawing/2014/main" id="{9E4DEB15-4F2F-D5FB-FED4-FE1BB8595427}"/>
              </a:ext>
            </a:extLst>
          </p:cNvPr>
          <p:cNvSpPr txBox="1"/>
          <p:nvPr/>
        </p:nvSpPr>
        <p:spPr>
          <a:xfrm>
            <a:off x="533400" y="609600"/>
            <a:ext cx="10795000" cy="415498"/>
          </a:xfrm>
          <a:prstGeom prst="rect">
            <a:avLst/>
          </a:prstGeom>
          <a:noFill/>
        </p:spPr>
        <p:txBody>
          <a:bodyPr vert="horz" wrap="square" lIns="0" tIns="0" rIns="0" bIns="0" rtlCol="0" anchor="t">
            <a:spAutoFit/>
          </a:bodyPr>
          <a:lstStyle/>
          <a:p>
            <a:r>
              <a:rPr lang="en-US" sz="2700" b="1">
                <a:solidFill>
                  <a:srgbClr val="071B33"/>
                </a:solidFill>
                <a:latin typeface="Aptos" panose="020B0004020202020204" pitchFamily="34" charset="0"/>
              </a:rPr>
              <a:t>Evidence behind this presentation</a:t>
            </a:r>
          </a:p>
        </p:txBody>
      </p:sp>
      <p:sp>
        <p:nvSpPr>
          <p:cNvPr id="5" name="TextBox 4">
            <a:extLst>
              <a:ext uri="{FF2B5EF4-FFF2-40B4-BE49-F238E27FC236}">
                <a16:creationId xmlns:a16="http://schemas.microsoft.com/office/drawing/2014/main" id="{F3D2749B-05AF-9FF0-0E0B-2C0F77B7B82A}"/>
              </a:ext>
            </a:extLst>
          </p:cNvPr>
          <p:cNvSpPr txBox="1"/>
          <p:nvPr/>
        </p:nvSpPr>
        <p:spPr>
          <a:xfrm>
            <a:off x="533400" y="1219200"/>
            <a:ext cx="10795000" cy="192360"/>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Every metric and design claim maps to a repository artifact</a:t>
            </a:r>
          </a:p>
        </p:txBody>
      </p:sp>
      <p:cxnSp>
        <p:nvCxnSpPr>
          <p:cNvPr id="6" name="Straight Connector 5">
            <a:extLst>
              <a:ext uri="{FF2B5EF4-FFF2-40B4-BE49-F238E27FC236}">
                <a16:creationId xmlns:a16="http://schemas.microsoft.com/office/drawing/2014/main" id="{D200341A-F89C-0558-A34F-898D080D79DE}"/>
              </a:ext>
            </a:extLst>
          </p:cNvPr>
          <p:cNvCxnSpPr/>
          <p:nvPr/>
        </p:nvCxnSpPr>
        <p:spPr>
          <a:xfrm>
            <a:off x="533400" y="6477000"/>
            <a:ext cx="11125200" cy="0"/>
          </a:xfrm>
          <a:prstGeom prst="line">
            <a:avLst/>
          </a:prstGeom>
          <a:ln w="12700">
            <a:solidFill>
              <a:srgbClr val="E8EEF5"/>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5AA003C-CF79-EDB3-8FFB-6A4474056E91}"/>
              </a:ext>
            </a:extLst>
          </p:cNvPr>
          <p:cNvSpPr txBox="1"/>
          <p:nvPr/>
        </p:nvSpPr>
        <p:spPr>
          <a:xfrm>
            <a:off x="533400" y="6565900"/>
            <a:ext cx="6350000" cy="130805"/>
          </a:xfrm>
          <a:prstGeom prst="rect">
            <a:avLst/>
          </a:prstGeom>
          <a:noFill/>
        </p:spPr>
        <p:txBody>
          <a:bodyPr vert="horz" wrap="square" lIns="0" tIns="0" rIns="0" bIns="0" rtlCol="0" anchor="t">
            <a:spAutoFit/>
          </a:bodyPr>
          <a:lstStyle/>
          <a:p>
            <a:r>
              <a:rPr lang="en-US" sz="850">
                <a:solidFill>
                  <a:srgbClr val="6F7E91"/>
                </a:solidFill>
                <a:latin typeface="Aptos" panose="020B0004020202020204" pitchFamily="34" charset="0"/>
              </a:rPr>
              <a:t>RxAuth AI  |  IBM AI Engineering course project</a:t>
            </a:r>
          </a:p>
        </p:txBody>
      </p:sp>
      <p:sp>
        <p:nvSpPr>
          <p:cNvPr id="8" name="TextBox 7">
            <a:extLst>
              <a:ext uri="{FF2B5EF4-FFF2-40B4-BE49-F238E27FC236}">
                <a16:creationId xmlns:a16="http://schemas.microsoft.com/office/drawing/2014/main" id="{49C15CB8-6449-EF54-CFE0-6216DFEAE368}"/>
              </a:ext>
            </a:extLst>
          </p:cNvPr>
          <p:cNvSpPr txBox="1"/>
          <p:nvPr/>
        </p:nvSpPr>
        <p:spPr>
          <a:xfrm>
            <a:off x="11176000" y="6565900"/>
            <a:ext cx="482600" cy="130805"/>
          </a:xfrm>
          <a:prstGeom prst="rect">
            <a:avLst/>
          </a:prstGeom>
          <a:noFill/>
        </p:spPr>
        <p:txBody>
          <a:bodyPr vert="horz" wrap="square" lIns="0" tIns="0" rIns="0" bIns="0" rtlCol="0" anchor="t">
            <a:spAutoFit/>
          </a:bodyPr>
          <a:lstStyle/>
          <a:p>
            <a:pPr algn="r"/>
            <a:r>
              <a:rPr lang="en-US" sz="850" b="1">
                <a:solidFill>
                  <a:srgbClr val="6F7E91"/>
                </a:solidFill>
                <a:latin typeface="Aptos" panose="020B0004020202020204" pitchFamily="34" charset="0"/>
              </a:rPr>
              <a:t>20</a:t>
            </a:r>
          </a:p>
        </p:txBody>
      </p:sp>
      <p:sp>
        <p:nvSpPr>
          <p:cNvPr id="9" name="Rectangle: Rounded Corners 8">
            <a:extLst>
              <a:ext uri="{FF2B5EF4-FFF2-40B4-BE49-F238E27FC236}">
                <a16:creationId xmlns:a16="http://schemas.microsoft.com/office/drawing/2014/main" id="{91D0BC97-55CF-A4EC-DF58-697E5BC86A61}"/>
              </a:ext>
            </a:extLst>
          </p:cNvPr>
          <p:cNvSpPr/>
          <p:nvPr/>
        </p:nvSpPr>
        <p:spPr>
          <a:xfrm>
            <a:off x="698500" y="19050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FB0624C-EE6E-648F-8F95-B200CA6B5D02}"/>
              </a:ext>
            </a:extLst>
          </p:cNvPr>
          <p:cNvSpPr/>
          <p:nvPr/>
        </p:nvSpPr>
        <p:spPr>
          <a:xfrm>
            <a:off x="698500" y="1905000"/>
            <a:ext cx="76200" cy="1651000"/>
          </a:xfrm>
          <a:prstGeom prst="roundRect">
            <a:avLst/>
          </a:prstGeom>
          <a:solidFill>
            <a:srgbClr val="0F6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6C8F567-A4C7-E379-B2FE-6291187C98A3}"/>
              </a:ext>
            </a:extLst>
          </p:cNvPr>
          <p:cNvSpPr txBox="1"/>
          <p:nvPr/>
        </p:nvSpPr>
        <p:spPr>
          <a:xfrm>
            <a:off x="952500" y="21336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README.md</a:t>
            </a:r>
          </a:p>
        </p:txBody>
      </p:sp>
      <p:sp>
        <p:nvSpPr>
          <p:cNvPr id="12" name="TextBox 11">
            <a:extLst>
              <a:ext uri="{FF2B5EF4-FFF2-40B4-BE49-F238E27FC236}">
                <a16:creationId xmlns:a16="http://schemas.microsoft.com/office/drawing/2014/main" id="{3D8BA7E3-FF8B-CAE4-C5E4-FFC05692DC12}"/>
              </a:ext>
            </a:extLst>
          </p:cNvPr>
          <p:cNvSpPr txBox="1"/>
          <p:nvPr/>
        </p:nvSpPr>
        <p:spPr>
          <a:xfrm>
            <a:off x="952500" y="26035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Project thesis, scope, architecture, IBM course mapping, roadmap, and security posture.</a:t>
            </a:r>
          </a:p>
        </p:txBody>
      </p:sp>
      <p:sp>
        <p:nvSpPr>
          <p:cNvPr id="13" name="Rectangle: Rounded Corners 12">
            <a:extLst>
              <a:ext uri="{FF2B5EF4-FFF2-40B4-BE49-F238E27FC236}">
                <a16:creationId xmlns:a16="http://schemas.microsoft.com/office/drawing/2014/main" id="{DB0CABD4-39BA-B50D-1CFB-A0E0FE364293}"/>
              </a:ext>
            </a:extLst>
          </p:cNvPr>
          <p:cNvSpPr/>
          <p:nvPr/>
        </p:nvSpPr>
        <p:spPr>
          <a:xfrm>
            <a:off x="4508500" y="19050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46607DDD-15C4-0503-D4AF-44AA59CB272F}"/>
              </a:ext>
            </a:extLst>
          </p:cNvPr>
          <p:cNvSpPr/>
          <p:nvPr/>
        </p:nvSpPr>
        <p:spPr>
          <a:xfrm>
            <a:off x="4508500" y="1905000"/>
            <a:ext cx="76200" cy="1651000"/>
          </a:xfrm>
          <a:prstGeom prst="roundRect">
            <a:avLst/>
          </a:prstGeom>
          <a:solidFill>
            <a:srgbClr val="33B1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EE83987-D8AA-AE9E-A960-7E9636FA9DC9}"/>
              </a:ext>
            </a:extLst>
          </p:cNvPr>
          <p:cNvSpPr txBox="1"/>
          <p:nvPr/>
        </p:nvSpPr>
        <p:spPr>
          <a:xfrm>
            <a:off x="4762500" y="21336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docs/phase-1.5.md</a:t>
            </a:r>
          </a:p>
        </p:txBody>
      </p:sp>
      <p:sp>
        <p:nvSpPr>
          <p:cNvPr id="16" name="TextBox 15">
            <a:extLst>
              <a:ext uri="{FF2B5EF4-FFF2-40B4-BE49-F238E27FC236}">
                <a16:creationId xmlns:a16="http://schemas.microsoft.com/office/drawing/2014/main" id="{D2C6808F-6067-6128-3260-9EB61ED81F25}"/>
              </a:ext>
            </a:extLst>
          </p:cNvPr>
          <p:cNvSpPr txBox="1"/>
          <p:nvPr/>
        </p:nvSpPr>
        <p:spPr>
          <a:xfrm>
            <a:off x="4762500" y="26035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Typed ingestion contract, grouped split design, current outcomes, and next step.</a:t>
            </a:r>
          </a:p>
        </p:txBody>
      </p:sp>
      <p:sp>
        <p:nvSpPr>
          <p:cNvPr id="17" name="Rectangle: Rounded Corners 16">
            <a:extLst>
              <a:ext uri="{FF2B5EF4-FFF2-40B4-BE49-F238E27FC236}">
                <a16:creationId xmlns:a16="http://schemas.microsoft.com/office/drawing/2014/main" id="{8737D5BD-6B40-5D7F-523F-8265A73DFC72}"/>
              </a:ext>
            </a:extLst>
          </p:cNvPr>
          <p:cNvSpPr/>
          <p:nvPr/>
        </p:nvSpPr>
        <p:spPr>
          <a:xfrm>
            <a:off x="8318500" y="19050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C751091-3BF5-FF8E-E7D4-D8868BFF67BA}"/>
              </a:ext>
            </a:extLst>
          </p:cNvPr>
          <p:cNvSpPr/>
          <p:nvPr/>
        </p:nvSpPr>
        <p:spPr>
          <a:xfrm>
            <a:off x="8318500" y="1905000"/>
            <a:ext cx="76200" cy="1651000"/>
          </a:xfrm>
          <a:prstGeom prst="roundRect">
            <a:avLst/>
          </a:prstGeom>
          <a:solidFill>
            <a:srgbClr val="24A14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792DBFF-E3BD-9140-208C-B4E638A1BBB4}"/>
              </a:ext>
            </a:extLst>
          </p:cNvPr>
          <p:cNvSpPr txBox="1"/>
          <p:nvPr/>
        </p:nvSpPr>
        <p:spPr>
          <a:xfrm>
            <a:off x="8572500" y="21336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reports/classifier_baseline.md</a:t>
            </a:r>
          </a:p>
        </p:txBody>
      </p:sp>
      <p:sp>
        <p:nvSpPr>
          <p:cNvPr id="20" name="TextBox 19">
            <a:extLst>
              <a:ext uri="{FF2B5EF4-FFF2-40B4-BE49-F238E27FC236}">
                <a16:creationId xmlns:a16="http://schemas.microsoft.com/office/drawing/2014/main" id="{F29B90A9-DF90-2DF9-AADC-A894F79B7138}"/>
              </a:ext>
            </a:extLst>
          </p:cNvPr>
          <p:cNvSpPr txBox="1"/>
          <p:nvPr/>
        </p:nvSpPr>
        <p:spPr>
          <a:xfrm>
            <a:off x="8572500" y="26035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Accuracy, macro F1, confidence, calibration, routing, latency, confusion matrix, failures.</a:t>
            </a:r>
          </a:p>
        </p:txBody>
      </p:sp>
      <p:sp>
        <p:nvSpPr>
          <p:cNvPr id="21" name="Rectangle: Rounded Corners 20">
            <a:extLst>
              <a:ext uri="{FF2B5EF4-FFF2-40B4-BE49-F238E27FC236}">
                <a16:creationId xmlns:a16="http://schemas.microsoft.com/office/drawing/2014/main" id="{E3DFDA87-CFF3-A15C-F105-FDB7E1362861}"/>
              </a:ext>
            </a:extLst>
          </p:cNvPr>
          <p:cNvSpPr/>
          <p:nvPr/>
        </p:nvSpPr>
        <p:spPr>
          <a:xfrm>
            <a:off x="698500" y="40005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106D63A4-F341-92DE-2C19-15898024334B}"/>
              </a:ext>
            </a:extLst>
          </p:cNvPr>
          <p:cNvSpPr/>
          <p:nvPr/>
        </p:nvSpPr>
        <p:spPr>
          <a:xfrm>
            <a:off x="698500" y="4000500"/>
            <a:ext cx="76200" cy="1651000"/>
          </a:xfrm>
          <a:prstGeom prst="roundRect">
            <a:avLst/>
          </a:prstGeom>
          <a:solidFill>
            <a:srgbClr val="FF83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9C93152-9BEF-0937-45EE-60FBE457B240}"/>
              </a:ext>
            </a:extLst>
          </p:cNvPr>
          <p:cNvSpPr txBox="1"/>
          <p:nvPr/>
        </p:nvSpPr>
        <p:spPr>
          <a:xfrm>
            <a:off x="952500" y="4229100"/>
            <a:ext cx="2730500" cy="461665"/>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reports/ingestion_benchmark.md</a:t>
            </a:r>
          </a:p>
        </p:txBody>
      </p:sp>
      <p:sp>
        <p:nvSpPr>
          <p:cNvPr id="24" name="TextBox 23">
            <a:extLst>
              <a:ext uri="{FF2B5EF4-FFF2-40B4-BE49-F238E27FC236}">
                <a16:creationId xmlns:a16="http://schemas.microsoft.com/office/drawing/2014/main" id="{3534CFF3-7101-5316-7C70-B9B81EFB4404}"/>
              </a:ext>
            </a:extLst>
          </p:cNvPr>
          <p:cNvSpPr txBox="1"/>
          <p:nvPr/>
        </p:nvSpPr>
        <p:spPr>
          <a:xfrm>
            <a:off x="952500" y="46990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Rendered corpus size, PDF character error rate, preprocessing success, OCR non-claim.</a:t>
            </a:r>
          </a:p>
        </p:txBody>
      </p:sp>
      <p:sp>
        <p:nvSpPr>
          <p:cNvPr id="25" name="Rectangle: Rounded Corners 24">
            <a:extLst>
              <a:ext uri="{FF2B5EF4-FFF2-40B4-BE49-F238E27FC236}">
                <a16:creationId xmlns:a16="http://schemas.microsoft.com/office/drawing/2014/main" id="{985554EB-41FC-EDEE-4C07-D174F5A303D6}"/>
              </a:ext>
            </a:extLst>
          </p:cNvPr>
          <p:cNvSpPr/>
          <p:nvPr/>
        </p:nvSpPr>
        <p:spPr>
          <a:xfrm>
            <a:off x="4508500" y="40005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F646F1F8-7592-8D2E-A87B-6A04A5B3F3A8}"/>
              </a:ext>
            </a:extLst>
          </p:cNvPr>
          <p:cNvSpPr/>
          <p:nvPr/>
        </p:nvSpPr>
        <p:spPr>
          <a:xfrm>
            <a:off x="4508500" y="4000500"/>
            <a:ext cx="76200" cy="1651000"/>
          </a:xfrm>
          <a:prstGeom prst="roundRect">
            <a:avLst/>
          </a:prstGeom>
          <a:solidFill>
            <a:srgbClr val="8A3F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0F97EA0-5EC3-9535-F9FC-0DB8DB0B2F01}"/>
              </a:ext>
            </a:extLst>
          </p:cNvPr>
          <p:cNvSpPr txBox="1"/>
          <p:nvPr/>
        </p:nvSpPr>
        <p:spPr>
          <a:xfrm>
            <a:off x="4762500" y="4229100"/>
            <a:ext cx="2730500" cy="461665"/>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reports/case_PA-DEMO-001.json</a:t>
            </a:r>
          </a:p>
        </p:txBody>
      </p:sp>
      <p:sp>
        <p:nvSpPr>
          <p:cNvPr id="28" name="TextBox 27">
            <a:extLst>
              <a:ext uri="{FF2B5EF4-FFF2-40B4-BE49-F238E27FC236}">
                <a16:creationId xmlns:a16="http://schemas.microsoft.com/office/drawing/2014/main" id="{CD2A079A-79CC-30E2-1700-B4AAADC9DC74}"/>
              </a:ext>
            </a:extLst>
          </p:cNvPr>
          <p:cNvSpPr txBox="1"/>
          <p:nvPr/>
        </p:nvSpPr>
        <p:spPr>
          <a:xfrm>
            <a:off x="4762500" y="46990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Six criteria, statuses, explanations, confidence, policy source, and patient evidence.</a:t>
            </a:r>
          </a:p>
        </p:txBody>
      </p:sp>
      <p:sp>
        <p:nvSpPr>
          <p:cNvPr id="29" name="Rectangle: Rounded Corners 28">
            <a:extLst>
              <a:ext uri="{FF2B5EF4-FFF2-40B4-BE49-F238E27FC236}">
                <a16:creationId xmlns:a16="http://schemas.microsoft.com/office/drawing/2014/main" id="{4D4CEDEE-F946-581B-B218-771ABC040409}"/>
              </a:ext>
            </a:extLst>
          </p:cNvPr>
          <p:cNvSpPr/>
          <p:nvPr/>
        </p:nvSpPr>
        <p:spPr>
          <a:xfrm>
            <a:off x="8318500" y="4000500"/>
            <a:ext cx="3175000" cy="1651000"/>
          </a:xfrm>
          <a:prstGeom prst="roundRect">
            <a:avLst/>
          </a:prstGeom>
          <a:solidFill>
            <a:srgbClr val="FFFFFF"/>
          </a:solidFill>
          <a:ln w="12700">
            <a:solidFill>
              <a:srgbClr val="E8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EFBBC70-B250-5E97-D40B-BB7CEE63CE42}"/>
              </a:ext>
            </a:extLst>
          </p:cNvPr>
          <p:cNvSpPr/>
          <p:nvPr/>
        </p:nvSpPr>
        <p:spPr>
          <a:xfrm>
            <a:off x="8318500" y="4000500"/>
            <a:ext cx="76200" cy="1651000"/>
          </a:xfrm>
          <a:prstGeom prst="roundRect">
            <a:avLst/>
          </a:prstGeom>
          <a:solidFill>
            <a:srgbClr val="DA1E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70DEE14-DAD1-290B-3CA0-55FED4F1EB67}"/>
              </a:ext>
            </a:extLst>
          </p:cNvPr>
          <p:cNvSpPr txBox="1"/>
          <p:nvPr/>
        </p:nvSpPr>
        <p:spPr>
          <a:xfrm>
            <a:off x="8572500" y="4229100"/>
            <a:ext cx="2730500" cy="230832"/>
          </a:xfrm>
          <a:prstGeom prst="rect">
            <a:avLst/>
          </a:prstGeom>
          <a:noFill/>
        </p:spPr>
        <p:txBody>
          <a:bodyPr vert="horz" wrap="square" lIns="0" tIns="0" rIns="0" bIns="0" rtlCol="0" anchor="t">
            <a:spAutoFit/>
          </a:bodyPr>
          <a:lstStyle/>
          <a:p>
            <a:r>
              <a:rPr lang="en-US" sz="1500" b="1">
                <a:solidFill>
                  <a:srgbClr val="172B4D"/>
                </a:solidFill>
                <a:latin typeface="Aptos" panose="020B0004020202020204" pitchFamily="34" charset="0"/>
              </a:rPr>
              <a:t>tests/</a:t>
            </a:r>
          </a:p>
        </p:txBody>
      </p:sp>
      <p:sp>
        <p:nvSpPr>
          <p:cNvPr id="32" name="TextBox 31">
            <a:extLst>
              <a:ext uri="{FF2B5EF4-FFF2-40B4-BE49-F238E27FC236}">
                <a16:creationId xmlns:a16="http://schemas.microsoft.com/office/drawing/2014/main" id="{35AB8838-ACEC-2D7B-4497-1E7F62BC7198}"/>
              </a:ext>
            </a:extLst>
          </p:cNvPr>
          <p:cNvSpPr txBox="1"/>
          <p:nvPr/>
        </p:nvSpPr>
        <p:spPr>
          <a:xfrm>
            <a:off x="8572500" y="4699000"/>
            <a:ext cx="2730500" cy="577081"/>
          </a:xfrm>
          <a:prstGeom prst="rect">
            <a:avLst/>
          </a:prstGeom>
          <a:noFill/>
        </p:spPr>
        <p:txBody>
          <a:bodyPr vert="horz" wrap="square" lIns="0" tIns="0" rIns="0" bIns="0" rtlCol="0" anchor="t">
            <a:spAutoFit/>
          </a:bodyPr>
          <a:lstStyle/>
          <a:p>
            <a:r>
              <a:rPr lang="en-US" sz="1250">
                <a:solidFill>
                  <a:srgbClr val="6F7E91"/>
                </a:solidFill>
                <a:latin typeface="Aptos" panose="020B0004020202020204" pitchFamily="34" charset="0"/>
              </a:rPr>
              <a:t>Executable checks for matching behavior, ingestion, dataset contracts, and classifier persistence.</a:t>
            </a:r>
          </a:p>
        </p:txBody>
      </p:sp>
    </p:spTree>
    <p:extLst>
      <p:ext uri="{BB962C8B-B14F-4D97-AF65-F5344CB8AC3E}">
        <p14:creationId xmlns:p14="http://schemas.microsoft.com/office/powerpoint/2010/main" val="2920625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3164</Words>
  <Application>Microsoft Office PowerPoint</Application>
  <PresentationFormat>Custom</PresentationFormat>
  <Paragraphs>398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bavely tawfik</dc:creator>
  <cp:lastModifiedBy>bavely tawfik</cp:lastModifiedBy>
  <cp:revision>1</cp:revision>
  <dcterms:created xsi:type="dcterms:W3CDTF">2026-08-23T02:20:10Z</dcterms:created>
  <dcterms:modified xsi:type="dcterms:W3CDTF">2026-08-23T02:20:10Z</dcterms:modified>
</cp:coreProperties>
</file>